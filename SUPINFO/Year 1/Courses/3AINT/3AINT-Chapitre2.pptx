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2"/>
  </p:notesMasterIdLst>
  <p:sldIdLst>
    <p:sldId id="256" r:id="rId2"/>
    <p:sldId id="257" r:id="rId3"/>
    <p:sldId id="267" r:id="rId4"/>
    <p:sldId id="338" r:id="rId5"/>
    <p:sldId id="258" r:id="rId6"/>
    <p:sldId id="329" r:id="rId7"/>
    <p:sldId id="330" r:id="rId8"/>
    <p:sldId id="331" r:id="rId9"/>
    <p:sldId id="332" r:id="rId10"/>
    <p:sldId id="342" r:id="rId11"/>
    <p:sldId id="334" r:id="rId12"/>
    <p:sldId id="344" r:id="rId13"/>
    <p:sldId id="360" r:id="rId14"/>
    <p:sldId id="346" r:id="rId15"/>
    <p:sldId id="354" r:id="rId16"/>
    <p:sldId id="355" r:id="rId17"/>
    <p:sldId id="356" r:id="rId18"/>
    <p:sldId id="359" r:id="rId19"/>
    <p:sldId id="325" r:id="rId20"/>
    <p:sldId id="262" r:id="rId21"/>
    <p:sldId id="364" r:id="rId22"/>
    <p:sldId id="268" r:id="rId23"/>
    <p:sldId id="349" r:id="rId24"/>
    <p:sldId id="350" r:id="rId25"/>
    <p:sldId id="365" r:id="rId26"/>
    <p:sldId id="351" r:id="rId27"/>
    <p:sldId id="352" r:id="rId28"/>
    <p:sldId id="353" r:id="rId29"/>
    <p:sldId id="383" r:id="rId30"/>
    <p:sldId id="384" r:id="rId31"/>
    <p:sldId id="385" r:id="rId32"/>
    <p:sldId id="386" r:id="rId33"/>
    <p:sldId id="387" r:id="rId34"/>
    <p:sldId id="381" r:id="rId35"/>
    <p:sldId id="367" r:id="rId36"/>
    <p:sldId id="369" r:id="rId37"/>
    <p:sldId id="391" r:id="rId38"/>
    <p:sldId id="389" r:id="rId39"/>
    <p:sldId id="372" r:id="rId40"/>
    <p:sldId id="368" r:id="rId41"/>
    <p:sldId id="392" r:id="rId42"/>
    <p:sldId id="370" r:id="rId43"/>
    <p:sldId id="393" r:id="rId44"/>
    <p:sldId id="390" r:id="rId45"/>
    <p:sldId id="371" r:id="rId46"/>
    <p:sldId id="373" r:id="rId47"/>
    <p:sldId id="394" r:id="rId48"/>
    <p:sldId id="374" r:id="rId49"/>
    <p:sldId id="375" r:id="rId50"/>
    <p:sldId id="401" r:id="rId51"/>
    <p:sldId id="376" r:id="rId52"/>
    <p:sldId id="395" r:id="rId53"/>
    <p:sldId id="377" r:id="rId54"/>
    <p:sldId id="378" r:id="rId55"/>
    <p:sldId id="423" r:id="rId56"/>
    <p:sldId id="379" r:id="rId57"/>
    <p:sldId id="396" r:id="rId58"/>
    <p:sldId id="404" r:id="rId59"/>
    <p:sldId id="405" r:id="rId60"/>
    <p:sldId id="406" r:id="rId61"/>
    <p:sldId id="407" r:id="rId62"/>
    <p:sldId id="408" r:id="rId63"/>
    <p:sldId id="397" r:id="rId64"/>
    <p:sldId id="398" r:id="rId65"/>
    <p:sldId id="399" r:id="rId66"/>
    <p:sldId id="411" r:id="rId67"/>
    <p:sldId id="412" r:id="rId68"/>
    <p:sldId id="413" r:id="rId69"/>
    <p:sldId id="414" r:id="rId70"/>
    <p:sldId id="417" r:id="rId71"/>
    <p:sldId id="418" r:id="rId72"/>
    <p:sldId id="419" r:id="rId73"/>
    <p:sldId id="420" r:id="rId74"/>
    <p:sldId id="421" r:id="rId75"/>
    <p:sldId id="422" r:id="rId76"/>
    <p:sldId id="415" r:id="rId77"/>
    <p:sldId id="400" r:id="rId78"/>
    <p:sldId id="409" r:id="rId79"/>
    <p:sldId id="410" r:id="rId80"/>
    <p:sldId id="402" r:id="rId81"/>
    <p:sldId id="403" r:id="rId82"/>
    <p:sldId id="424" r:id="rId83"/>
    <p:sldId id="430" r:id="rId84"/>
    <p:sldId id="431" r:id="rId85"/>
    <p:sldId id="432" r:id="rId86"/>
    <p:sldId id="426" r:id="rId87"/>
    <p:sldId id="428" r:id="rId88"/>
    <p:sldId id="328" r:id="rId89"/>
    <p:sldId id="263" r:id="rId90"/>
    <p:sldId id="451" r:id="rId91"/>
    <p:sldId id="433" r:id="rId92"/>
    <p:sldId id="436" r:id="rId93"/>
    <p:sldId id="496" r:id="rId94"/>
    <p:sldId id="498" r:id="rId95"/>
    <p:sldId id="437" r:id="rId96"/>
    <p:sldId id="438" r:id="rId97"/>
    <p:sldId id="439" r:id="rId98"/>
    <p:sldId id="440" r:id="rId99"/>
    <p:sldId id="441" r:id="rId100"/>
    <p:sldId id="442" r:id="rId101"/>
    <p:sldId id="447" r:id="rId102"/>
    <p:sldId id="453" r:id="rId103"/>
    <p:sldId id="452" r:id="rId104"/>
    <p:sldId id="458" r:id="rId105"/>
    <p:sldId id="443" r:id="rId106"/>
    <p:sldId id="444" r:id="rId107"/>
    <p:sldId id="445" r:id="rId108"/>
    <p:sldId id="446" r:id="rId109"/>
    <p:sldId id="459" r:id="rId110"/>
    <p:sldId id="448" r:id="rId111"/>
    <p:sldId id="480" r:id="rId112"/>
    <p:sldId id="478" r:id="rId113"/>
    <p:sldId id="479" r:id="rId114"/>
    <p:sldId id="486" r:id="rId115"/>
    <p:sldId id="466" r:id="rId116"/>
    <p:sldId id="464" r:id="rId117"/>
    <p:sldId id="463" r:id="rId118"/>
    <p:sldId id="469" r:id="rId119"/>
    <p:sldId id="471" r:id="rId120"/>
    <p:sldId id="472" r:id="rId121"/>
    <p:sldId id="482" r:id="rId122"/>
    <p:sldId id="483" r:id="rId123"/>
    <p:sldId id="485" r:id="rId124"/>
    <p:sldId id="484" r:id="rId125"/>
    <p:sldId id="455" r:id="rId126"/>
    <p:sldId id="465" r:id="rId127"/>
    <p:sldId id="491" r:id="rId128"/>
    <p:sldId id="492" r:id="rId129"/>
    <p:sldId id="490" r:id="rId130"/>
    <p:sldId id="493" r:id="rId131"/>
    <p:sldId id="461" r:id="rId132"/>
    <p:sldId id="494" r:id="rId133"/>
    <p:sldId id="462" r:id="rId134"/>
    <p:sldId id="488" r:id="rId135"/>
    <p:sldId id="489" r:id="rId136"/>
    <p:sldId id="487" r:id="rId137"/>
    <p:sldId id="495" r:id="rId138"/>
    <p:sldId id="474" r:id="rId139"/>
    <p:sldId id="327" r:id="rId140"/>
    <p:sldId id="272" r:id="rId14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26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62"/>
    <p:restoredTop sz="84625"/>
  </p:normalViewPr>
  <p:slideViewPr>
    <p:cSldViewPr snapToGrid="0" snapToObjects="1">
      <p:cViewPr varScale="1">
        <p:scale>
          <a:sx n="113" d="100"/>
          <a:sy n="113" d="100"/>
        </p:scale>
        <p:origin x="2352" y="18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7" d="100"/>
          <a:sy n="97" d="100"/>
        </p:scale>
        <p:origin x="5160" y="20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44D0C-1CB1-E645-87B8-5887239B9ECD}" type="datetimeFigureOut">
              <a:rPr lang="fr-FR" smtClean="0"/>
              <a:t>26/02/2026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A1237-63C0-2149-90AD-33FFCF7C8578}" type="slidenum">
              <a:rPr lang="fr-FR" smtClean="0"/>
              <a:t>‹N°›</a:t>
            </a:fld>
            <a:endParaRPr lang="fr-FR"/>
          </a:p>
        </p:txBody>
      </p:sp>
    </p:spTree>
    <p:extLst>
      <p:ext uri="{BB962C8B-B14F-4D97-AF65-F5344CB8AC3E}">
        <p14:creationId xmlns:p14="http://schemas.microsoft.com/office/powerpoint/2010/main" val="777762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 SUPINFO</a:t>
            </a:r>
          </a:p>
          <a:p>
            <a:r>
              <a:rPr lang="fr-FR" dirty="0"/>
              <a:t>Auteur </a:t>
            </a:r>
            <a:r>
              <a:rPr lang="fr-FR"/>
              <a:t>: Laurent GODEFROY</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a:t>
            </a:fld>
            <a:endParaRPr lang="fr-FR"/>
          </a:p>
        </p:txBody>
      </p:sp>
    </p:spTree>
    <p:extLst>
      <p:ext uri="{BB962C8B-B14F-4D97-AF65-F5344CB8AC3E}">
        <p14:creationId xmlns:p14="http://schemas.microsoft.com/office/powerpoint/2010/main" val="1051732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DC0E-530A-BE89-3809-2D644894A83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8671DF2-55C0-740A-E096-46036D6BC8F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3C14D0C-AD5F-122D-8C79-D91428158E6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9CAC7DE-8D94-C9BF-EF1F-2C7A8CC04B17}"/>
              </a:ext>
            </a:extLst>
          </p:cNvPr>
          <p:cNvSpPr>
            <a:spLocks noGrp="1"/>
          </p:cNvSpPr>
          <p:nvPr>
            <p:ph type="sldNum" sz="quarter" idx="5"/>
          </p:nvPr>
        </p:nvSpPr>
        <p:spPr/>
        <p:txBody>
          <a:bodyPr/>
          <a:lstStyle/>
          <a:p>
            <a:fld id="{B89A1237-63C0-2149-90AD-33FFCF7C8578}" type="slidenum">
              <a:rPr lang="fr-FR" smtClean="0"/>
              <a:t>4</a:t>
            </a:fld>
            <a:endParaRPr lang="fr-FR"/>
          </a:p>
        </p:txBody>
      </p:sp>
    </p:spTree>
    <p:extLst>
      <p:ext uri="{BB962C8B-B14F-4D97-AF65-F5344CB8AC3E}">
        <p14:creationId xmlns:p14="http://schemas.microsoft.com/office/powerpoint/2010/main" val="1877840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Il faudra bien sûr préciser ce que l’on entend par « stratégie optimale ».</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a:t>
            </a:fld>
            <a:endParaRPr lang="fr-FR"/>
          </a:p>
        </p:txBody>
      </p:sp>
    </p:spTree>
    <p:extLst>
      <p:ext uri="{BB962C8B-B14F-4D97-AF65-F5344CB8AC3E}">
        <p14:creationId xmlns:p14="http://schemas.microsoft.com/office/powerpoint/2010/main" val="3418797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La plupart des jeux de carte sont à information incomplète.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8</a:t>
            </a:fld>
            <a:endParaRPr lang="fr-FR"/>
          </a:p>
        </p:txBody>
      </p:sp>
    </p:spTree>
    <p:extLst>
      <p:ext uri="{BB962C8B-B14F-4D97-AF65-F5344CB8AC3E}">
        <p14:creationId xmlns:p14="http://schemas.microsoft.com/office/powerpoint/2010/main" val="1692651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Dans les jeux coopératifs on lutte en général contre un ennemi commun. Voir par exemple https://</a:t>
            </a:r>
            <a:r>
              <a:rPr lang="fr-FR" dirty="0" err="1"/>
              <a:t>fr.wikipedia.org</a:t>
            </a:r>
            <a:r>
              <a:rPr lang="fr-FR" dirty="0"/>
              <a:t>/wiki/Jeu_coop%C3%A9ratif_(jeu)</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9</a:t>
            </a:fld>
            <a:endParaRPr lang="fr-FR"/>
          </a:p>
        </p:txBody>
      </p:sp>
    </p:spTree>
    <p:extLst>
      <p:ext uri="{BB962C8B-B14F-4D97-AF65-F5344CB8AC3E}">
        <p14:creationId xmlns:p14="http://schemas.microsoft.com/office/powerpoint/2010/main" val="3389662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Sources des images :</a:t>
            </a:r>
          </a:p>
          <a:p>
            <a:pPr marL="171450" indent="-171450">
              <a:buFont typeface="Arial" panose="020B0604020202020204" pitchFamily="34" charset="0"/>
              <a:buChar char="•"/>
            </a:pPr>
            <a:r>
              <a:rPr lang="fr-FR" dirty="0"/>
              <a:t>https://</a:t>
            </a:r>
            <a:r>
              <a:rPr lang="fr-FR" dirty="0" err="1"/>
              <a:t>commons.wikimedia.org</a:t>
            </a:r>
            <a:r>
              <a:rPr lang="fr-FR" dirty="0"/>
              <a:t>/wiki/</a:t>
            </a:r>
            <a:r>
              <a:rPr lang="fr-FR" dirty="0" err="1"/>
              <a:t>File:ChessStartingPosition.jpg</a:t>
            </a:r>
            <a:endParaRPr lang="fr-FR" dirty="0"/>
          </a:p>
          <a:p>
            <a:pPr marL="171450" indent="-171450">
              <a:buFont typeface="Arial" panose="020B0604020202020204" pitchFamily="34" charset="0"/>
              <a:buChar char="•"/>
            </a:pPr>
            <a:r>
              <a:rPr lang="fr-FR" dirty="0"/>
              <a:t>https://</a:t>
            </a:r>
            <a:r>
              <a:rPr lang="fr-FR" dirty="0" err="1"/>
              <a:t>commons.wikimedia.org</a:t>
            </a:r>
            <a:r>
              <a:rPr lang="fr-FR" dirty="0"/>
              <a:t>/wiki/</a:t>
            </a:r>
            <a:r>
              <a:rPr lang="fr-FR" dirty="0" err="1"/>
              <a:t>File:Go_game.jpg</a:t>
            </a:r>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10</a:t>
            </a:fld>
            <a:endParaRPr lang="fr-FR"/>
          </a:p>
        </p:txBody>
      </p:sp>
    </p:spTree>
    <p:extLst>
      <p:ext uri="{BB962C8B-B14F-4D97-AF65-F5344CB8AC3E}">
        <p14:creationId xmlns:p14="http://schemas.microsoft.com/office/powerpoint/2010/main" val="1119017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Sources des images :</a:t>
            </a:r>
          </a:p>
          <a:p>
            <a:pPr marL="171450" indent="-171450">
              <a:buFont typeface="Arial" panose="020B0604020202020204" pitchFamily="34" charset="0"/>
              <a:buChar char="•"/>
            </a:pPr>
            <a:r>
              <a:rPr lang="fr-FR" dirty="0"/>
              <a:t>https://</a:t>
            </a:r>
            <a:r>
              <a:rPr lang="fr-FR" dirty="0" err="1"/>
              <a:t>commons.wikimedia.org</a:t>
            </a:r>
            <a:r>
              <a:rPr lang="fr-FR" dirty="0"/>
              <a:t>/wiki/</a:t>
            </a:r>
            <a:r>
              <a:rPr lang="fr-FR" dirty="0" err="1"/>
              <a:t>File:Othello-Standard-Board.jpg</a:t>
            </a:r>
            <a:endParaRPr lang="fr-FR" dirty="0"/>
          </a:p>
          <a:p>
            <a:pPr marL="171450" indent="-171450">
              <a:buFont typeface="Arial" panose="020B0604020202020204" pitchFamily="34" charset="0"/>
              <a:buChar char="•"/>
            </a:pPr>
            <a:r>
              <a:rPr lang="fr-FR" dirty="0"/>
              <a:t>https://</a:t>
            </a:r>
            <a:r>
              <a:rPr lang="fr-FR" dirty="0" err="1"/>
              <a:t>commons.wikimedia.org</a:t>
            </a:r>
            <a:r>
              <a:rPr lang="fr-FR" dirty="0"/>
              <a:t>/wiki/File:Awal%C3%A9.jpg</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11</a:t>
            </a:fld>
            <a:endParaRPr lang="fr-FR"/>
          </a:p>
        </p:txBody>
      </p:sp>
    </p:spTree>
    <p:extLst>
      <p:ext uri="{BB962C8B-B14F-4D97-AF65-F5344CB8AC3E}">
        <p14:creationId xmlns:p14="http://schemas.microsoft.com/office/powerpoint/2010/main" val="1588329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Voir l’excellent cours 2GRAP pour des généralités sur la théorie des graphes.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12</a:t>
            </a:fld>
            <a:endParaRPr lang="fr-FR"/>
          </a:p>
        </p:txBody>
      </p:sp>
    </p:spTree>
    <p:extLst>
      <p:ext uri="{BB962C8B-B14F-4D97-AF65-F5344CB8AC3E}">
        <p14:creationId xmlns:p14="http://schemas.microsoft.com/office/powerpoint/2010/main" val="534411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13</a:t>
            </a:fld>
            <a:endParaRPr lang="fr-FR"/>
          </a:p>
        </p:txBody>
      </p:sp>
    </p:spTree>
    <p:extLst>
      <p:ext uri="{BB962C8B-B14F-4D97-AF65-F5344CB8AC3E}">
        <p14:creationId xmlns:p14="http://schemas.microsoft.com/office/powerpoint/2010/main" val="4075923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14</a:t>
            </a:fld>
            <a:endParaRPr lang="fr-FR"/>
          </a:p>
        </p:txBody>
      </p:sp>
    </p:spTree>
    <p:extLst>
      <p:ext uri="{BB962C8B-B14F-4D97-AF65-F5344CB8AC3E}">
        <p14:creationId xmlns:p14="http://schemas.microsoft.com/office/powerpoint/2010/main" val="1999591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Le sommet en bas à droite est sensé être beaucoup plus bas si l’on respecte les niveaux de profondeur.</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16</a:t>
            </a:fld>
            <a:endParaRPr lang="fr-FR"/>
          </a:p>
        </p:txBody>
      </p:sp>
    </p:spTree>
    <p:extLst>
      <p:ext uri="{BB962C8B-B14F-4D97-AF65-F5344CB8AC3E}">
        <p14:creationId xmlns:p14="http://schemas.microsoft.com/office/powerpoint/2010/main" val="1604802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On verra que cette construction se fera de façon récursive.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18</a:t>
            </a:fld>
            <a:endParaRPr lang="fr-FR"/>
          </a:p>
        </p:txBody>
      </p:sp>
    </p:spTree>
    <p:extLst>
      <p:ext uri="{BB962C8B-B14F-4D97-AF65-F5344CB8AC3E}">
        <p14:creationId xmlns:p14="http://schemas.microsoft.com/office/powerpoint/2010/main" val="2275452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EFF03-6BC2-C6C2-3629-4B6117D8694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D3C4B9E-6662-CF90-E075-3D0DD4402E3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ABA786D-7DEF-C2B9-31CD-DA89CD1DEB3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6BB06B7-EC66-17E8-EA96-D90EFC09BB23}"/>
              </a:ext>
            </a:extLst>
          </p:cNvPr>
          <p:cNvSpPr>
            <a:spLocks noGrp="1"/>
          </p:cNvSpPr>
          <p:nvPr>
            <p:ph type="sldNum" sz="quarter" idx="5"/>
          </p:nvPr>
        </p:nvSpPr>
        <p:spPr/>
        <p:txBody>
          <a:bodyPr/>
          <a:lstStyle/>
          <a:p>
            <a:fld id="{B89A1237-63C0-2149-90AD-33FFCF7C8578}" type="slidenum">
              <a:rPr lang="fr-FR" smtClean="0"/>
              <a:t>21</a:t>
            </a:fld>
            <a:endParaRPr lang="fr-FR"/>
          </a:p>
        </p:txBody>
      </p:sp>
    </p:spTree>
    <p:extLst>
      <p:ext uri="{BB962C8B-B14F-4D97-AF65-F5344CB8AC3E}">
        <p14:creationId xmlns:p14="http://schemas.microsoft.com/office/powerpoint/2010/main" val="3543030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22</a:t>
            </a:fld>
            <a:endParaRPr lang="fr-FR"/>
          </a:p>
        </p:txBody>
      </p:sp>
    </p:spTree>
    <p:extLst>
      <p:ext uri="{BB962C8B-B14F-4D97-AF65-F5344CB8AC3E}">
        <p14:creationId xmlns:p14="http://schemas.microsoft.com/office/powerpoint/2010/main" val="389904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24</a:t>
            </a:fld>
            <a:endParaRPr lang="fr-FR"/>
          </a:p>
        </p:txBody>
      </p:sp>
    </p:spTree>
    <p:extLst>
      <p:ext uri="{BB962C8B-B14F-4D97-AF65-F5344CB8AC3E}">
        <p14:creationId xmlns:p14="http://schemas.microsoft.com/office/powerpoint/2010/main" val="107734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On reviendra dans un instant sur la forme des sommets.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26</a:t>
            </a:fld>
            <a:endParaRPr lang="fr-FR"/>
          </a:p>
        </p:txBody>
      </p:sp>
    </p:spTree>
    <p:extLst>
      <p:ext uri="{BB962C8B-B14F-4D97-AF65-F5344CB8AC3E}">
        <p14:creationId xmlns:p14="http://schemas.microsoft.com/office/powerpoint/2010/main" val="7314457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On reviendra dans un instant sur la forme des sommets.</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27</a:t>
            </a:fld>
            <a:endParaRPr lang="fr-FR"/>
          </a:p>
        </p:txBody>
      </p:sp>
    </p:spTree>
    <p:extLst>
      <p:ext uri="{BB962C8B-B14F-4D97-AF65-F5344CB8AC3E}">
        <p14:creationId xmlns:p14="http://schemas.microsoft.com/office/powerpoint/2010/main" val="24305919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La convention de représentation est claire, le sommet vers le haut est pour les sommets où l’on maximise et le sommet vers le bas pour ceux où l’on minimise.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29</a:t>
            </a:fld>
            <a:endParaRPr lang="fr-FR"/>
          </a:p>
        </p:txBody>
      </p:sp>
    </p:spTree>
    <p:extLst>
      <p:ext uri="{BB962C8B-B14F-4D97-AF65-F5344CB8AC3E}">
        <p14:creationId xmlns:p14="http://schemas.microsoft.com/office/powerpoint/2010/main" val="13810563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La convention de représentation est claire, le sommet vers le haut est pour les sommets où l’on maximise et le sommet vers le bas pour ceux où l’on minimise.</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30</a:t>
            </a:fld>
            <a:endParaRPr lang="fr-FR"/>
          </a:p>
        </p:txBody>
      </p:sp>
    </p:spTree>
    <p:extLst>
      <p:ext uri="{BB962C8B-B14F-4D97-AF65-F5344CB8AC3E}">
        <p14:creationId xmlns:p14="http://schemas.microsoft.com/office/powerpoint/2010/main" val="28891186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La convention de représentation est claire, le sommet vers le haut est pour les sommets où l’on maximise et le sommet vers le bas pour ceux où l’on minimise.</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31</a:t>
            </a:fld>
            <a:endParaRPr lang="fr-FR"/>
          </a:p>
        </p:txBody>
      </p:sp>
    </p:spTree>
    <p:extLst>
      <p:ext uri="{BB962C8B-B14F-4D97-AF65-F5344CB8AC3E}">
        <p14:creationId xmlns:p14="http://schemas.microsoft.com/office/powerpoint/2010/main" val="32540784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La convention de représentation est claire, le sommet vers le haut est pour les sommets où l’on maximise et le sommet vers le bas pour ceux où l’on minimise.</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32</a:t>
            </a:fld>
            <a:endParaRPr lang="fr-FR"/>
          </a:p>
        </p:txBody>
      </p:sp>
    </p:spTree>
    <p:extLst>
      <p:ext uri="{BB962C8B-B14F-4D97-AF65-F5344CB8AC3E}">
        <p14:creationId xmlns:p14="http://schemas.microsoft.com/office/powerpoint/2010/main" val="1511264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La convention de représentation est claire, le sommet vers le haut est pour les sommets où l’on maximise et le sommet vers le bas pour ceux où l’on minimise.</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33</a:t>
            </a:fld>
            <a:endParaRPr lang="fr-FR"/>
          </a:p>
        </p:txBody>
      </p:sp>
    </p:spTree>
    <p:extLst>
      <p:ext uri="{BB962C8B-B14F-4D97-AF65-F5344CB8AC3E}">
        <p14:creationId xmlns:p14="http://schemas.microsoft.com/office/powerpoint/2010/main" val="2896982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mc:AlternateContent xmlns:mc="http://schemas.openxmlformats.org/markup-compatibility/2006" xmlns:a14="http://schemas.microsoft.com/office/drawing/2010/main">
        <mc:Choice Requires="a14">
          <p:sp>
            <p:nvSpPr>
              <p:cNvPr id="3" name="Espace réservé des notes 2"/>
              <p:cNvSpPr>
                <a:spLocks noGrp="1"/>
              </p:cNvSpPr>
              <p:nvPr>
                <p:ph type="body" idx="1"/>
              </p:nvPr>
            </p:nvSpPr>
            <p:spPr/>
            <p:txBody>
              <a:bodyPr/>
              <a:lstStyle/>
              <a:p>
                <a:r>
                  <a:rPr lang="fr-FR" dirty="0"/>
                  <a:t>On passe </a:t>
                </a:r>
                <a14:m>
                  <m:oMath xmlns:m="http://schemas.openxmlformats.org/officeDocument/2006/math">
                    <m:r>
                      <a:rPr lang="fr-FR" b="0" i="1" smtClean="0">
                        <a:latin typeface="Cambria Math" panose="02040503050406030204" pitchFamily="18" charset="0"/>
                      </a:rPr>
                      <m:t>𝑗𝑜𝑢𝑒𝑢𝑟</m:t>
                    </m:r>
                  </m:oMath>
                </a14:m>
                <a:r>
                  <a:rPr lang="fr-FR" dirty="0"/>
                  <a:t> en paramètre</a:t>
                </a:r>
                <a:r>
                  <a:rPr lang="fr-FR" baseline="0" dirty="0"/>
                  <a:t> de la fonction « utilité » car pour certains jeux la connaissance de la position finale du jeu ne permet pas à elle seule de déterminer le vainqueur (exemple : https://</a:t>
                </a:r>
                <a:r>
                  <a:rPr lang="fr-FR" baseline="0" dirty="0" err="1"/>
                  <a:t>jpneto.github.io</a:t>
                </a:r>
                <a:r>
                  <a:rPr lang="fr-FR" baseline="0" dirty="0"/>
                  <a:t>/</a:t>
                </a:r>
                <a:r>
                  <a:rPr lang="fr-FR" baseline="0" dirty="0" err="1"/>
                  <a:t>world_abstract_games</a:t>
                </a:r>
                <a:r>
                  <a:rPr lang="fr-FR" baseline="0" dirty="0"/>
                  <a:t>/</a:t>
                </a:r>
                <a:r>
                  <a:rPr lang="fr-FR" baseline="0" dirty="0" err="1"/>
                  <a:t>firstattack.htm</a:t>
                </a:r>
                <a:r>
                  <a:rPr lang="fr-FR" baseline="0" dirty="0"/>
                  <a:t>).</a:t>
                </a:r>
                <a:endParaRPr lang="fr-FR" dirty="0"/>
              </a:p>
              <a:p>
                <a:r>
                  <a:rPr lang="fr-FR" dirty="0"/>
                  <a:t>Suite au slide suivant.</a:t>
                </a:r>
              </a:p>
            </p:txBody>
          </p:sp>
        </mc:Choice>
        <mc:Fallback xmlns="">
          <p:sp>
            <p:nvSpPr>
              <p:cNvPr id="3" name="Espace réservé des notes 2"/>
              <p:cNvSpPr>
                <a:spLocks noGrp="1"/>
              </p:cNvSpPr>
              <p:nvPr>
                <p:ph type="body" idx="1"/>
              </p:nvPr>
            </p:nvSpPr>
            <p:spPr/>
            <p:txBody>
              <a:bodyPr/>
              <a:lstStyle/>
              <a:p>
                <a:r>
                  <a:rPr lang="fr-FR" dirty="0"/>
                  <a:t>On passe </a:t>
                </a:r>
                <a:r>
                  <a:rPr lang="fr-FR" b="0" i="0">
                    <a:latin typeface="Cambria Math" panose="02040503050406030204" pitchFamily="18" charset="0"/>
                  </a:rPr>
                  <a:t>𝑗𝑜𝑢𝑒𝑢𝑟</a:t>
                </a:r>
                <a:r>
                  <a:rPr lang="fr-FR" dirty="0"/>
                  <a:t> en paramètre</a:t>
                </a:r>
                <a:r>
                  <a:rPr lang="fr-FR" baseline="0" dirty="0"/>
                  <a:t> de la fonction « utilité » car pour certains jeux la connaissance de la position finale du jeu ne permet pas à elle seule de déterminer le vainqueur (exemple : https://</a:t>
                </a:r>
                <a:r>
                  <a:rPr lang="fr-FR" baseline="0" dirty="0" err="1"/>
                  <a:t>jpneto.github.io</a:t>
                </a:r>
                <a:r>
                  <a:rPr lang="fr-FR" baseline="0" dirty="0"/>
                  <a:t>/</a:t>
                </a:r>
                <a:r>
                  <a:rPr lang="fr-FR" baseline="0" dirty="0" err="1"/>
                  <a:t>world_abstract_games</a:t>
                </a:r>
                <a:r>
                  <a:rPr lang="fr-FR" baseline="0" dirty="0"/>
                  <a:t>/</a:t>
                </a:r>
                <a:r>
                  <a:rPr lang="fr-FR" baseline="0" dirty="0" err="1"/>
                  <a:t>firstattack.htm</a:t>
                </a:r>
                <a:r>
                  <a:rPr lang="fr-FR" baseline="0" dirty="0"/>
                  <a:t>).</a:t>
                </a:r>
                <a:endParaRPr lang="fr-FR" dirty="0"/>
              </a:p>
              <a:p>
                <a:r>
                  <a:rPr lang="fr-FR" dirty="0"/>
                  <a:t>Suite au slide suivant.</a:t>
                </a:r>
              </a:p>
            </p:txBody>
          </p:sp>
        </mc:Fallback>
      </mc:AlternateContent>
      <p:sp>
        <p:nvSpPr>
          <p:cNvPr id="4" name="Espace réservé du numéro de diapositive 3"/>
          <p:cNvSpPr>
            <a:spLocks noGrp="1"/>
          </p:cNvSpPr>
          <p:nvPr>
            <p:ph type="sldNum" sz="quarter" idx="5"/>
          </p:nvPr>
        </p:nvSpPr>
        <p:spPr/>
        <p:txBody>
          <a:bodyPr/>
          <a:lstStyle/>
          <a:p>
            <a:fld id="{B89A1237-63C0-2149-90AD-33FFCF7C8578}" type="slidenum">
              <a:rPr lang="fr-FR" smtClean="0"/>
              <a:t>35</a:t>
            </a:fld>
            <a:endParaRPr lang="fr-FR"/>
          </a:p>
        </p:txBody>
      </p:sp>
    </p:spTree>
    <p:extLst>
      <p:ext uri="{BB962C8B-B14F-4D97-AF65-F5344CB8AC3E}">
        <p14:creationId xmlns:p14="http://schemas.microsoft.com/office/powerpoint/2010/main" val="16298211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Suite au slide suivant.</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36</a:t>
            </a:fld>
            <a:endParaRPr lang="fr-FR"/>
          </a:p>
        </p:txBody>
      </p:sp>
    </p:spTree>
    <p:extLst>
      <p:ext uri="{BB962C8B-B14F-4D97-AF65-F5344CB8AC3E}">
        <p14:creationId xmlns:p14="http://schemas.microsoft.com/office/powerpoint/2010/main" val="20494901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mc:AlternateContent xmlns:mc="http://schemas.openxmlformats.org/markup-compatibility/2006" xmlns:a14="http://schemas.microsoft.com/office/drawing/2010/main">
        <mc:Choice Requires="a14">
          <p:sp>
            <p:nvSpPr>
              <p:cNvPr id="3" name="Espace réservé des notes 2"/>
              <p:cNvSpPr>
                <a:spLocks noGrp="1"/>
              </p:cNvSpPr>
              <p:nvPr>
                <p:ph type="body" idx="1"/>
              </p:nvPr>
            </p:nvSpPr>
            <p:spPr/>
            <p:txBody>
              <a:bodyPr/>
              <a:lstStyle/>
              <a:p>
                <a:r>
                  <a:rPr lang="fr-FR" dirty="0"/>
                  <a:t>Ce nombre de </a:t>
                </a:r>
                <a14:m>
                  <m:oMath xmlns:m="http://schemas.openxmlformats.org/officeDocument/2006/math">
                    <m:r>
                      <a:rPr lang="fr-FR" b="0" i="1" smtClean="0">
                        <a:latin typeface="Cambria Math" panose="02040503050406030204" pitchFamily="18" charset="0"/>
                      </a:rPr>
                      <m:t>5478</m:t>
                    </m:r>
                  </m:oMath>
                </a14:m>
                <a:r>
                  <a:rPr lang="fr-FR" dirty="0"/>
                  <a:t> n’est pas</a:t>
                </a:r>
                <a:r>
                  <a:rPr lang="fr-FR" baseline="0" dirty="0"/>
                  <a:t> si</a:t>
                </a:r>
                <a:r>
                  <a:rPr lang="fr-FR" dirty="0"/>
                  <a:t> simple à calculer,</a:t>
                </a:r>
                <a:r>
                  <a:rPr lang="fr-FR" baseline="0" dirty="0"/>
                  <a:t> cela nécessite quelques compétences en combinatoire et un peu de réflexion. On peut le retrouver de façon algorithmique, on laisse le lecteur réfléchir à cela.</a:t>
                </a:r>
                <a:endParaRPr lang="fr-FR" dirty="0"/>
              </a:p>
            </p:txBody>
          </p:sp>
        </mc:Choice>
        <mc:Fallback xmlns="">
          <p:sp>
            <p:nvSpPr>
              <p:cNvPr id="3" name="Espace réservé des notes 2"/>
              <p:cNvSpPr>
                <a:spLocks noGrp="1"/>
              </p:cNvSpPr>
              <p:nvPr>
                <p:ph type="body" idx="1"/>
              </p:nvPr>
            </p:nvSpPr>
            <p:spPr/>
            <p:txBody>
              <a:bodyPr/>
              <a:lstStyle/>
              <a:p>
                <a:r>
                  <a:rPr lang="fr-FR" dirty="0"/>
                  <a:t>Ce nombre de </a:t>
                </a:r>
                <a:r>
                  <a:rPr lang="fr-FR" b="0" i="0">
                    <a:latin typeface="Cambria Math" panose="02040503050406030204" pitchFamily="18" charset="0"/>
                  </a:rPr>
                  <a:t>5478</a:t>
                </a:r>
                <a:r>
                  <a:rPr lang="fr-FR" dirty="0"/>
                  <a:t> n’est pas</a:t>
                </a:r>
                <a:r>
                  <a:rPr lang="fr-FR" baseline="0" dirty="0"/>
                  <a:t> si</a:t>
                </a:r>
                <a:r>
                  <a:rPr lang="fr-FR" dirty="0"/>
                  <a:t> simple à calculer,</a:t>
                </a:r>
                <a:r>
                  <a:rPr lang="fr-FR" baseline="0" dirty="0"/>
                  <a:t> cela nécessite quelques compétences en combinatoire et un peu de réflexion. On peut le retrouver de façon algorithmique, on laisse le lecteur réfléchir à cela.</a:t>
                </a:r>
                <a:endParaRPr lang="fr-FR" dirty="0"/>
              </a:p>
            </p:txBody>
          </p:sp>
        </mc:Fallback>
      </mc:AlternateContent>
      <p:sp>
        <p:nvSpPr>
          <p:cNvPr id="4" name="Espace réservé du numéro de diapositive 3"/>
          <p:cNvSpPr>
            <a:spLocks noGrp="1"/>
          </p:cNvSpPr>
          <p:nvPr>
            <p:ph type="sldNum" sz="quarter" idx="5"/>
          </p:nvPr>
        </p:nvSpPr>
        <p:spPr/>
        <p:txBody>
          <a:bodyPr/>
          <a:lstStyle/>
          <a:p>
            <a:fld id="{B89A1237-63C0-2149-90AD-33FFCF7C8578}" type="slidenum">
              <a:rPr lang="fr-FR" smtClean="0"/>
              <a:t>40</a:t>
            </a:fld>
            <a:endParaRPr lang="fr-FR"/>
          </a:p>
        </p:txBody>
      </p:sp>
    </p:spTree>
    <p:extLst>
      <p:ext uri="{BB962C8B-B14F-4D97-AF65-F5344CB8AC3E}">
        <p14:creationId xmlns:p14="http://schemas.microsoft.com/office/powerpoint/2010/main" val="38935016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E143E-7063-6DA3-A72C-953E706F68C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63635A8-3111-9014-F6D0-A9773212D98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0806F8F-DF6D-94B2-0791-39B096319E23}"/>
              </a:ext>
            </a:extLst>
          </p:cNvPr>
          <p:cNvSpPr>
            <a:spLocks noGrp="1"/>
          </p:cNvSpPr>
          <p:nvPr>
            <p:ph type="body" idx="1"/>
          </p:nvPr>
        </p:nvSpPr>
        <p:spPr/>
        <p:txBody>
          <a:bodyPr/>
          <a:lstStyle/>
          <a:p>
            <a:r>
              <a:rPr lang="fr-FR" dirty="0"/>
              <a:t>https://</a:t>
            </a:r>
            <a:r>
              <a:rPr lang="fr-FR" dirty="0" err="1"/>
              <a:t>fr.wikipedia.org</a:t>
            </a:r>
            <a:r>
              <a:rPr lang="fr-FR" dirty="0"/>
              <a:t>/wiki/</a:t>
            </a:r>
            <a:r>
              <a:rPr lang="fr-FR" dirty="0" err="1"/>
              <a:t>Nombre_de_Shannon</a:t>
            </a:r>
            <a:r>
              <a:rPr lang="fr-FR" dirty="0"/>
              <a:t>#:~:</a:t>
            </a:r>
            <a:r>
              <a:rPr lang="fr-FR" dirty="0" err="1"/>
              <a:t>text</a:t>
            </a:r>
            <a:r>
              <a:rPr lang="fr-FR" dirty="0"/>
              <a:t>=Il%20y%20aurait%20donc%20(30,4%2C8%C3%971044.</a:t>
            </a:r>
          </a:p>
          <a:p>
            <a:r>
              <a:rPr lang="fr-FR" dirty="0"/>
              <a:t>https://</a:t>
            </a:r>
            <a:r>
              <a:rPr lang="fr-FR" dirty="0" err="1"/>
              <a:t>fr.wikipedia.org</a:t>
            </a:r>
            <a:r>
              <a:rPr lang="fr-FR" dirty="0"/>
              <a:t>/wiki/</a:t>
            </a:r>
            <a:r>
              <a:rPr lang="fr-FR" dirty="0" err="1"/>
              <a:t>Ordres_de_grandeur_de_nombres</a:t>
            </a:r>
            <a:r>
              <a:rPr lang="fr-FR" dirty="0"/>
              <a:t>#:~:</a:t>
            </a:r>
            <a:r>
              <a:rPr lang="fr-FR" dirty="0" err="1"/>
              <a:t>text</a:t>
            </a:r>
            <a:r>
              <a:rPr lang="fr-FR" dirty="0"/>
              <a:t>=G%C3%A9ographie%20%3A%20il%20y%20a%20environ,d'environ%201050%20atomes.</a:t>
            </a:r>
          </a:p>
          <a:p>
            <a:r>
              <a:rPr lang="fr-FR" dirty="0"/>
              <a:t>Beaucoup d’autres estimations existent, mais l’idée reste la même.</a:t>
            </a:r>
          </a:p>
        </p:txBody>
      </p:sp>
      <p:sp>
        <p:nvSpPr>
          <p:cNvPr id="4" name="Espace réservé du numéro de diapositive 3">
            <a:extLst>
              <a:ext uri="{FF2B5EF4-FFF2-40B4-BE49-F238E27FC236}">
                <a16:creationId xmlns:a16="http://schemas.microsoft.com/office/drawing/2014/main" id="{D036330D-399D-3714-7E9F-A1498662A6EA}"/>
              </a:ext>
            </a:extLst>
          </p:cNvPr>
          <p:cNvSpPr>
            <a:spLocks noGrp="1"/>
          </p:cNvSpPr>
          <p:nvPr>
            <p:ph type="sldNum" sz="quarter" idx="5"/>
          </p:nvPr>
        </p:nvSpPr>
        <p:spPr/>
        <p:txBody>
          <a:bodyPr/>
          <a:lstStyle/>
          <a:p>
            <a:fld id="{B89A1237-63C0-2149-90AD-33FFCF7C8578}" type="slidenum">
              <a:rPr lang="fr-FR" smtClean="0"/>
              <a:t>41</a:t>
            </a:fld>
            <a:endParaRPr lang="fr-FR"/>
          </a:p>
        </p:txBody>
      </p:sp>
    </p:spTree>
    <p:extLst>
      <p:ext uri="{BB962C8B-B14F-4D97-AF65-F5344CB8AC3E}">
        <p14:creationId xmlns:p14="http://schemas.microsoft.com/office/powerpoint/2010/main" val="37419975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À noter que dans la très grande majorité des cas on sera bien sûr dans la seconde situation.</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43</a:t>
            </a:fld>
            <a:endParaRPr lang="fr-FR"/>
          </a:p>
        </p:txBody>
      </p:sp>
    </p:spTree>
    <p:extLst>
      <p:ext uri="{BB962C8B-B14F-4D97-AF65-F5344CB8AC3E}">
        <p14:creationId xmlns:p14="http://schemas.microsoft.com/office/powerpoint/2010/main" val="5591200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Le terme heuristique est un peu fourre-tout et désigne moralement une technique ou une fonction permettant de résoudre rapidement un problème au détriment parfois de l’optimalité. La mise au point d’une heuristique repose à la fois sur l’expérience, la connaissance du domaine et l’intuition.</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44</a:t>
            </a:fld>
            <a:endParaRPr lang="fr-FR"/>
          </a:p>
        </p:txBody>
      </p:sp>
    </p:spTree>
    <p:extLst>
      <p:ext uri="{BB962C8B-B14F-4D97-AF65-F5344CB8AC3E}">
        <p14:creationId xmlns:p14="http://schemas.microsoft.com/office/powerpoint/2010/main" val="12185118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On pourra bien sûr améliorer ces idées.</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47</a:t>
            </a:fld>
            <a:endParaRPr lang="fr-FR"/>
          </a:p>
        </p:txBody>
      </p:sp>
    </p:spTree>
    <p:extLst>
      <p:ext uri="{BB962C8B-B14F-4D97-AF65-F5344CB8AC3E}">
        <p14:creationId xmlns:p14="http://schemas.microsoft.com/office/powerpoint/2010/main" val="18099038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On pourra bien sûr améliorer ces idées.</a:t>
            </a:r>
          </a:p>
          <a:p>
            <a:r>
              <a:rPr lang="fr-FR" dirty="0"/>
              <a:t>Par « ouverts » on entend prolongeables.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48</a:t>
            </a:fld>
            <a:endParaRPr lang="fr-FR"/>
          </a:p>
        </p:txBody>
      </p:sp>
    </p:spTree>
    <p:extLst>
      <p:ext uri="{BB962C8B-B14F-4D97-AF65-F5344CB8AC3E}">
        <p14:creationId xmlns:p14="http://schemas.microsoft.com/office/powerpoint/2010/main" val="24343790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49</a:t>
            </a:fld>
            <a:endParaRPr lang="fr-FR"/>
          </a:p>
        </p:txBody>
      </p:sp>
    </p:spTree>
    <p:extLst>
      <p:ext uri="{BB962C8B-B14F-4D97-AF65-F5344CB8AC3E}">
        <p14:creationId xmlns:p14="http://schemas.microsoft.com/office/powerpoint/2010/main" val="13058864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51</a:t>
            </a:fld>
            <a:endParaRPr lang="fr-FR"/>
          </a:p>
        </p:txBody>
      </p:sp>
    </p:spTree>
    <p:extLst>
      <p:ext uri="{BB962C8B-B14F-4D97-AF65-F5344CB8AC3E}">
        <p14:creationId xmlns:p14="http://schemas.microsoft.com/office/powerpoint/2010/main" val="13520228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L’exemple n’est bien sûr pas terminé.</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59</a:t>
            </a:fld>
            <a:endParaRPr lang="fr-FR"/>
          </a:p>
        </p:txBody>
      </p:sp>
    </p:spTree>
    <p:extLst>
      <p:ext uri="{BB962C8B-B14F-4D97-AF65-F5344CB8AC3E}">
        <p14:creationId xmlns:p14="http://schemas.microsoft.com/office/powerpoint/2010/main" val="22603114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L’exemple n’est bien sûr pas terminé.</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62</a:t>
            </a:fld>
            <a:endParaRPr lang="fr-FR"/>
          </a:p>
        </p:txBody>
      </p:sp>
    </p:spTree>
    <p:extLst>
      <p:ext uri="{BB962C8B-B14F-4D97-AF65-F5344CB8AC3E}">
        <p14:creationId xmlns:p14="http://schemas.microsoft.com/office/powerpoint/2010/main" val="9511391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Le deuxième point est très loin d’être simple. On peut par exemple selon le jeu privilégier certains coups que l’on suppose efficaces (prises, mises en échec, etc.).</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63</a:t>
            </a:fld>
            <a:endParaRPr lang="fr-FR"/>
          </a:p>
        </p:txBody>
      </p:sp>
    </p:spTree>
    <p:extLst>
      <p:ext uri="{BB962C8B-B14F-4D97-AF65-F5344CB8AC3E}">
        <p14:creationId xmlns:p14="http://schemas.microsoft.com/office/powerpoint/2010/main" val="37278206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La fonction d’utilité et l’heuristique d’évaluation restent bien sûr inchangées.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77</a:t>
            </a:fld>
            <a:endParaRPr lang="fr-FR"/>
          </a:p>
        </p:txBody>
      </p:sp>
    </p:spTree>
    <p:extLst>
      <p:ext uri="{BB962C8B-B14F-4D97-AF65-F5344CB8AC3E}">
        <p14:creationId xmlns:p14="http://schemas.microsoft.com/office/powerpoint/2010/main" val="37081831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Pour le dernier point c’est le cas si une valeur extrême correspond à une probabilité très petite.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87</a:t>
            </a:fld>
            <a:endParaRPr lang="fr-FR"/>
          </a:p>
        </p:txBody>
      </p:sp>
    </p:spTree>
    <p:extLst>
      <p:ext uri="{BB962C8B-B14F-4D97-AF65-F5344CB8AC3E}">
        <p14:creationId xmlns:p14="http://schemas.microsoft.com/office/powerpoint/2010/main" val="28602254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Monte Carlo Tree Search.</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89</a:t>
            </a:fld>
            <a:endParaRPr lang="fr-FR"/>
          </a:p>
        </p:txBody>
      </p:sp>
    </p:spTree>
    <p:extLst>
      <p:ext uri="{BB962C8B-B14F-4D97-AF65-F5344CB8AC3E}">
        <p14:creationId xmlns:p14="http://schemas.microsoft.com/office/powerpoint/2010/main" val="40647256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38390-2601-60B6-1C58-6C65351BEDF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37EFED-1583-606B-BF3E-5DA4C7F86A0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A48851B-96F5-7DA8-1E3D-88B855E64B72}"/>
              </a:ext>
            </a:extLst>
          </p:cNvPr>
          <p:cNvSpPr>
            <a:spLocks noGrp="1"/>
          </p:cNvSpPr>
          <p:nvPr>
            <p:ph type="body" idx="1"/>
          </p:nvPr>
        </p:nvSpPr>
        <p:spPr/>
        <p:txBody>
          <a:bodyPr/>
          <a:lstStyle/>
          <a:p>
            <a:r>
              <a:rPr lang="fr-FR" dirty="0"/>
              <a:t>C’est la fameuse loi des grands nombres.</a:t>
            </a:r>
          </a:p>
        </p:txBody>
      </p:sp>
      <p:sp>
        <p:nvSpPr>
          <p:cNvPr id="4" name="Espace réservé du numéro de diapositive 3">
            <a:extLst>
              <a:ext uri="{FF2B5EF4-FFF2-40B4-BE49-F238E27FC236}">
                <a16:creationId xmlns:a16="http://schemas.microsoft.com/office/drawing/2014/main" id="{98A178EC-0DAB-923B-3005-84BC5094E4BA}"/>
              </a:ext>
            </a:extLst>
          </p:cNvPr>
          <p:cNvSpPr>
            <a:spLocks noGrp="1"/>
          </p:cNvSpPr>
          <p:nvPr>
            <p:ph type="sldNum" sz="quarter" idx="5"/>
          </p:nvPr>
        </p:nvSpPr>
        <p:spPr/>
        <p:txBody>
          <a:bodyPr/>
          <a:lstStyle/>
          <a:p>
            <a:fld id="{B89A1237-63C0-2149-90AD-33FFCF7C8578}" type="slidenum">
              <a:rPr lang="fr-FR" smtClean="0"/>
              <a:t>93</a:t>
            </a:fld>
            <a:endParaRPr lang="fr-FR"/>
          </a:p>
        </p:txBody>
      </p:sp>
    </p:spTree>
    <p:extLst>
      <p:ext uri="{BB962C8B-B14F-4D97-AF65-F5344CB8AC3E}">
        <p14:creationId xmlns:p14="http://schemas.microsoft.com/office/powerpoint/2010/main" val="1442320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BEF7C-9F24-B54A-22EC-4693452CB8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5D0CEA-0F44-9182-A55E-C8D9BCD2878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738D374-6203-F2E3-1056-3E837B1C184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41C5B25-DA0B-6C35-21F7-01FDE7E917EB}"/>
              </a:ext>
            </a:extLst>
          </p:cNvPr>
          <p:cNvSpPr>
            <a:spLocks noGrp="1"/>
          </p:cNvSpPr>
          <p:nvPr>
            <p:ph type="sldNum" sz="quarter" idx="5"/>
          </p:nvPr>
        </p:nvSpPr>
        <p:spPr/>
        <p:txBody>
          <a:bodyPr/>
          <a:lstStyle/>
          <a:p>
            <a:fld id="{B89A1237-63C0-2149-90AD-33FFCF7C8578}" type="slidenum">
              <a:rPr lang="fr-FR" smtClean="0"/>
              <a:t>94</a:t>
            </a:fld>
            <a:endParaRPr lang="fr-FR"/>
          </a:p>
        </p:txBody>
      </p:sp>
    </p:spTree>
    <p:extLst>
      <p:ext uri="{BB962C8B-B14F-4D97-AF65-F5344CB8AC3E}">
        <p14:creationId xmlns:p14="http://schemas.microsoft.com/office/powerpoint/2010/main" val="24514037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On nuancera un peu le premier point par la suite.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96</a:t>
            </a:fld>
            <a:endParaRPr lang="fr-FR"/>
          </a:p>
        </p:txBody>
      </p:sp>
    </p:spTree>
    <p:extLst>
      <p:ext uri="{BB962C8B-B14F-4D97-AF65-F5344CB8AC3E}">
        <p14:creationId xmlns:p14="http://schemas.microsoft.com/office/powerpoint/2010/main" val="14163766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Cet équilibre entre exploration et exploitation sera l’une des questions primordiales de l’apprentissage par renforcement (voir chapitre3).</a:t>
            </a:r>
          </a:p>
          <a:p>
            <a:r>
              <a:rPr lang="fr-FR" dirty="0"/>
              <a:t>Ici le terme « politique » désigne une règle.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98</a:t>
            </a:fld>
            <a:endParaRPr lang="fr-FR"/>
          </a:p>
        </p:txBody>
      </p:sp>
    </p:spTree>
    <p:extLst>
      <p:ext uri="{BB962C8B-B14F-4D97-AF65-F5344CB8AC3E}">
        <p14:creationId xmlns:p14="http://schemas.microsoft.com/office/powerpoint/2010/main" val="4315086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Même avec des stratégies plus élaborées on laissera une part de hasard lors des simulations.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Ici le terme « politique » désigne une règle.</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99</a:t>
            </a:fld>
            <a:endParaRPr lang="fr-FR"/>
          </a:p>
        </p:txBody>
      </p:sp>
    </p:spTree>
    <p:extLst>
      <p:ext uri="{BB962C8B-B14F-4D97-AF65-F5344CB8AC3E}">
        <p14:creationId xmlns:p14="http://schemas.microsoft.com/office/powerpoint/2010/main" val="4186437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La terminologie anglaise classique est « fully </a:t>
            </a:r>
            <a:r>
              <a:rPr lang="fr-FR" dirty="0" err="1"/>
              <a:t>expanded</a:t>
            </a:r>
            <a:r>
              <a:rPr lang="fr-FR" dirty="0"/>
              <a:t> » pour « complètement déployé ».</a:t>
            </a:r>
          </a:p>
          <a:p>
            <a:r>
              <a:rPr lang="fr-FR" dirty="0"/>
              <a:t>Et c’est donc à partir de cet enfant que l’on lancera une simulation.</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102</a:t>
            </a:fld>
            <a:endParaRPr lang="fr-FR"/>
          </a:p>
        </p:txBody>
      </p:sp>
    </p:spTree>
    <p:extLst>
      <p:ext uri="{BB962C8B-B14F-4D97-AF65-F5344CB8AC3E}">
        <p14:creationId xmlns:p14="http://schemas.microsoft.com/office/powerpoint/2010/main" val="32780286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Idée de la représentation graphique : </a:t>
            </a:r>
            <a:br>
              <a:rPr lang="fr-FR" dirty="0"/>
            </a:br>
            <a:r>
              <a:rPr lang="fr-FR" dirty="0"/>
              <a:t>A Survey of Monte Carlo Tree Search Methods</a:t>
            </a:r>
          </a:p>
          <a:p>
            <a:r>
              <a:rPr lang="fr-FR" dirty="0"/>
              <a:t>Cameron Browne, </a:t>
            </a:r>
            <a:r>
              <a:rPr lang="fr-FR" dirty="0" err="1"/>
              <a:t>Member</a:t>
            </a:r>
            <a:r>
              <a:rPr lang="fr-FR" dirty="0"/>
              <a:t>, IEEE, Edward </a:t>
            </a:r>
            <a:r>
              <a:rPr lang="fr-FR" dirty="0" err="1"/>
              <a:t>Powley</a:t>
            </a:r>
            <a:r>
              <a:rPr lang="fr-FR" dirty="0"/>
              <a:t>, </a:t>
            </a:r>
            <a:r>
              <a:rPr lang="fr-FR" dirty="0" err="1"/>
              <a:t>Member</a:t>
            </a:r>
            <a:r>
              <a:rPr lang="fr-FR" dirty="0"/>
              <a:t>, IEEE, Daniel </a:t>
            </a:r>
            <a:r>
              <a:rPr lang="fr-FR" dirty="0" err="1"/>
              <a:t>Whitehouse</a:t>
            </a:r>
            <a:r>
              <a:rPr lang="fr-FR" dirty="0"/>
              <a:t>, </a:t>
            </a:r>
            <a:r>
              <a:rPr lang="fr-FR" dirty="0" err="1"/>
              <a:t>Member</a:t>
            </a:r>
            <a:r>
              <a:rPr lang="fr-FR" dirty="0"/>
              <a:t>, IEEE, Simon Lucas, Senior </a:t>
            </a:r>
            <a:r>
              <a:rPr lang="fr-FR" dirty="0" err="1"/>
              <a:t>Member</a:t>
            </a:r>
            <a:r>
              <a:rPr lang="fr-FR" dirty="0"/>
              <a:t>, IEEE, Peter I. </a:t>
            </a:r>
            <a:r>
              <a:rPr lang="fr-FR" dirty="0" err="1"/>
              <a:t>Cowling</a:t>
            </a:r>
            <a:r>
              <a:rPr lang="fr-FR" dirty="0"/>
              <a:t>, </a:t>
            </a:r>
            <a:r>
              <a:rPr lang="fr-FR" dirty="0" err="1"/>
              <a:t>Member</a:t>
            </a:r>
            <a:r>
              <a:rPr lang="fr-FR" dirty="0"/>
              <a:t>, IEEE, </a:t>
            </a:r>
            <a:r>
              <a:rPr lang="fr-FR" dirty="0" err="1"/>
              <a:t>Philipp</a:t>
            </a:r>
            <a:r>
              <a:rPr lang="fr-FR" dirty="0"/>
              <a:t> </a:t>
            </a:r>
            <a:r>
              <a:rPr lang="fr-FR" dirty="0" err="1"/>
              <a:t>Rohlfshagen</a:t>
            </a:r>
            <a:r>
              <a:rPr lang="fr-FR" dirty="0"/>
              <a:t>, Stephen </a:t>
            </a:r>
            <a:r>
              <a:rPr lang="fr-FR" dirty="0" err="1"/>
              <a:t>Tavener</a:t>
            </a:r>
            <a:r>
              <a:rPr lang="fr-FR" dirty="0"/>
              <a:t>, Diego Perez, </a:t>
            </a:r>
            <a:r>
              <a:rPr lang="fr-FR" dirty="0" err="1"/>
              <a:t>Spyridon</a:t>
            </a:r>
            <a:r>
              <a:rPr lang="fr-FR" dirty="0"/>
              <a:t> </a:t>
            </a:r>
            <a:r>
              <a:rPr lang="fr-FR" dirty="0" err="1"/>
              <a:t>Samothrakis</a:t>
            </a:r>
            <a:r>
              <a:rPr lang="fr-FR" dirty="0"/>
              <a:t> and Simon </a:t>
            </a:r>
            <a:r>
              <a:rPr lang="fr-FR" dirty="0" err="1"/>
              <a:t>Colton</a:t>
            </a:r>
            <a:endParaRPr lang="fr-FR" dirty="0"/>
          </a:p>
          <a:p>
            <a:r>
              <a:rPr lang="fr-FR" dirty="0"/>
              <a:t>IEEE TRANSACTIONS ON COMPUTATIONAL INTELLIGENCE AND AI IN GAMES, VOL. 4, NO. 1, MARCH 2012</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104</a:t>
            </a:fld>
            <a:endParaRPr lang="fr-FR"/>
          </a:p>
        </p:txBody>
      </p:sp>
    </p:spTree>
    <p:extLst>
      <p:ext uri="{BB962C8B-B14F-4D97-AF65-F5344CB8AC3E}">
        <p14:creationId xmlns:p14="http://schemas.microsoft.com/office/powerpoint/2010/main" val="766109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107</a:t>
            </a:fld>
            <a:endParaRPr lang="fr-FR"/>
          </a:p>
        </p:txBody>
      </p:sp>
    </p:spTree>
    <p:extLst>
      <p:ext uri="{BB962C8B-B14F-4D97-AF65-F5344CB8AC3E}">
        <p14:creationId xmlns:p14="http://schemas.microsoft.com/office/powerpoint/2010/main" val="12532840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se placera dans ce cas par la suite.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108</a:t>
            </a:fld>
            <a:endParaRPr lang="fr-FR"/>
          </a:p>
        </p:txBody>
      </p:sp>
    </p:spTree>
    <p:extLst>
      <p:ext uri="{BB962C8B-B14F-4D97-AF65-F5344CB8AC3E}">
        <p14:creationId xmlns:p14="http://schemas.microsoft.com/office/powerpoint/2010/main" val="24436905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0AC26-FE1D-373F-C6C6-9725210CE53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4662B2F-CB26-91D4-E2A7-6896FC8B67D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B5ABFA6-91BB-B34F-FE3B-7D9B3702EE2A}"/>
              </a:ext>
            </a:extLst>
          </p:cNvPr>
          <p:cNvSpPr>
            <a:spLocks noGrp="1"/>
          </p:cNvSpPr>
          <p:nvPr>
            <p:ph type="body" idx="1"/>
          </p:nvPr>
        </p:nvSpPr>
        <p:spPr/>
        <p:txBody>
          <a:bodyPr/>
          <a:lstStyle/>
          <a:p>
            <a:r>
              <a:rPr lang="fr-FR" dirty="0"/>
              <a:t>On ne considère donc pas des jeux ayant des scores numériques</a:t>
            </a:r>
          </a:p>
        </p:txBody>
      </p:sp>
      <p:sp>
        <p:nvSpPr>
          <p:cNvPr id="4" name="Espace réservé du numéro de diapositive 3">
            <a:extLst>
              <a:ext uri="{FF2B5EF4-FFF2-40B4-BE49-F238E27FC236}">
                <a16:creationId xmlns:a16="http://schemas.microsoft.com/office/drawing/2014/main" id="{C72BD251-C8B7-8ABA-B1C6-E9CE0CB871F6}"/>
              </a:ext>
            </a:extLst>
          </p:cNvPr>
          <p:cNvSpPr>
            <a:spLocks noGrp="1"/>
          </p:cNvSpPr>
          <p:nvPr>
            <p:ph type="sldNum" sz="quarter" idx="5"/>
          </p:nvPr>
        </p:nvSpPr>
        <p:spPr/>
        <p:txBody>
          <a:bodyPr/>
          <a:lstStyle/>
          <a:p>
            <a:fld id="{B89A1237-63C0-2149-90AD-33FFCF7C8578}" type="slidenum">
              <a:rPr lang="fr-FR" smtClean="0"/>
              <a:t>109</a:t>
            </a:fld>
            <a:endParaRPr lang="fr-FR"/>
          </a:p>
        </p:txBody>
      </p:sp>
    </p:spTree>
    <p:extLst>
      <p:ext uri="{BB962C8B-B14F-4D97-AF65-F5344CB8AC3E}">
        <p14:creationId xmlns:p14="http://schemas.microsoft.com/office/powerpoint/2010/main" val="26578391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110</a:t>
            </a:fld>
            <a:endParaRPr lang="fr-FR"/>
          </a:p>
        </p:txBody>
      </p:sp>
    </p:spTree>
    <p:extLst>
      <p:ext uri="{BB962C8B-B14F-4D97-AF65-F5344CB8AC3E}">
        <p14:creationId xmlns:p14="http://schemas.microsoft.com/office/powerpoint/2010/main" val="9973291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531B-FE89-A4BF-D70B-C85362DD8B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651382D-993C-C0C0-47E4-70710D02172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4D5A168-431E-8EEB-374D-D3154C857205}"/>
              </a:ext>
            </a:extLst>
          </p:cNvPr>
          <p:cNvSpPr>
            <a:spLocks noGrp="1"/>
          </p:cNvSpPr>
          <p:nvPr>
            <p:ph type="body" idx="1"/>
          </p:nvPr>
        </p:nvSpPr>
        <p:spPr>
          <a:xfrm>
            <a:off x="685800" y="4253793"/>
            <a:ext cx="5486400" cy="3600450"/>
          </a:xfrm>
        </p:spPr>
        <p:txBody>
          <a:bodyPr/>
          <a:lstStyle/>
          <a:p>
            <a:r>
              <a:rPr lang="fr-FR" dirty="0"/>
              <a:t>Nous reprenons l’exemple de l’excellent livre « Artificial Intelligence. A modern </a:t>
            </a:r>
            <a:r>
              <a:rPr lang="fr-FR" dirty="0" err="1"/>
              <a:t>approach</a:t>
            </a:r>
            <a:r>
              <a:rPr lang="fr-FR" dirty="0"/>
              <a:t> », de Peter </a:t>
            </a:r>
            <a:r>
              <a:rPr lang="fr-FR" dirty="0" err="1"/>
              <a:t>Norvig</a:t>
            </a:r>
            <a:r>
              <a:rPr lang="fr-FR" dirty="0"/>
              <a:t> et Stuart Russel.</a:t>
            </a:r>
          </a:p>
          <a:p>
            <a:r>
              <a:rPr lang="fr-FR" dirty="0"/>
              <a:t>Donc à la racine c’est l’adversaire qui vient de jouer et c’est donc pour l’IA que l’on déroule notre recherche.</a:t>
            </a:r>
          </a:p>
        </p:txBody>
      </p:sp>
      <p:sp>
        <p:nvSpPr>
          <p:cNvPr id="4" name="Espace réservé du numéro de diapositive 3">
            <a:extLst>
              <a:ext uri="{FF2B5EF4-FFF2-40B4-BE49-F238E27FC236}">
                <a16:creationId xmlns:a16="http://schemas.microsoft.com/office/drawing/2014/main" id="{604DA80E-4053-3F9A-1115-5209F96DBF4E}"/>
              </a:ext>
            </a:extLst>
          </p:cNvPr>
          <p:cNvSpPr>
            <a:spLocks noGrp="1"/>
          </p:cNvSpPr>
          <p:nvPr>
            <p:ph type="sldNum" sz="quarter" idx="5"/>
          </p:nvPr>
        </p:nvSpPr>
        <p:spPr/>
        <p:txBody>
          <a:bodyPr/>
          <a:lstStyle/>
          <a:p>
            <a:fld id="{B89A1237-63C0-2149-90AD-33FFCF7C8578}" type="slidenum">
              <a:rPr lang="fr-FR" smtClean="0"/>
              <a:t>111</a:t>
            </a:fld>
            <a:endParaRPr lang="fr-FR"/>
          </a:p>
        </p:txBody>
      </p:sp>
    </p:spTree>
    <p:extLst>
      <p:ext uri="{BB962C8B-B14F-4D97-AF65-F5344CB8AC3E}">
        <p14:creationId xmlns:p14="http://schemas.microsoft.com/office/powerpoint/2010/main" val="4119601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EE9B6-04DE-0ECD-3A60-10302C82A2E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5A8D1A-28C6-179F-20F4-1016C0EFF3C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144FAEA-6710-1A98-51F8-5CACA910F730}"/>
              </a:ext>
            </a:extLst>
          </p:cNvPr>
          <p:cNvSpPr>
            <a:spLocks noGrp="1"/>
          </p:cNvSpPr>
          <p:nvPr>
            <p:ph type="body" idx="1"/>
          </p:nvPr>
        </p:nvSpPr>
        <p:spPr/>
        <p:txBody>
          <a:bodyPr/>
          <a:lstStyle/>
          <a:p>
            <a:r>
              <a:rPr lang="fr-FR" dirty="0"/>
              <a:t>Nous reprenons l’exemple de l’excellent livre « Artificial Intelligence. A modern </a:t>
            </a:r>
            <a:r>
              <a:rPr lang="fr-FR" dirty="0" err="1"/>
              <a:t>approach</a:t>
            </a:r>
            <a:r>
              <a:rPr lang="fr-FR" dirty="0"/>
              <a:t> », de Peter </a:t>
            </a:r>
            <a:r>
              <a:rPr lang="fr-FR" dirty="0" err="1"/>
              <a:t>Norvig</a:t>
            </a:r>
            <a:r>
              <a:rPr lang="fr-FR" dirty="0"/>
              <a:t> et Stuart Russel.</a:t>
            </a:r>
          </a:p>
          <a:p>
            <a:r>
              <a:rPr lang="fr-FR" dirty="0"/>
              <a:t>On reviendra très vite sur le fonctionnement de la politique de sélection.</a:t>
            </a:r>
          </a:p>
        </p:txBody>
      </p:sp>
      <p:sp>
        <p:nvSpPr>
          <p:cNvPr id="4" name="Espace réservé du numéro de diapositive 3">
            <a:extLst>
              <a:ext uri="{FF2B5EF4-FFF2-40B4-BE49-F238E27FC236}">
                <a16:creationId xmlns:a16="http://schemas.microsoft.com/office/drawing/2014/main" id="{5450B591-C3C0-5F6B-EA34-059BC3F5FD40}"/>
              </a:ext>
            </a:extLst>
          </p:cNvPr>
          <p:cNvSpPr>
            <a:spLocks noGrp="1"/>
          </p:cNvSpPr>
          <p:nvPr>
            <p:ph type="sldNum" sz="quarter" idx="5"/>
          </p:nvPr>
        </p:nvSpPr>
        <p:spPr/>
        <p:txBody>
          <a:bodyPr/>
          <a:lstStyle/>
          <a:p>
            <a:fld id="{B89A1237-63C0-2149-90AD-33FFCF7C8578}" type="slidenum">
              <a:rPr lang="fr-FR" smtClean="0"/>
              <a:t>112</a:t>
            </a:fld>
            <a:endParaRPr lang="fr-FR"/>
          </a:p>
        </p:txBody>
      </p:sp>
    </p:spTree>
    <p:extLst>
      <p:ext uri="{BB962C8B-B14F-4D97-AF65-F5344CB8AC3E}">
        <p14:creationId xmlns:p14="http://schemas.microsoft.com/office/powerpoint/2010/main" val="782824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40F7E-BBC5-17B3-404D-3D2577BF89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5CC1AC6-A508-F6A9-9165-B7615590906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5B8CDB9-ADBA-8D19-180A-D2B1436C8C8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Nous reprenons l’exemple de l’excellent livre « Artificial Intelligence. A modern </a:t>
            </a:r>
            <a:r>
              <a:rPr lang="fr-FR" dirty="0" err="1"/>
              <a:t>approach</a:t>
            </a:r>
            <a:r>
              <a:rPr lang="fr-FR" dirty="0"/>
              <a:t> », de Peter </a:t>
            </a:r>
            <a:r>
              <a:rPr lang="fr-FR" dirty="0" err="1"/>
              <a:t>Norvig</a:t>
            </a:r>
            <a:r>
              <a:rPr lang="fr-FR" dirty="0"/>
              <a:t> et Stuart Russel.</a:t>
            </a:r>
          </a:p>
          <a:p>
            <a:endParaRPr lang="fr-FR" dirty="0"/>
          </a:p>
        </p:txBody>
      </p:sp>
      <p:sp>
        <p:nvSpPr>
          <p:cNvPr id="4" name="Espace réservé du numéro de diapositive 3">
            <a:extLst>
              <a:ext uri="{FF2B5EF4-FFF2-40B4-BE49-F238E27FC236}">
                <a16:creationId xmlns:a16="http://schemas.microsoft.com/office/drawing/2014/main" id="{62CEC3FE-A7CF-8ABD-0ECD-37B07A15B6EB}"/>
              </a:ext>
            </a:extLst>
          </p:cNvPr>
          <p:cNvSpPr>
            <a:spLocks noGrp="1"/>
          </p:cNvSpPr>
          <p:nvPr>
            <p:ph type="sldNum" sz="quarter" idx="5"/>
          </p:nvPr>
        </p:nvSpPr>
        <p:spPr/>
        <p:txBody>
          <a:bodyPr/>
          <a:lstStyle/>
          <a:p>
            <a:fld id="{B89A1237-63C0-2149-90AD-33FFCF7C8578}" type="slidenum">
              <a:rPr lang="fr-FR" smtClean="0"/>
              <a:t>113</a:t>
            </a:fld>
            <a:endParaRPr lang="fr-FR"/>
          </a:p>
        </p:txBody>
      </p:sp>
    </p:spTree>
    <p:extLst>
      <p:ext uri="{BB962C8B-B14F-4D97-AF65-F5344CB8AC3E}">
        <p14:creationId xmlns:p14="http://schemas.microsoft.com/office/powerpoint/2010/main" val="33120043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53C63-F3A2-FCB6-772B-C77E10AF20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07DADD4-E665-71CB-8F42-3BD58F49A99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935F33E-633F-906B-5211-FC9A1D00638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F8F0D1D-6095-6833-40E9-A3FC06692A88}"/>
              </a:ext>
            </a:extLst>
          </p:cNvPr>
          <p:cNvSpPr>
            <a:spLocks noGrp="1"/>
          </p:cNvSpPr>
          <p:nvPr>
            <p:ph type="sldNum" sz="quarter" idx="5"/>
          </p:nvPr>
        </p:nvSpPr>
        <p:spPr/>
        <p:txBody>
          <a:bodyPr/>
          <a:lstStyle/>
          <a:p>
            <a:fld id="{B89A1237-63C0-2149-90AD-33FFCF7C8578}" type="slidenum">
              <a:rPr lang="fr-FR" smtClean="0"/>
              <a:t>114</a:t>
            </a:fld>
            <a:endParaRPr lang="fr-FR"/>
          </a:p>
        </p:txBody>
      </p:sp>
    </p:spTree>
    <p:extLst>
      <p:ext uri="{BB962C8B-B14F-4D97-AF65-F5344CB8AC3E}">
        <p14:creationId xmlns:p14="http://schemas.microsoft.com/office/powerpoint/2010/main" val="86101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3FDD6-DCB2-D430-B8C6-2A4AC93B85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E8F4C14-39DA-B28A-0A20-21EAB873859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5B3D5AA-817C-FD86-6066-82DC62573F8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DC2CB41-3F5E-FB79-39E2-D1009D4FF489}"/>
              </a:ext>
            </a:extLst>
          </p:cNvPr>
          <p:cNvSpPr>
            <a:spLocks noGrp="1"/>
          </p:cNvSpPr>
          <p:nvPr>
            <p:ph type="sldNum" sz="quarter" idx="5"/>
          </p:nvPr>
        </p:nvSpPr>
        <p:spPr/>
        <p:txBody>
          <a:bodyPr/>
          <a:lstStyle/>
          <a:p>
            <a:fld id="{B89A1237-63C0-2149-90AD-33FFCF7C8578}" type="slidenum">
              <a:rPr lang="fr-FR" smtClean="0"/>
              <a:t>115</a:t>
            </a:fld>
            <a:endParaRPr lang="fr-FR"/>
          </a:p>
        </p:txBody>
      </p:sp>
    </p:spTree>
    <p:extLst>
      <p:ext uri="{BB962C8B-B14F-4D97-AF65-F5344CB8AC3E}">
        <p14:creationId xmlns:p14="http://schemas.microsoft.com/office/powerpoint/2010/main" val="2984994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Autre cas d’arrêt d’un parcours : si le sommet courant correspond à une position finale.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116</a:t>
            </a:fld>
            <a:endParaRPr lang="fr-FR"/>
          </a:p>
        </p:txBody>
      </p:sp>
    </p:spTree>
    <p:extLst>
      <p:ext uri="{BB962C8B-B14F-4D97-AF65-F5344CB8AC3E}">
        <p14:creationId xmlns:p14="http://schemas.microsoft.com/office/powerpoint/2010/main" val="7781094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8A9DF-F000-43AA-F0F1-308E151B5D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378CCB4-2F0D-9058-349D-64252E3FF30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EBA6742-8F70-4620-8F6F-EC0CB3D6379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68674B1-47D1-A3BA-D423-BD54CC218856}"/>
              </a:ext>
            </a:extLst>
          </p:cNvPr>
          <p:cNvSpPr>
            <a:spLocks noGrp="1"/>
          </p:cNvSpPr>
          <p:nvPr>
            <p:ph type="sldNum" sz="quarter" idx="5"/>
          </p:nvPr>
        </p:nvSpPr>
        <p:spPr/>
        <p:txBody>
          <a:bodyPr/>
          <a:lstStyle/>
          <a:p>
            <a:fld id="{B89A1237-63C0-2149-90AD-33FFCF7C8578}" type="slidenum">
              <a:rPr lang="fr-FR" smtClean="0"/>
              <a:t>119</a:t>
            </a:fld>
            <a:endParaRPr lang="fr-FR"/>
          </a:p>
        </p:txBody>
      </p:sp>
    </p:spTree>
    <p:extLst>
      <p:ext uri="{BB962C8B-B14F-4D97-AF65-F5344CB8AC3E}">
        <p14:creationId xmlns:p14="http://schemas.microsoft.com/office/powerpoint/2010/main" val="22344270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92E90-297F-58A5-038E-5109C9E5B97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E2DD696-A50F-8644-7637-1C09A01892E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5349834-F9C1-1F53-BAB0-4816AED9E77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F40B5AD-DAFB-7D4B-BC5C-2E4A0E20F08D}"/>
              </a:ext>
            </a:extLst>
          </p:cNvPr>
          <p:cNvSpPr>
            <a:spLocks noGrp="1"/>
          </p:cNvSpPr>
          <p:nvPr>
            <p:ph type="sldNum" sz="quarter" idx="5"/>
          </p:nvPr>
        </p:nvSpPr>
        <p:spPr/>
        <p:txBody>
          <a:bodyPr/>
          <a:lstStyle/>
          <a:p>
            <a:fld id="{B89A1237-63C0-2149-90AD-33FFCF7C8578}" type="slidenum">
              <a:rPr lang="fr-FR" smtClean="0"/>
              <a:t>120</a:t>
            </a:fld>
            <a:endParaRPr lang="fr-FR"/>
          </a:p>
        </p:txBody>
      </p:sp>
    </p:spTree>
    <p:extLst>
      <p:ext uri="{BB962C8B-B14F-4D97-AF65-F5344CB8AC3E}">
        <p14:creationId xmlns:p14="http://schemas.microsoft.com/office/powerpoint/2010/main" val="14560910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F62F3-9F20-B5F0-EEAC-21A25B7522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EDB326-34DB-22DE-2776-73C3B87B273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ADCD017-F0FD-AC4C-DB52-39124FDD65A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AC1B4BC-E7EB-0EF5-A298-8F419BD77F54}"/>
              </a:ext>
            </a:extLst>
          </p:cNvPr>
          <p:cNvSpPr>
            <a:spLocks noGrp="1"/>
          </p:cNvSpPr>
          <p:nvPr>
            <p:ph type="sldNum" sz="quarter" idx="5"/>
          </p:nvPr>
        </p:nvSpPr>
        <p:spPr/>
        <p:txBody>
          <a:bodyPr/>
          <a:lstStyle/>
          <a:p>
            <a:fld id="{B89A1237-63C0-2149-90AD-33FFCF7C8578}" type="slidenum">
              <a:rPr lang="fr-FR" smtClean="0"/>
              <a:t>121</a:t>
            </a:fld>
            <a:endParaRPr lang="fr-FR"/>
          </a:p>
        </p:txBody>
      </p:sp>
    </p:spTree>
    <p:extLst>
      <p:ext uri="{BB962C8B-B14F-4D97-AF65-F5344CB8AC3E}">
        <p14:creationId xmlns:p14="http://schemas.microsoft.com/office/powerpoint/2010/main" val="131472137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4C436-F3EF-3CCB-E164-CF3C850B14C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B8E9365-96C2-DC7F-C960-CD89DBF5C45B}"/>
              </a:ext>
            </a:extLst>
          </p:cNvPr>
          <p:cNvSpPr>
            <a:spLocks noGrp="1" noRot="1" noChangeAspect="1"/>
          </p:cNvSpPr>
          <p:nvPr>
            <p:ph type="sldImg"/>
          </p:nvPr>
        </p:nvSpPr>
        <p:spPr/>
        <p:txBody>
          <a:bodyPr/>
          <a:lstStyle/>
          <a:p>
            <a:endParaRPr lang="fr-FR"/>
          </a:p>
        </p:txBody>
      </p:sp>
      <mc:AlternateContent xmlns:mc="http://schemas.openxmlformats.org/markup-compatibility/2006" xmlns:a14="http://schemas.microsoft.com/office/drawing/2010/main">
        <mc:Choice Requires="a14">
          <p:sp>
            <p:nvSpPr>
              <p:cNvPr id="3" name="Espace réservé des notes 2">
                <a:extLst>
                  <a:ext uri="{FF2B5EF4-FFF2-40B4-BE49-F238E27FC236}">
                    <a16:creationId xmlns:a16="http://schemas.microsoft.com/office/drawing/2014/main" id="{05E95D68-F721-0A2A-1A04-4B4F0677F363}"/>
                  </a:ext>
                </a:extLst>
              </p:cNvPr>
              <p:cNvSpPr>
                <a:spLocks noGrp="1"/>
              </p:cNvSpPr>
              <p:nvPr>
                <p:ph type="body" idx="1"/>
              </p:nvPr>
            </p:nvSpPr>
            <p:spPr/>
            <p:txBody>
              <a:bodyPr/>
              <a:lstStyle/>
              <a:p>
                <a:r>
                  <a:rPr lang="fr-FR" dirty="0"/>
                  <a:t>En pratique on pourra tester plusieurs valeurs de </a:t>
                </a:r>
                <a14:m>
                  <m:oMath xmlns:m="http://schemas.openxmlformats.org/officeDocument/2006/math">
                    <m:r>
                      <a:rPr lang="fr-FR" b="0" i="1" smtClean="0">
                        <a:latin typeface="Cambria Math" panose="02040503050406030204" pitchFamily="18" charset="0"/>
                      </a:rPr>
                      <m:t>𝐶</m:t>
                    </m:r>
                  </m:oMath>
                </a14:m>
                <a:r>
                  <a:rPr lang="fr-FR" dirty="0"/>
                  <a:t>.</a:t>
                </a:r>
              </a:p>
            </p:txBody>
          </p:sp>
        </mc:Choice>
        <mc:Fallback xmlns="">
          <p:sp>
            <p:nvSpPr>
              <p:cNvPr id="3" name="Espace réservé des notes 2">
                <a:extLst>
                  <a:ext uri="{FF2B5EF4-FFF2-40B4-BE49-F238E27FC236}">
                    <a16:creationId xmlns:a16="http://schemas.microsoft.com/office/drawing/2014/main" id="{05E95D68-F721-0A2A-1A04-4B4F0677F363}"/>
                  </a:ext>
                </a:extLst>
              </p:cNvPr>
              <p:cNvSpPr>
                <a:spLocks noGrp="1"/>
              </p:cNvSpPr>
              <p:nvPr>
                <p:ph type="body" idx="1"/>
              </p:nvPr>
            </p:nvSpPr>
            <p:spPr/>
            <p:txBody>
              <a:bodyPr/>
              <a:lstStyle/>
              <a:p>
                <a:r>
                  <a:rPr lang="fr-FR" dirty="0"/>
                  <a:t>En pratique on pourra tester plusieurs valeurs de </a:t>
                </a:r>
                <a:r>
                  <a:rPr lang="fr-FR" b="0" i="0">
                    <a:latin typeface="Cambria Math" panose="02040503050406030204" pitchFamily="18" charset="0"/>
                  </a:rPr>
                  <a:t>𝐶</a:t>
                </a:r>
                <a:r>
                  <a:rPr lang="fr-FR" dirty="0"/>
                  <a:t>.</a:t>
                </a:r>
              </a:p>
            </p:txBody>
          </p:sp>
        </mc:Fallback>
      </mc:AlternateContent>
      <p:sp>
        <p:nvSpPr>
          <p:cNvPr id="4" name="Espace réservé du numéro de diapositive 3">
            <a:extLst>
              <a:ext uri="{FF2B5EF4-FFF2-40B4-BE49-F238E27FC236}">
                <a16:creationId xmlns:a16="http://schemas.microsoft.com/office/drawing/2014/main" id="{C0F6EF82-7877-8E94-B9FA-702164ADB77D}"/>
              </a:ext>
            </a:extLst>
          </p:cNvPr>
          <p:cNvSpPr>
            <a:spLocks noGrp="1"/>
          </p:cNvSpPr>
          <p:nvPr>
            <p:ph type="sldNum" sz="quarter" idx="5"/>
          </p:nvPr>
        </p:nvSpPr>
        <p:spPr/>
        <p:txBody>
          <a:bodyPr/>
          <a:lstStyle/>
          <a:p>
            <a:fld id="{B89A1237-63C0-2149-90AD-33FFCF7C8578}" type="slidenum">
              <a:rPr lang="fr-FR" smtClean="0"/>
              <a:t>122</a:t>
            </a:fld>
            <a:endParaRPr lang="fr-FR"/>
          </a:p>
        </p:txBody>
      </p:sp>
    </p:spTree>
    <p:extLst>
      <p:ext uri="{BB962C8B-B14F-4D97-AF65-F5344CB8AC3E}">
        <p14:creationId xmlns:p14="http://schemas.microsoft.com/office/powerpoint/2010/main" val="35670337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B8423-1907-438C-3FC9-C36429F41F3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01712A3-FEE9-E670-F33F-14D52EBB3EF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D4FD63E-B672-2DE3-A927-8FA66BF5162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3C8B6A3-F753-4354-2385-1AA56BA7C965}"/>
              </a:ext>
            </a:extLst>
          </p:cNvPr>
          <p:cNvSpPr>
            <a:spLocks noGrp="1"/>
          </p:cNvSpPr>
          <p:nvPr>
            <p:ph type="sldNum" sz="quarter" idx="5"/>
          </p:nvPr>
        </p:nvSpPr>
        <p:spPr/>
        <p:txBody>
          <a:bodyPr/>
          <a:lstStyle/>
          <a:p>
            <a:fld id="{B89A1237-63C0-2149-90AD-33FFCF7C8578}" type="slidenum">
              <a:rPr lang="fr-FR" smtClean="0"/>
              <a:t>123</a:t>
            </a:fld>
            <a:endParaRPr lang="fr-FR"/>
          </a:p>
        </p:txBody>
      </p:sp>
    </p:spTree>
    <p:extLst>
      <p:ext uri="{BB962C8B-B14F-4D97-AF65-F5344CB8AC3E}">
        <p14:creationId xmlns:p14="http://schemas.microsoft.com/office/powerpoint/2010/main" val="13760901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1AEE3-B9A8-76BB-140B-F77F187EB8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FC5546-08B6-B796-D7C7-15F557D0BEB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5C37455-AB4A-0740-5869-4253F00EEC2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EFFA995-3F5C-D15E-6EDF-9DB460A23F0F}"/>
              </a:ext>
            </a:extLst>
          </p:cNvPr>
          <p:cNvSpPr>
            <a:spLocks noGrp="1"/>
          </p:cNvSpPr>
          <p:nvPr>
            <p:ph type="sldNum" sz="quarter" idx="5"/>
          </p:nvPr>
        </p:nvSpPr>
        <p:spPr/>
        <p:txBody>
          <a:bodyPr/>
          <a:lstStyle/>
          <a:p>
            <a:fld id="{B89A1237-63C0-2149-90AD-33FFCF7C8578}" type="slidenum">
              <a:rPr lang="fr-FR" smtClean="0"/>
              <a:t>124</a:t>
            </a:fld>
            <a:endParaRPr lang="fr-FR"/>
          </a:p>
        </p:txBody>
      </p:sp>
    </p:spTree>
    <p:extLst>
      <p:ext uri="{BB962C8B-B14F-4D97-AF65-F5344CB8AC3E}">
        <p14:creationId xmlns:p14="http://schemas.microsoft.com/office/powerpoint/2010/main" val="19695646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Dans le cas général on cherche en effet à biaiser les simulations en utilisant des coups que l’on soupçonne efficaces.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125</a:t>
            </a:fld>
            <a:endParaRPr lang="fr-FR"/>
          </a:p>
        </p:txBody>
      </p:sp>
    </p:spTree>
    <p:extLst>
      <p:ext uri="{BB962C8B-B14F-4D97-AF65-F5344CB8AC3E}">
        <p14:creationId xmlns:p14="http://schemas.microsoft.com/office/powerpoint/2010/main" val="30488116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Ces heuristiques sont le plus souvent gloutonnes afin d’être rapides à calculer.</a:t>
            </a:r>
          </a:p>
          <a:p>
            <a:r>
              <a:rPr lang="fr-FR" dirty="0"/>
              <a:t>L’utilisation de réseaux de neurones pour définir la politique de jeu a été popularisé lors de la mise au point d’Alpha Go.</a:t>
            </a:r>
          </a:p>
          <a:p>
            <a:r>
              <a:rPr lang="fr-FR" dirty="0"/>
              <a:t>Cela dépasse de très loin le cadre de ce cours.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126</a:t>
            </a:fld>
            <a:endParaRPr lang="fr-FR"/>
          </a:p>
        </p:txBody>
      </p:sp>
    </p:spTree>
    <p:extLst>
      <p:ext uri="{BB962C8B-B14F-4D97-AF65-F5344CB8AC3E}">
        <p14:creationId xmlns:p14="http://schemas.microsoft.com/office/powerpoint/2010/main" val="245945613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850C1-A72A-C01E-1AC9-8F159A8BFCA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36423D5-6CDE-0250-B87A-5720CF203E6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EE22D61-0BEE-12F3-7F67-8BEEA9C7E12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C2A37A2-2485-D035-14AD-F39FC2BAD5DB}"/>
              </a:ext>
            </a:extLst>
          </p:cNvPr>
          <p:cNvSpPr>
            <a:spLocks noGrp="1"/>
          </p:cNvSpPr>
          <p:nvPr>
            <p:ph type="sldNum" sz="quarter" idx="5"/>
          </p:nvPr>
        </p:nvSpPr>
        <p:spPr/>
        <p:txBody>
          <a:bodyPr/>
          <a:lstStyle/>
          <a:p>
            <a:fld id="{B89A1237-63C0-2149-90AD-33FFCF7C8578}" type="slidenum">
              <a:rPr lang="fr-FR" smtClean="0"/>
              <a:t>127</a:t>
            </a:fld>
            <a:endParaRPr lang="fr-FR"/>
          </a:p>
        </p:txBody>
      </p:sp>
    </p:spTree>
    <p:extLst>
      <p:ext uri="{BB962C8B-B14F-4D97-AF65-F5344CB8AC3E}">
        <p14:creationId xmlns:p14="http://schemas.microsoft.com/office/powerpoint/2010/main" val="22243814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6F956-927C-06BC-2CD6-A61031C7ADE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827CB01-F283-2098-96D0-C3BCB4725F1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096B041-8211-BE19-0BFD-D56C7FE26AB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D66A1AA-AE7D-952B-0D87-21D56C3F7CC9}"/>
              </a:ext>
            </a:extLst>
          </p:cNvPr>
          <p:cNvSpPr>
            <a:spLocks noGrp="1"/>
          </p:cNvSpPr>
          <p:nvPr>
            <p:ph type="sldNum" sz="quarter" idx="5"/>
          </p:nvPr>
        </p:nvSpPr>
        <p:spPr/>
        <p:txBody>
          <a:bodyPr/>
          <a:lstStyle/>
          <a:p>
            <a:fld id="{B89A1237-63C0-2149-90AD-33FFCF7C8578}" type="slidenum">
              <a:rPr lang="fr-FR" smtClean="0"/>
              <a:t>128</a:t>
            </a:fld>
            <a:endParaRPr lang="fr-FR"/>
          </a:p>
        </p:txBody>
      </p:sp>
    </p:spTree>
    <p:extLst>
      <p:ext uri="{BB962C8B-B14F-4D97-AF65-F5344CB8AC3E}">
        <p14:creationId xmlns:p14="http://schemas.microsoft.com/office/powerpoint/2010/main" val="320924876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B3327-3EF5-04FF-EAC3-99BE3E3F28D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79F7CAD-02CE-4914-4B14-3C1E23D7064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8B01D7B-B705-43D6-13C9-9A00B5D29D1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AFC9B15-7366-EE43-B33D-A7552502E177}"/>
              </a:ext>
            </a:extLst>
          </p:cNvPr>
          <p:cNvSpPr>
            <a:spLocks noGrp="1"/>
          </p:cNvSpPr>
          <p:nvPr>
            <p:ph type="sldNum" sz="quarter" idx="5"/>
          </p:nvPr>
        </p:nvSpPr>
        <p:spPr/>
        <p:txBody>
          <a:bodyPr/>
          <a:lstStyle/>
          <a:p>
            <a:fld id="{B89A1237-63C0-2149-90AD-33FFCF7C8578}" type="slidenum">
              <a:rPr lang="fr-FR" smtClean="0"/>
              <a:t>129</a:t>
            </a:fld>
            <a:endParaRPr lang="fr-FR"/>
          </a:p>
        </p:txBody>
      </p:sp>
    </p:spTree>
    <p:extLst>
      <p:ext uri="{BB962C8B-B14F-4D97-AF65-F5344CB8AC3E}">
        <p14:creationId xmlns:p14="http://schemas.microsoft.com/office/powerpoint/2010/main" val="97220395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A83B9-13F4-FF5F-955C-928B39D2164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B84F07-0D41-8881-8E0B-FB6627EF965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03F3ED7-CDF0-2D4A-F237-89A76D368EB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5C7FF10-47B4-3FC9-5CD8-6454BB62EB0F}"/>
              </a:ext>
            </a:extLst>
          </p:cNvPr>
          <p:cNvSpPr>
            <a:spLocks noGrp="1"/>
          </p:cNvSpPr>
          <p:nvPr>
            <p:ph type="sldNum" sz="quarter" idx="5"/>
          </p:nvPr>
        </p:nvSpPr>
        <p:spPr/>
        <p:txBody>
          <a:bodyPr/>
          <a:lstStyle/>
          <a:p>
            <a:fld id="{B89A1237-63C0-2149-90AD-33FFCF7C8578}" type="slidenum">
              <a:rPr lang="fr-FR" smtClean="0"/>
              <a:t>130</a:t>
            </a:fld>
            <a:endParaRPr lang="fr-FR"/>
          </a:p>
        </p:txBody>
      </p:sp>
    </p:spTree>
    <p:extLst>
      <p:ext uri="{BB962C8B-B14F-4D97-AF65-F5344CB8AC3E}">
        <p14:creationId xmlns:p14="http://schemas.microsoft.com/office/powerpoint/2010/main" val="12626847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8958B-964D-55ED-BCC9-4C64E8F7D14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EC1B3D-3C68-F6EB-2CDB-6AEF489DFE1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296EB68-6024-E593-3149-DC0A3ABB0976}"/>
              </a:ext>
            </a:extLst>
          </p:cNvPr>
          <p:cNvSpPr>
            <a:spLocks noGrp="1"/>
          </p:cNvSpPr>
          <p:nvPr>
            <p:ph type="body" idx="1"/>
          </p:nvPr>
        </p:nvSpPr>
        <p:spPr/>
        <p:txBody>
          <a:bodyPr/>
          <a:lstStyle/>
          <a:p>
            <a:r>
              <a:rPr lang="fr-FR" dirty="0"/>
              <a:t>D’une implémentation à une autre les paramètres des fonctions et les valeurs retournées pourront légèrement changer.</a:t>
            </a:r>
          </a:p>
        </p:txBody>
      </p:sp>
      <p:sp>
        <p:nvSpPr>
          <p:cNvPr id="4" name="Espace réservé du numéro de diapositive 3">
            <a:extLst>
              <a:ext uri="{FF2B5EF4-FFF2-40B4-BE49-F238E27FC236}">
                <a16:creationId xmlns:a16="http://schemas.microsoft.com/office/drawing/2014/main" id="{EFAF7ECE-C4B3-A2C8-0732-284BAB68EB34}"/>
              </a:ext>
            </a:extLst>
          </p:cNvPr>
          <p:cNvSpPr>
            <a:spLocks noGrp="1"/>
          </p:cNvSpPr>
          <p:nvPr>
            <p:ph type="sldNum" sz="quarter" idx="5"/>
          </p:nvPr>
        </p:nvSpPr>
        <p:spPr/>
        <p:txBody>
          <a:bodyPr/>
          <a:lstStyle/>
          <a:p>
            <a:fld id="{B89A1237-63C0-2149-90AD-33FFCF7C8578}" type="slidenum">
              <a:rPr lang="fr-FR" smtClean="0"/>
              <a:t>131</a:t>
            </a:fld>
            <a:endParaRPr lang="fr-FR"/>
          </a:p>
        </p:txBody>
      </p:sp>
    </p:spTree>
    <p:extLst>
      <p:ext uri="{BB962C8B-B14F-4D97-AF65-F5344CB8AC3E}">
        <p14:creationId xmlns:p14="http://schemas.microsoft.com/office/powerpoint/2010/main" val="628739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D3D34-45D3-D6FA-ACC7-F2632943B1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E8A0D6C-AAF9-9FC6-6DB6-18FD60A67E93}"/>
              </a:ext>
            </a:extLst>
          </p:cNvPr>
          <p:cNvSpPr>
            <a:spLocks noGrp="1" noRot="1" noChangeAspect="1"/>
          </p:cNvSpPr>
          <p:nvPr>
            <p:ph type="sldImg"/>
          </p:nvPr>
        </p:nvSpPr>
        <p:spPr/>
        <p:txBody>
          <a:bodyPr/>
          <a:lstStyle/>
          <a:p>
            <a:endParaRPr lang="fr-FR"/>
          </a:p>
        </p:txBody>
      </p:sp>
      <mc:AlternateContent xmlns:mc="http://schemas.openxmlformats.org/markup-compatibility/2006" xmlns:a14="http://schemas.microsoft.com/office/drawing/2010/main">
        <mc:Choice Requires="a14">
          <p:sp>
            <p:nvSpPr>
              <p:cNvPr id="3" name="Espace réservé des notes 2">
                <a:extLst>
                  <a:ext uri="{FF2B5EF4-FFF2-40B4-BE49-F238E27FC236}">
                    <a16:creationId xmlns:a16="http://schemas.microsoft.com/office/drawing/2014/main" id="{8A450BAD-0EE7-D696-4E70-A3D0D9344623}"/>
                  </a:ext>
                </a:extLst>
              </p:cNvPr>
              <p:cNvSpPr>
                <a:spLocks noGrp="1"/>
              </p:cNvSpPr>
              <p:nvPr>
                <p:ph type="body" idx="1"/>
              </p:nvPr>
            </p:nvSpPr>
            <p:spPr/>
            <p:txBody>
              <a:bodyPr/>
              <a:lstStyle/>
              <a:p>
                <a:endParaRPr lang="fr-FR" dirty="0"/>
              </a:p>
            </p:txBody>
          </p:sp>
        </mc:Choice>
        <mc:Fallback xmlns="">
          <p:sp>
            <p:nvSpPr>
              <p:cNvPr id="3" name="Espace réservé des notes 2">
                <a:extLst>
                  <a:ext uri="{FF2B5EF4-FFF2-40B4-BE49-F238E27FC236}">
                    <a16:creationId xmlns:a16="http://schemas.microsoft.com/office/drawing/2014/main" id="{8A450BAD-0EE7-D696-4E70-A3D0D9344623}"/>
                  </a:ext>
                </a:extLst>
              </p:cNvPr>
              <p:cNvSpPr>
                <a:spLocks noGrp="1"/>
              </p:cNvSpPr>
              <p:nvPr>
                <p:ph type="body" idx="1"/>
              </p:nvPr>
            </p:nvSpPr>
            <p:spPr/>
            <p:txBody>
              <a:bodyPr/>
              <a:lstStyle/>
              <a:p>
                <a:r>
                  <a:rPr lang="fr-FR" dirty="0"/>
                  <a:t>La valeur </a:t>
                </a:r>
                <a:r>
                  <a:rPr lang="fr-FR" b="0" i="0">
                    <a:latin typeface="Cambria Math" panose="02040503050406030204" pitchFamily="18" charset="0"/>
                  </a:rPr>
                  <a:t>"arg" ⁡"max" </a:t>
                </a:r>
                <a:r>
                  <a:rPr lang="fr-FR" dirty="0"/>
                  <a:t> est ici prise sur les sommets </a:t>
                </a:r>
                <a:r>
                  <a:rPr lang="fr-FR" b="0" i="0">
                    <a:latin typeface="Cambria Math" panose="02040503050406030204" pitchFamily="18" charset="0"/>
                  </a:rPr>
                  <a:t>𝑥</a:t>
                </a:r>
                <a:r>
                  <a:rPr lang="fr-FR" dirty="0"/>
                  <a:t> enfants du </a:t>
                </a:r>
                <a:r>
                  <a:rPr lang="fr-FR" b="0" i="0">
                    <a:latin typeface="Cambria Math" panose="02040503050406030204" pitchFamily="18" charset="0"/>
                  </a:rPr>
                  <a:t>𝑠𝑜𝑚𝑚𝑒𝑡𝐶𝑜𝑢𝑟𝑎𝑛𝑡</a:t>
                </a:r>
                <a:r>
                  <a:rPr lang="fr-FR" dirty="0"/>
                  <a:t>.</a:t>
                </a:r>
              </a:p>
            </p:txBody>
          </p:sp>
        </mc:Fallback>
      </mc:AlternateContent>
      <p:sp>
        <p:nvSpPr>
          <p:cNvPr id="4" name="Espace réservé du numéro de diapositive 3">
            <a:extLst>
              <a:ext uri="{FF2B5EF4-FFF2-40B4-BE49-F238E27FC236}">
                <a16:creationId xmlns:a16="http://schemas.microsoft.com/office/drawing/2014/main" id="{59662572-86C7-552B-18EA-4826D0E6D134}"/>
              </a:ext>
            </a:extLst>
          </p:cNvPr>
          <p:cNvSpPr>
            <a:spLocks noGrp="1"/>
          </p:cNvSpPr>
          <p:nvPr>
            <p:ph type="sldNum" sz="quarter" idx="5"/>
          </p:nvPr>
        </p:nvSpPr>
        <p:spPr/>
        <p:txBody>
          <a:bodyPr/>
          <a:lstStyle/>
          <a:p>
            <a:fld id="{B89A1237-63C0-2149-90AD-33FFCF7C8578}" type="slidenum">
              <a:rPr lang="fr-FR" smtClean="0"/>
              <a:t>133</a:t>
            </a:fld>
            <a:endParaRPr lang="fr-FR"/>
          </a:p>
        </p:txBody>
      </p:sp>
    </p:spTree>
    <p:extLst>
      <p:ext uri="{BB962C8B-B14F-4D97-AF65-F5344CB8AC3E}">
        <p14:creationId xmlns:p14="http://schemas.microsoft.com/office/powerpoint/2010/main" val="20433355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E9B07-48AA-D077-2369-0310EFFBFE0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A39565-78E3-79AE-0193-76B3E713443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F034718-5A21-199A-E339-B29B3118D9D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96188DC-6EAB-809D-BB77-14FFC471DFD8}"/>
              </a:ext>
            </a:extLst>
          </p:cNvPr>
          <p:cNvSpPr>
            <a:spLocks noGrp="1"/>
          </p:cNvSpPr>
          <p:nvPr>
            <p:ph type="sldNum" sz="quarter" idx="5"/>
          </p:nvPr>
        </p:nvSpPr>
        <p:spPr/>
        <p:txBody>
          <a:bodyPr/>
          <a:lstStyle/>
          <a:p>
            <a:fld id="{B89A1237-63C0-2149-90AD-33FFCF7C8578}" type="slidenum">
              <a:rPr lang="fr-FR" smtClean="0"/>
              <a:t>134</a:t>
            </a:fld>
            <a:endParaRPr lang="fr-FR"/>
          </a:p>
        </p:txBody>
      </p:sp>
    </p:spTree>
    <p:extLst>
      <p:ext uri="{BB962C8B-B14F-4D97-AF65-F5344CB8AC3E}">
        <p14:creationId xmlns:p14="http://schemas.microsoft.com/office/powerpoint/2010/main" val="19734909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A7F67-8284-F6C6-A28F-6AAB49526A5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945F71-8C2D-BC39-0E04-57C53870383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129E2AC-5BD7-BF17-867C-AEABD42ECC5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0DA548C-C32D-DC55-B9F3-21EB3D53D603}"/>
              </a:ext>
            </a:extLst>
          </p:cNvPr>
          <p:cNvSpPr>
            <a:spLocks noGrp="1"/>
          </p:cNvSpPr>
          <p:nvPr>
            <p:ph type="sldNum" sz="quarter" idx="5"/>
          </p:nvPr>
        </p:nvSpPr>
        <p:spPr/>
        <p:txBody>
          <a:bodyPr/>
          <a:lstStyle/>
          <a:p>
            <a:fld id="{B89A1237-63C0-2149-90AD-33FFCF7C8578}" type="slidenum">
              <a:rPr lang="fr-FR" smtClean="0"/>
              <a:t>135</a:t>
            </a:fld>
            <a:endParaRPr lang="fr-FR"/>
          </a:p>
        </p:txBody>
      </p:sp>
    </p:spTree>
    <p:extLst>
      <p:ext uri="{BB962C8B-B14F-4D97-AF65-F5344CB8AC3E}">
        <p14:creationId xmlns:p14="http://schemas.microsoft.com/office/powerpoint/2010/main" val="82029703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77525-78EC-9E43-E13D-555BCE6596C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754105F-275E-05C8-5942-03B24E9A0F4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D41E0B1-2CD7-D251-0283-B125033FE34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7E94B21-1972-3C78-73F8-EEF74C64597E}"/>
              </a:ext>
            </a:extLst>
          </p:cNvPr>
          <p:cNvSpPr>
            <a:spLocks noGrp="1"/>
          </p:cNvSpPr>
          <p:nvPr>
            <p:ph type="sldNum" sz="quarter" idx="5"/>
          </p:nvPr>
        </p:nvSpPr>
        <p:spPr/>
        <p:txBody>
          <a:bodyPr/>
          <a:lstStyle/>
          <a:p>
            <a:fld id="{B89A1237-63C0-2149-90AD-33FFCF7C8578}" type="slidenum">
              <a:rPr lang="fr-FR" smtClean="0"/>
              <a:t>136</a:t>
            </a:fld>
            <a:endParaRPr lang="fr-FR"/>
          </a:p>
        </p:txBody>
      </p:sp>
    </p:spTree>
    <p:extLst>
      <p:ext uri="{BB962C8B-B14F-4D97-AF65-F5344CB8AC3E}">
        <p14:creationId xmlns:p14="http://schemas.microsoft.com/office/powerpoint/2010/main" val="33378583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5EFEE-BB6E-D824-8803-52F08869C7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940A0F0-C54F-21EC-CD3B-889222DCE2E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9A8858A-CE1F-9428-4CE1-679C67D7B72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9C59F31-1511-697F-F44E-D76807E5930F}"/>
              </a:ext>
            </a:extLst>
          </p:cNvPr>
          <p:cNvSpPr>
            <a:spLocks noGrp="1"/>
          </p:cNvSpPr>
          <p:nvPr>
            <p:ph type="sldNum" sz="quarter" idx="5"/>
          </p:nvPr>
        </p:nvSpPr>
        <p:spPr/>
        <p:txBody>
          <a:bodyPr/>
          <a:lstStyle/>
          <a:p>
            <a:fld id="{B89A1237-63C0-2149-90AD-33FFCF7C8578}" type="slidenum">
              <a:rPr lang="fr-FR" smtClean="0"/>
              <a:t>137</a:t>
            </a:fld>
            <a:endParaRPr lang="fr-FR"/>
          </a:p>
        </p:txBody>
      </p:sp>
    </p:spTree>
    <p:extLst>
      <p:ext uri="{BB962C8B-B14F-4D97-AF65-F5344CB8AC3E}">
        <p14:creationId xmlns:p14="http://schemas.microsoft.com/office/powerpoint/2010/main" val="65735660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Cet exemple provient de nouveau du livre « Artificial Intelligence. A modern </a:t>
            </a:r>
            <a:r>
              <a:rPr lang="fr-FR" dirty="0" err="1"/>
              <a:t>approach</a:t>
            </a:r>
            <a:r>
              <a:rPr lang="fr-FR" dirty="0"/>
              <a:t> », de Peter </a:t>
            </a:r>
            <a:r>
              <a:rPr lang="fr-FR" dirty="0" err="1"/>
              <a:t>Norvig</a:t>
            </a:r>
            <a:r>
              <a:rPr lang="fr-FR" dirty="0"/>
              <a:t> et Stuart Russel.</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138</a:t>
            </a:fld>
            <a:endParaRPr lang="fr-FR"/>
          </a:p>
        </p:txBody>
      </p:sp>
    </p:spTree>
    <p:extLst>
      <p:ext uri="{BB962C8B-B14F-4D97-AF65-F5344CB8AC3E}">
        <p14:creationId xmlns:p14="http://schemas.microsoft.com/office/powerpoint/2010/main" val="311025969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139</a:t>
            </a:fld>
            <a:endParaRPr lang="fr-FR"/>
          </a:p>
        </p:txBody>
      </p:sp>
    </p:spTree>
    <p:extLst>
      <p:ext uri="{BB962C8B-B14F-4D97-AF65-F5344CB8AC3E}">
        <p14:creationId xmlns:p14="http://schemas.microsoft.com/office/powerpoint/2010/main" val="1289402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E35FED-2507-6347-9B57-3FF5AFCD8EC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AD8B847-1B82-BE49-A9A7-C3023CD2D5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B611D94-0717-E14D-B19C-F142F7DBD343}"/>
              </a:ext>
            </a:extLst>
          </p:cNvPr>
          <p:cNvSpPr>
            <a:spLocks noGrp="1"/>
          </p:cNvSpPr>
          <p:nvPr>
            <p:ph type="dt" sz="half" idx="10"/>
          </p:nvPr>
        </p:nvSpPr>
        <p:spPr/>
        <p:txBody>
          <a:bodyPr/>
          <a:lstStyle/>
          <a:p>
            <a:fld id="{760B14F5-1D21-F14F-B36B-BCA0A34A15FF}"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DBD62BDA-0F08-504D-9BDA-A04B89E826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0C21CC-1B92-B44B-AE72-CDCCB2D831B7}"/>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641407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EA51D4-1867-8845-820C-C21D7BCEC9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C3841B2-2299-484D-98D4-2509FDD8732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57F3535-31CB-2243-9FD7-D6385CE3DE0D}"/>
              </a:ext>
            </a:extLst>
          </p:cNvPr>
          <p:cNvSpPr>
            <a:spLocks noGrp="1"/>
          </p:cNvSpPr>
          <p:nvPr>
            <p:ph type="dt" sz="half" idx="10"/>
          </p:nvPr>
        </p:nvSpPr>
        <p:spPr/>
        <p:txBody>
          <a:bodyPr/>
          <a:lstStyle/>
          <a:p>
            <a:fld id="{760B14F5-1D21-F14F-B36B-BCA0A34A15FF}"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B1828F9A-0BE6-2040-B200-CA9AD150D7E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553960E-7BA0-5744-B871-2625A924609E}"/>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797754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D28FD5-3D75-FF4B-8910-57BF5A27805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84D373C-AC4E-4749-AF27-1D4F5473F3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94B37BF-0D5B-EE4F-B5D2-4991975BEABC}"/>
              </a:ext>
            </a:extLst>
          </p:cNvPr>
          <p:cNvSpPr>
            <a:spLocks noGrp="1"/>
          </p:cNvSpPr>
          <p:nvPr>
            <p:ph type="dt" sz="half" idx="10"/>
          </p:nvPr>
        </p:nvSpPr>
        <p:spPr/>
        <p:txBody>
          <a:bodyPr/>
          <a:lstStyle/>
          <a:p>
            <a:fld id="{760B14F5-1D21-F14F-B36B-BCA0A34A15FF}"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15CC8B85-AF4B-D347-9A59-97FD4522E6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F0FD24F-150A-1443-9905-84B822D46C9E}"/>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445405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238437-A9AA-1649-93B3-41C10243C88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E052425-B188-F44E-AE00-4A68E5EA439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C1B7208-E02E-5B44-B5B0-8F7E4329BF9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6479033-F7B2-3340-AA42-C9315CC63A98}"/>
              </a:ext>
            </a:extLst>
          </p:cNvPr>
          <p:cNvSpPr>
            <a:spLocks noGrp="1"/>
          </p:cNvSpPr>
          <p:nvPr>
            <p:ph type="dt" sz="half" idx="10"/>
          </p:nvPr>
        </p:nvSpPr>
        <p:spPr/>
        <p:txBody>
          <a:bodyPr/>
          <a:lstStyle/>
          <a:p>
            <a:fld id="{760B14F5-1D21-F14F-B36B-BCA0A34A15FF}" type="datetimeFigureOut">
              <a:rPr lang="fr-FR" smtClean="0"/>
              <a:t>26/02/2026</a:t>
            </a:fld>
            <a:endParaRPr lang="fr-FR"/>
          </a:p>
        </p:txBody>
      </p:sp>
      <p:sp>
        <p:nvSpPr>
          <p:cNvPr id="6" name="Espace réservé du pied de page 5">
            <a:extLst>
              <a:ext uri="{FF2B5EF4-FFF2-40B4-BE49-F238E27FC236}">
                <a16:creationId xmlns:a16="http://schemas.microsoft.com/office/drawing/2014/main" id="{9BC51178-4562-B14F-81E9-EEB57190DED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ECB1059-2BD2-DE48-8A78-A1F0952EFC47}"/>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413048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E87D52-2FB1-1B49-AB3F-B878A6C6CEB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35322B7-F0A2-534D-A6BC-4D36CFB7E2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A541A8E-94B9-9948-9F7F-B59CE4A7A5D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87F5E04-45D9-0B41-A49B-C539BB2407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45050A4-C507-9A4F-B6CE-71C0EC9B7E7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FAFD617-5DC0-7146-8644-37FDEF3C4611}"/>
              </a:ext>
            </a:extLst>
          </p:cNvPr>
          <p:cNvSpPr>
            <a:spLocks noGrp="1"/>
          </p:cNvSpPr>
          <p:nvPr>
            <p:ph type="dt" sz="half" idx="10"/>
          </p:nvPr>
        </p:nvSpPr>
        <p:spPr/>
        <p:txBody>
          <a:bodyPr/>
          <a:lstStyle/>
          <a:p>
            <a:fld id="{760B14F5-1D21-F14F-B36B-BCA0A34A15FF}" type="datetimeFigureOut">
              <a:rPr lang="fr-FR" smtClean="0"/>
              <a:t>26/02/2026</a:t>
            </a:fld>
            <a:endParaRPr lang="fr-FR"/>
          </a:p>
        </p:txBody>
      </p:sp>
      <p:sp>
        <p:nvSpPr>
          <p:cNvPr id="8" name="Espace réservé du pied de page 7">
            <a:extLst>
              <a:ext uri="{FF2B5EF4-FFF2-40B4-BE49-F238E27FC236}">
                <a16:creationId xmlns:a16="http://schemas.microsoft.com/office/drawing/2014/main" id="{066D3D1A-4433-FB46-BCB3-2FC07477E359}"/>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28BE2A0-7142-7944-9978-9CF0A02E57C9}"/>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1571945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23AE92-F78E-674F-9897-3D26B7A9FDF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AC96ECA-9486-6E4B-B4BC-7E76B34EFF98}"/>
              </a:ext>
            </a:extLst>
          </p:cNvPr>
          <p:cNvSpPr>
            <a:spLocks noGrp="1"/>
          </p:cNvSpPr>
          <p:nvPr>
            <p:ph type="dt" sz="half" idx="10"/>
          </p:nvPr>
        </p:nvSpPr>
        <p:spPr/>
        <p:txBody>
          <a:bodyPr/>
          <a:lstStyle/>
          <a:p>
            <a:fld id="{760B14F5-1D21-F14F-B36B-BCA0A34A15FF}" type="datetimeFigureOut">
              <a:rPr lang="fr-FR" smtClean="0"/>
              <a:t>26/02/2026</a:t>
            </a:fld>
            <a:endParaRPr lang="fr-FR"/>
          </a:p>
        </p:txBody>
      </p:sp>
      <p:sp>
        <p:nvSpPr>
          <p:cNvPr id="4" name="Espace réservé du pied de page 3">
            <a:extLst>
              <a:ext uri="{FF2B5EF4-FFF2-40B4-BE49-F238E27FC236}">
                <a16:creationId xmlns:a16="http://schemas.microsoft.com/office/drawing/2014/main" id="{B8B4D8AF-4BB6-934B-A379-CBF84C9A412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F8E009D-38CE-D34C-82BA-3182CA4F15F6}"/>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585514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D844418-3E68-CA4E-AC8C-9D66D9255062}"/>
              </a:ext>
            </a:extLst>
          </p:cNvPr>
          <p:cNvSpPr>
            <a:spLocks noGrp="1"/>
          </p:cNvSpPr>
          <p:nvPr>
            <p:ph type="dt" sz="half" idx="10"/>
          </p:nvPr>
        </p:nvSpPr>
        <p:spPr/>
        <p:txBody>
          <a:bodyPr/>
          <a:lstStyle/>
          <a:p>
            <a:fld id="{760B14F5-1D21-F14F-B36B-BCA0A34A15FF}" type="datetimeFigureOut">
              <a:rPr lang="fr-FR" smtClean="0"/>
              <a:t>26/02/2026</a:t>
            </a:fld>
            <a:endParaRPr lang="fr-FR"/>
          </a:p>
        </p:txBody>
      </p:sp>
      <p:sp>
        <p:nvSpPr>
          <p:cNvPr id="3" name="Espace réservé du pied de page 2">
            <a:extLst>
              <a:ext uri="{FF2B5EF4-FFF2-40B4-BE49-F238E27FC236}">
                <a16:creationId xmlns:a16="http://schemas.microsoft.com/office/drawing/2014/main" id="{ACD285BC-A399-C24D-9863-55D71A82555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BBC877D-0D91-8442-9A72-AF3420B94651}"/>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34073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9C8412-37C8-4B46-9CE8-3469F1893FC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1A9CD95-5780-714B-A453-63A2F3456E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2D7CA0C-E415-F14F-9EF8-44A9C7CBED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2697766-D919-5247-A55B-2A12BA74BE2E}"/>
              </a:ext>
            </a:extLst>
          </p:cNvPr>
          <p:cNvSpPr>
            <a:spLocks noGrp="1"/>
          </p:cNvSpPr>
          <p:nvPr>
            <p:ph type="dt" sz="half" idx="10"/>
          </p:nvPr>
        </p:nvSpPr>
        <p:spPr/>
        <p:txBody>
          <a:bodyPr/>
          <a:lstStyle/>
          <a:p>
            <a:fld id="{760B14F5-1D21-F14F-B36B-BCA0A34A15FF}" type="datetimeFigureOut">
              <a:rPr lang="fr-FR" smtClean="0"/>
              <a:t>26/02/2026</a:t>
            </a:fld>
            <a:endParaRPr lang="fr-FR"/>
          </a:p>
        </p:txBody>
      </p:sp>
      <p:sp>
        <p:nvSpPr>
          <p:cNvPr id="6" name="Espace réservé du pied de page 5">
            <a:extLst>
              <a:ext uri="{FF2B5EF4-FFF2-40B4-BE49-F238E27FC236}">
                <a16:creationId xmlns:a16="http://schemas.microsoft.com/office/drawing/2014/main" id="{DFB77295-5D11-2841-AC5B-84946CEA3BB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CAF8E56-0D31-804D-9F4F-DD615D5E8564}"/>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4050111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B54B13-E418-4E42-B170-1BC860212DA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B349CDA-C85B-4F42-B8C6-26E684EDA6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9E92AAF-FCE8-F84A-8EB9-CC618F3F7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AB83901-E98D-6B44-A440-F9809CD85A51}"/>
              </a:ext>
            </a:extLst>
          </p:cNvPr>
          <p:cNvSpPr>
            <a:spLocks noGrp="1"/>
          </p:cNvSpPr>
          <p:nvPr>
            <p:ph type="dt" sz="half" idx="10"/>
          </p:nvPr>
        </p:nvSpPr>
        <p:spPr/>
        <p:txBody>
          <a:bodyPr/>
          <a:lstStyle/>
          <a:p>
            <a:fld id="{760B14F5-1D21-F14F-B36B-BCA0A34A15FF}" type="datetimeFigureOut">
              <a:rPr lang="fr-FR" smtClean="0"/>
              <a:t>26/02/2026</a:t>
            </a:fld>
            <a:endParaRPr lang="fr-FR"/>
          </a:p>
        </p:txBody>
      </p:sp>
      <p:sp>
        <p:nvSpPr>
          <p:cNvPr id="6" name="Espace réservé du pied de page 5">
            <a:extLst>
              <a:ext uri="{FF2B5EF4-FFF2-40B4-BE49-F238E27FC236}">
                <a16:creationId xmlns:a16="http://schemas.microsoft.com/office/drawing/2014/main" id="{8AB5FCBB-5385-494D-A3C1-C59A68C9E95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24BFBC5-500C-E04C-A17A-AC6C64E82723}"/>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029208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3EDC94-6368-2D4E-8A75-930EFDF09CE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FEE47BB-5DBD-034C-84DA-C86FA33B908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FE7FE81-3F94-FB4B-AB88-842AE52DCBEE}"/>
              </a:ext>
            </a:extLst>
          </p:cNvPr>
          <p:cNvSpPr>
            <a:spLocks noGrp="1"/>
          </p:cNvSpPr>
          <p:nvPr>
            <p:ph type="dt" sz="half" idx="10"/>
          </p:nvPr>
        </p:nvSpPr>
        <p:spPr/>
        <p:txBody>
          <a:bodyPr/>
          <a:lstStyle/>
          <a:p>
            <a:fld id="{760B14F5-1D21-F14F-B36B-BCA0A34A15FF}"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B151EDF4-8F0D-4644-BC7F-8EDA683F62A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D779F0B-3D1B-234B-8E0E-0005BA6EEB77}"/>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992137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FD2D733-6537-F246-9DD6-47A2CFFE257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FED1EB9-F8C4-6F42-9293-8EFB0A55D05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078BEE2-EC2A-B14D-8087-8A8A25C4DC17}"/>
              </a:ext>
            </a:extLst>
          </p:cNvPr>
          <p:cNvSpPr>
            <a:spLocks noGrp="1"/>
          </p:cNvSpPr>
          <p:nvPr>
            <p:ph type="dt" sz="half" idx="10"/>
          </p:nvPr>
        </p:nvSpPr>
        <p:spPr/>
        <p:txBody>
          <a:bodyPr/>
          <a:lstStyle/>
          <a:p>
            <a:fld id="{760B14F5-1D21-F14F-B36B-BCA0A34A15FF}"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26C088C9-8381-E84F-AEB6-0CE68238AFD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FEFA170-D382-C048-933C-9BCF9266E4E1}"/>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1402432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1016B3E-7434-F444-85B1-81A3F66D75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6C2A833-B532-5441-8F6F-770D7BDE7E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9AD43F0-39EC-1047-86D5-82DFE14D54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B14F5-1D21-F14F-B36B-BCA0A34A15FF}"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D406F5D3-EF53-A447-B4AC-97397E1C33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8542739-B2AF-EA41-A1C0-C7A7135EE3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5FE8A8-8232-1F4D-846D-4EBDDCE93EEF}" type="slidenum">
              <a:rPr lang="fr-FR" smtClean="0"/>
              <a:t>‹N°›</a:t>
            </a:fld>
            <a:endParaRPr lang="fr-FR"/>
          </a:p>
        </p:txBody>
      </p:sp>
    </p:spTree>
    <p:extLst>
      <p:ext uri="{BB962C8B-B14F-4D97-AF65-F5344CB8AC3E}">
        <p14:creationId xmlns:p14="http://schemas.microsoft.com/office/powerpoint/2010/main" val="978103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1.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1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5.svg"/></Relationships>
</file>

<file path=ppt/slides/_rels/slide1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9.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43.sv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0.png"/><Relationship Id="rId1" Type="http://schemas.openxmlformats.org/officeDocument/2006/relationships/slideLayout" Target="../slideLayouts/slideLayout7.xml"/><Relationship Id="rId4" Type="http://schemas.openxmlformats.org/officeDocument/2006/relationships/image" Target="../media/image58.svg"/></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4" Type="http://schemas.openxmlformats.org/officeDocument/2006/relationships/image" Target="../media/image64.svg"/></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7.svg"/></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71.svg"/><Relationship Id="rId4" Type="http://schemas.openxmlformats.org/officeDocument/2006/relationships/image" Target="../media/image70.png"/></Relationships>
</file>

<file path=ppt/slides/_rels/slide42.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75.svg"/></Relationships>
</file>

<file path=ppt/slides/_rels/slide4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77.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80.png"/></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83.svg"/><Relationship Id="rId4" Type="http://schemas.openxmlformats.org/officeDocument/2006/relationships/image" Target="../media/image82.png"/></Relationships>
</file>

<file path=ppt/slides/_rels/slide4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85.svg"/></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00.png"/><Relationship Id="rId1" Type="http://schemas.openxmlformats.org/officeDocument/2006/relationships/slideLayout" Target="../slideLayouts/slideLayout7.xml"/><Relationship Id="rId4" Type="http://schemas.openxmlformats.org/officeDocument/2006/relationships/image" Target="../media/image93.sv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97.svg"/><Relationship Id="rId4" Type="http://schemas.openxmlformats.org/officeDocument/2006/relationships/image" Target="../media/image96.png"/></Relationships>
</file>

<file path=ppt/slides/_rels/slide6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97.svg"/><Relationship Id="rId4" Type="http://schemas.openxmlformats.org/officeDocument/2006/relationships/image" Target="../media/image96.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00.png"/><Relationship Id="rId1" Type="http://schemas.openxmlformats.org/officeDocument/2006/relationships/slideLayout" Target="../slideLayouts/slideLayout7.xml"/><Relationship Id="rId4" Type="http://schemas.openxmlformats.org/officeDocument/2006/relationships/image" Target="../media/image97.svg"/></Relationships>
</file>

<file path=ppt/slides/_rels/slide6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7.xml"/><Relationship Id="rId4" Type="http://schemas.openxmlformats.org/officeDocument/2006/relationships/image" Target="../media/image1030.png"/></Relationships>
</file>

<file path=ppt/slides/_rels/slide6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7.xml"/><Relationship Id="rId5" Type="http://schemas.openxmlformats.org/officeDocument/2006/relationships/image" Target="../media/image106.png"/><Relationship Id="rId4" Type="http://schemas.openxmlformats.org/officeDocument/2006/relationships/image" Target="../media/image1030.png"/></Relationships>
</file>

<file path=ppt/slides/_rels/slide6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4.png"/><Relationship Id="rId1" Type="http://schemas.openxmlformats.org/officeDocument/2006/relationships/slideLayout" Target="../slideLayouts/slideLayout7.xml"/><Relationship Id="rId5" Type="http://schemas.openxmlformats.org/officeDocument/2006/relationships/image" Target="../media/image108.png"/><Relationship Id="rId4" Type="http://schemas.openxmlformats.org/officeDocument/2006/relationships/image" Target="../media/image1030.png"/></Relationships>
</file>

<file path=ppt/slides/_rels/slide6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4.png"/><Relationship Id="rId1" Type="http://schemas.openxmlformats.org/officeDocument/2006/relationships/slideLayout" Target="../slideLayouts/slideLayout7.xml"/><Relationship Id="rId5" Type="http://schemas.openxmlformats.org/officeDocument/2006/relationships/image" Target="../media/image110.png"/><Relationship Id="rId4" Type="http://schemas.openxmlformats.org/officeDocument/2006/relationships/image" Target="../media/image1030.png"/></Relationships>
</file>

<file path=ppt/slides/_rels/slide7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04.png"/><Relationship Id="rId1" Type="http://schemas.openxmlformats.org/officeDocument/2006/relationships/slideLayout" Target="../slideLayouts/slideLayout7.xml"/><Relationship Id="rId5" Type="http://schemas.openxmlformats.org/officeDocument/2006/relationships/image" Target="../media/image110.png"/><Relationship Id="rId4" Type="http://schemas.openxmlformats.org/officeDocument/2006/relationships/image" Target="../media/image1030.png"/></Relationships>
</file>

<file path=ppt/slides/_rels/slide7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04.png"/><Relationship Id="rId1" Type="http://schemas.openxmlformats.org/officeDocument/2006/relationships/slideLayout" Target="../slideLayouts/slideLayout7.xml"/><Relationship Id="rId5" Type="http://schemas.openxmlformats.org/officeDocument/2006/relationships/image" Target="../media/image110.png"/><Relationship Id="rId4" Type="http://schemas.openxmlformats.org/officeDocument/2006/relationships/image" Target="../media/image113.png"/></Relationships>
</file>

<file path=ppt/slides/_rels/slide7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04.png"/><Relationship Id="rId1" Type="http://schemas.openxmlformats.org/officeDocument/2006/relationships/slideLayout" Target="../slideLayouts/slideLayout7.xml"/><Relationship Id="rId6" Type="http://schemas.openxmlformats.org/officeDocument/2006/relationships/image" Target="../media/image115.png"/><Relationship Id="rId5" Type="http://schemas.openxmlformats.org/officeDocument/2006/relationships/image" Target="../media/image110.png"/><Relationship Id="rId4" Type="http://schemas.openxmlformats.org/officeDocument/2006/relationships/image" Target="../media/image113.png"/></Relationships>
</file>

<file path=ppt/slides/_rels/slide73.xml.rels><?xml version="1.0" encoding="UTF-8" standalone="yes"?>
<Relationships xmlns="http://schemas.openxmlformats.org/package/2006/relationships"><Relationship Id="rId8" Type="http://schemas.openxmlformats.org/officeDocument/2006/relationships/image" Target="../media/image97.svg"/><Relationship Id="rId3" Type="http://schemas.openxmlformats.org/officeDocument/2006/relationships/image" Target="../media/image116.png"/><Relationship Id="rId7" Type="http://schemas.openxmlformats.org/officeDocument/2006/relationships/image" Target="../media/image96.png"/><Relationship Id="rId2" Type="http://schemas.openxmlformats.org/officeDocument/2006/relationships/image" Target="../media/image104.png"/><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117.png"/><Relationship Id="rId4" Type="http://schemas.openxmlformats.org/officeDocument/2006/relationships/image" Target="../media/image113.png"/></Relationships>
</file>

<file path=ppt/slides/_rels/slide74.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8.png"/><Relationship Id="rId7" Type="http://schemas.openxmlformats.org/officeDocument/2006/relationships/image" Target="../media/image113.png"/><Relationship Id="rId2" Type="http://schemas.openxmlformats.org/officeDocument/2006/relationships/image" Target="../media/image104.png"/><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97.svg"/><Relationship Id="rId4" Type="http://schemas.openxmlformats.org/officeDocument/2006/relationships/image" Target="../media/image96.png"/><Relationship Id="rId9" Type="http://schemas.openxmlformats.org/officeDocument/2006/relationships/image" Target="../media/image119.png"/></Relationships>
</file>

<file path=ppt/slides/_rels/slide75.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20.png"/><Relationship Id="rId7" Type="http://schemas.openxmlformats.org/officeDocument/2006/relationships/image" Target="../media/image113.png"/><Relationship Id="rId2" Type="http://schemas.openxmlformats.org/officeDocument/2006/relationships/image" Target="../media/image104.png"/><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97.svg"/><Relationship Id="rId4" Type="http://schemas.openxmlformats.org/officeDocument/2006/relationships/image" Target="../media/image96.png"/><Relationship Id="rId9" Type="http://schemas.openxmlformats.org/officeDocument/2006/relationships/image" Target="../media/image121.png"/></Relationships>
</file>

<file path=ppt/slides/_rels/slide76.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22.png"/><Relationship Id="rId7" Type="http://schemas.openxmlformats.org/officeDocument/2006/relationships/image" Target="../media/image113.png"/><Relationship Id="rId2" Type="http://schemas.openxmlformats.org/officeDocument/2006/relationships/image" Target="../media/image104.png"/><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97.svg"/><Relationship Id="rId4" Type="http://schemas.openxmlformats.org/officeDocument/2006/relationships/image" Target="../media/image96.png"/><Relationship Id="rId9" Type="http://schemas.openxmlformats.org/officeDocument/2006/relationships/image" Target="../media/image123.png"/></Relationships>
</file>

<file path=ppt/slides/_rels/slide77.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7.xml"/><Relationship Id="rId4" Type="http://schemas.openxmlformats.org/officeDocument/2006/relationships/image" Target="../media/image129.svg"/></Relationships>
</file>

<file path=ppt/slides/_rels/slide8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7.xml"/><Relationship Id="rId4" Type="http://schemas.openxmlformats.org/officeDocument/2006/relationships/image" Target="../media/image140.png"/></Relationships>
</file>

<file path=ppt/slides/_rels/slide9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7.xml"/><Relationship Id="rId4" Type="http://schemas.openxmlformats.org/officeDocument/2006/relationships/image" Target="../media/image143.svg"/></Relationships>
</file>

<file path=ppt/slides/_rels/slide92.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144.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41.svg"/></Relationships>
</file>

<file path=ppt/slides/_rels/slide9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147.svg"/></Relationships>
</file>

<file path=ppt/slides/_rels/slide95.xml.rels><?xml version="1.0" encoding="UTF-8" standalone="yes"?>
<Relationships xmlns="http://schemas.openxmlformats.org/package/2006/relationships"><Relationship Id="rId3" Type="http://schemas.openxmlformats.org/officeDocument/2006/relationships/image" Target="../media/image149.svg"/><Relationship Id="rId2" Type="http://schemas.openxmlformats.org/officeDocument/2006/relationships/image" Target="../media/image148.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151.svg"/></Relationships>
</file>

<file path=ppt/slides/_rels/slide97.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154.svg"/></Relationships>
</file>

<file path=ppt/slides/_rels/slide9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156.svg"/></Relationships>
</file>

<file path=ppt/slides/_rels/slide100.xml.rels><?xml version="1.0" encoding="UTF-8" standalone="yes"?>
<Relationships xmlns="http://schemas.openxmlformats.org/package/2006/relationships"><Relationship Id="rId3" Type="http://schemas.openxmlformats.org/officeDocument/2006/relationships/image" Target="../media/image158.svg"/><Relationship Id="rId2" Type="http://schemas.openxmlformats.org/officeDocument/2006/relationships/image" Target="../media/image157.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160.svg"/><Relationship Id="rId2" Type="http://schemas.openxmlformats.org/officeDocument/2006/relationships/image" Target="../media/image159.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162.svg"/></Relationships>
</file>

<file path=ppt/slides/_rels/slide103.xml.rels><?xml version="1.0" encoding="UTF-8" standalone="yes"?>
<Relationships xmlns="http://schemas.openxmlformats.org/package/2006/relationships"><Relationship Id="rId3" Type="http://schemas.openxmlformats.org/officeDocument/2006/relationships/image" Target="../media/image164.svg"/><Relationship Id="rId2" Type="http://schemas.openxmlformats.org/officeDocument/2006/relationships/image" Target="../media/image163.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166.png"/></Relationships>
</file>

<file path=ppt/slides/_rels/slide105.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170.svg"/></Relationships>
</file>

<file path=ppt/slides/_rels/slide110.xml.rels><?xml version="1.0" encoding="UTF-8" standalone="yes"?>
<Relationships xmlns="http://schemas.openxmlformats.org/package/2006/relationships"><Relationship Id="rId3" Type="http://schemas.openxmlformats.org/officeDocument/2006/relationships/image" Target="../media/image1670.png"/><Relationship Id="rId2" Type="http://schemas.openxmlformats.org/officeDocument/2006/relationships/notesSlide" Target="../notesSlides/notesSlide49.xml"/><Relationship Id="rId1" Type="http://schemas.openxmlformats.org/officeDocument/2006/relationships/slideLayout" Target="../slideLayouts/slideLayout7.xml"/><Relationship Id="rId5" Type="http://schemas.openxmlformats.org/officeDocument/2006/relationships/image" Target="../media/image172.svg"/><Relationship Id="rId4" Type="http://schemas.openxmlformats.org/officeDocument/2006/relationships/image" Target="../media/image171.png"/></Relationships>
</file>

<file path=ppt/slides/_rels/slide11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173.png"/></Relationships>
</file>

<file path=ppt/slides/_rels/slide112.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174.png"/></Relationships>
</file>

<file path=ppt/slides/_rels/slide113.xml.rels><?xml version="1.0" encoding="UTF-8" standalone="yes"?>
<Relationships xmlns="http://schemas.openxmlformats.org/package/2006/relationships"><Relationship Id="rId3" Type="http://schemas.openxmlformats.org/officeDocument/2006/relationships/image" Target="../media/image1740.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175.png"/></Relationships>
</file>

<file path=ppt/slides/_rels/slide114.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3.xml"/><Relationship Id="rId1" Type="http://schemas.openxmlformats.org/officeDocument/2006/relationships/slideLayout" Target="../slideLayouts/slideLayout7.xml"/><Relationship Id="rId5" Type="http://schemas.openxmlformats.org/officeDocument/2006/relationships/image" Target="../media/image178.svg"/><Relationship Id="rId4" Type="http://schemas.openxmlformats.org/officeDocument/2006/relationships/image" Target="../media/image177.png"/></Relationships>
</file>

<file path=ppt/slides/_rels/slide115.xml.rels><?xml version="1.0" encoding="UTF-8" standalone="yes"?>
<Relationships xmlns="http://schemas.openxmlformats.org/package/2006/relationships"><Relationship Id="rId3" Type="http://schemas.openxmlformats.org/officeDocument/2006/relationships/image" Target="../media/image1680.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1690.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1700.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1710.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180.png"/></Relationships>
</file>

<file path=ppt/slides/_rels/slide120.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182.png"/></Relationships>
</file>

<file path=ppt/slides/_rels/slide121.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184.png"/></Relationships>
</file>

<file path=ppt/slides/_rels/slide122.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60.xml"/><Relationship Id="rId1" Type="http://schemas.openxmlformats.org/officeDocument/2006/relationships/slideLayout" Target="../slideLayouts/slideLayout7.xml"/><Relationship Id="rId6" Type="http://schemas.openxmlformats.org/officeDocument/2006/relationships/image" Target="../media/image189.png"/><Relationship Id="rId5" Type="http://schemas.openxmlformats.org/officeDocument/2006/relationships/image" Target="../media/image188.png"/><Relationship Id="rId4" Type="http://schemas.openxmlformats.org/officeDocument/2006/relationships/image" Target="../media/image187.png"/></Relationships>
</file>

<file path=ppt/slides/_rels/slide12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192.svg"/></Relationships>
</file>

<file path=ppt/slides/_rels/slide126.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194.svg"/></Relationships>
</file>

<file path=ppt/slides/_rels/slide127.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64.xml"/><Relationship Id="rId1" Type="http://schemas.openxmlformats.org/officeDocument/2006/relationships/slideLayout" Target="../slideLayouts/slideLayout7.xml"/><Relationship Id="rId5" Type="http://schemas.openxmlformats.org/officeDocument/2006/relationships/image" Target="../media/image196.svg"/><Relationship Id="rId4" Type="http://schemas.openxmlformats.org/officeDocument/2006/relationships/image" Target="../media/image195.png"/></Relationships>
</file>

<file path=ppt/slides/_rels/slide128.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65.xml"/><Relationship Id="rId1" Type="http://schemas.openxmlformats.org/officeDocument/2006/relationships/slideLayout" Target="../slideLayouts/slideLayout7.xml"/><Relationship Id="rId5" Type="http://schemas.openxmlformats.org/officeDocument/2006/relationships/image" Target="../media/image199.svg"/><Relationship Id="rId4" Type="http://schemas.openxmlformats.org/officeDocument/2006/relationships/image" Target="../media/image198.png"/></Relationships>
</file>

<file path=ppt/slides/_rels/slide12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201.svg"/></Relationships>
</file>

<file path=ppt/slides/_rels/slide130.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67.xml"/><Relationship Id="rId1" Type="http://schemas.openxmlformats.org/officeDocument/2006/relationships/slideLayout" Target="../slideLayouts/slideLayout7.xml"/><Relationship Id="rId5" Type="http://schemas.openxmlformats.org/officeDocument/2006/relationships/image" Target="../media/image204.svg"/><Relationship Id="rId4" Type="http://schemas.openxmlformats.org/officeDocument/2006/relationships/image" Target="../media/image203.png"/></Relationships>
</file>

<file path=ppt/slides/_rels/slide131.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68.xml"/><Relationship Id="rId1" Type="http://schemas.openxmlformats.org/officeDocument/2006/relationships/slideLayout" Target="../slideLayouts/slideLayout7.xml"/><Relationship Id="rId5" Type="http://schemas.openxmlformats.org/officeDocument/2006/relationships/image" Target="../media/image207.svg"/><Relationship Id="rId4" Type="http://schemas.openxmlformats.org/officeDocument/2006/relationships/image" Target="../media/image206.png"/></Relationships>
</file>

<file path=ppt/slides/_rels/slide132.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71.xml"/><Relationship Id="rId1" Type="http://schemas.openxmlformats.org/officeDocument/2006/relationships/slideLayout" Target="../slideLayouts/slideLayout7.xml"/><Relationship Id="rId5" Type="http://schemas.openxmlformats.org/officeDocument/2006/relationships/image" Target="../media/image213.svg"/><Relationship Id="rId4" Type="http://schemas.openxmlformats.org/officeDocument/2006/relationships/image" Target="../media/image212.png"/></Relationships>
</file>

<file path=ppt/slides/_rels/slide136.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72.xml"/><Relationship Id="rId1" Type="http://schemas.openxmlformats.org/officeDocument/2006/relationships/slideLayout" Target="../slideLayouts/slideLayout7.xml"/><Relationship Id="rId5" Type="http://schemas.openxmlformats.org/officeDocument/2006/relationships/image" Target="../media/image216.svg"/><Relationship Id="rId4" Type="http://schemas.openxmlformats.org/officeDocument/2006/relationships/image" Target="../media/image215.png"/></Relationships>
</file>

<file path=ppt/slides/_rels/slide137.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73.xml"/><Relationship Id="rId1" Type="http://schemas.openxmlformats.org/officeDocument/2006/relationships/slideLayout" Target="../slideLayouts/slideLayout7.xml"/><Relationship Id="rId4" Type="http://schemas.openxmlformats.org/officeDocument/2006/relationships/image" Target="../media/image218.svg"/></Relationships>
</file>

<file path=ppt/slides/_rels/slide138.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74.xml"/><Relationship Id="rId1" Type="http://schemas.openxmlformats.org/officeDocument/2006/relationships/slideLayout" Target="../slideLayouts/slideLayout7.xml"/><Relationship Id="rId5" Type="http://schemas.openxmlformats.org/officeDocument/2006/relationships/image" Target="../media/image156.svg"/><Relationship Id="rId4" Type="http://schemas.openxmlformats.org/officeDocument/2006/relationships/image" Target="../media/image155.png"/></Relationships>
</file>

<file path=ppt/slides/_rels/slide1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37.svg"/></Relationships>
</file>

<file path=ppt/slides/_rels/slide140.xml.rels><?xml version="1.0" encoding="UTF-8" standalone="yes"?>
<Relationships xmlns="http://schemas.openxmlformats.org/package/2006/relationships"><Relationship Id="rId3" Type="http://schemas.openxmlformats.org/officeDocument/2006/relationships/image" Target="../media/image221.svg"/><Relationship Id="rId2" Type="http://schemas.openxmlformats.org/officeDocument/2006/relationships/image" Target="../media/image2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F8221A-BD6C-D743-8F79-B5CC237B7B3A}"/>
              </a:ext>
            </a:extLst>
          </p:cNvPr>
          <p:cNvSpPr>
            <a:spLocks noGrp="1"/>
          </p:cNvSpPr>
          <p:nvPr>
            <p:ph type="ctrTitle"/>
          </p:nvPr>
        </p:nvSpPr>
        <p:spPr/>
        <p:txBody>
          <a:bodyPr/>
          <a:lstStyle/>
          <a:p>
            <a:r>
              <a:rPr lang="fr-FR" dirty="0">
                <a:solidFill>
                  <a:schemeClr val="bg1"/>
                </a:solidFill>
              </a:rPr>
              <a:t>Algorithmes MinMax</a:t>
            </a:r>
            <a:br>
              <a:rPr lang="fr-FR" dirty="0">
                <a:solidFill>
                  <a:schemeClr val="bg1"/>
                </a:solidFill>
              </a:rPr>
            </a:br>
            <a:r>
              <a:rPr lang="fr-FR" dirty="0">
                <a:solidFill>
                  <a:schemeClr val="bg1"/>
                </a:solidFill>
              </a:rPr>
              <a:t>et MCTS</a:t>
            </a:r>
          </a:p>
        </p:txBody>
      </p:sp>
      <p:sp>
        <p:nvSpPr>
          <p:cNvPr id="6" name="Sous-titre 2">
            <a:extLst>
              <a:ext uri="{FF2B5EF4-FFF2-40B4-BE49-F238E27FC236}">
                <a16:creationId xmlns:a16="http://schemas.microsoft.com/office/drawing/2014/main" id="{76B8DA83-B860-924D-B9FE-FE02FD8A3CE7}"/>
              </a:ext>
            </a:extLst>
          </p:cNvPr>
          <p:cNvSpPr>
            <a:spLocks noGrp="1"/>
          </p:cNvSpPr>
          <p:nvPr>
            <p:ph type="subTitle" idx="1"/>
          </p:nvPr>
        </p:nvSpPr>
        <p:spPr>
          <a:xfrm>
            <a:off x="1524000" y="4225983"/>
            <a:ext cx="9144000" cy="1655762"/>
          </a:xfrm>
        </p:spPr>
        <p:txBody>
          <a:bodyPr/>
          <a:lstStyle/>
          <a:p>
            <a:r>
              <a:rPr lang="fr-FR" dirty="0">
                <a:solidFill>
                  <a:schemeClr val="bg1"/>
                </a:solidFill>
              </a:rPr>
              <a:t>Introduction à l’intelligence artificielle</a:t>
            </a:r>
          </a:p>
        </p:txBody>
      </p:sp>
      <p:pic>
        <p:nvPicPr>
          <p:cNvPr id="5" name="Image 4">
            <a:extLst>
              <a:ext uri="{FF2B5EF4-FFF2-40B4-BE49-F238E27FC236}">
                <a16:creationId xmlns:a16="http://schemas.microsoft.com/office/drawing/2014/main" id="{D5A1A31C-D020-0B43-A654-BC830BBC208E}"/>
              </a:ext>
            </a:extLst>
          </p:cNvPr>
          <p:cNvPicPr>
            <a:picLocks noChangeAspect="1"/>
          </p:cNvPicPr>
          <p:nvPr/>
        </p:nvPicPr>
        <p:blipFill>
          <a:blip r:embed="rId3"/>
          <a:stretch>
            <a:fillRect/>
          </a:stretch>
        </p:blipFill>
        <p:spPr>
          <a:xfrm>
            <a:off x="10753200" y="5454000"/>
            <a:ext cx="1080000" cy="1080000"/>
          </a:xfrm>
          <a:prstGeom prst="rect">
            <a:avLst/>
          </a:prstGeom>
        </p:spPr>
      </p:pic>
    </p:spTree>
    <p:extLst>
      <p:ext uri="{BB962C8B-B14F-4D97-AF65-F5344CB8AC3E}">
        <p14:creationId xmlns:p14="http://schemas.microsoft.com/office/powerpoint/2010/main" val="4086462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2554565"/>
            <a:ext cx="10515600" cy="28512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buAutoNum type="arabicPeriod"/>
            </a:pPr>
            <a:r>
              <a:rPr lang="fr-FR" sz="3600" dirty="0">
                <a:solidFill>
                  <a:schemeClr val="bg1"/>
                </a:solidFill>
              </a:rPr>
              <a:t>Contexte.</a:t>
            </a:r>
          </a:p>
          <a:p>
            <a:pPr marL="742950" indent="-742950">
              <a:buAutoNum type="arabicPeriod"/>
            </a:pPr>
            <a:r>
              <a:rPr lang="fr-FR" sz="3600" dirty="0">
                <a:solidFill>
                  <a:schemeClr val="bg1"/>
                </a:solidFill>
              </a:rPr>
              <a:t>Algorithme MinMax.</a:t>
            </a:r>
          </a:p>
          <a:p>
            <a:pPr marL="742950" indent="-742950">
              <a:buAutoNum type="arabicPeriod"/>
            </a:pPr>
            <a:r>
              <a:rPr lang="fr-FR" sz="3600" dirty="0">
                <a:solidFill>
                  <a:schemeClr val="bg1"/>
                </a:solidFill>
              </a:rPr>
              <a:t>Monte Carlo Tree Search.</a:t>
            </a:r>
          </a:p>
        </p:txBody>
      </p:sp>
      <p:sp>
        <p:nvSpPr>
          <p:cNvPr id="5" name="Titre 1">
            <a:extLst>
              <a:ext uri="{FF2B5EF4-FFF2-40B4-BE49-F238E27FC236}">
                <a16:creationId xmlns:a16="http://schemas.microsoft.com/office/drawing/2014/main" id="{E19DB8DF-56A9-C146-8CC5-1A72BBF66B41}"/>
              </a:ext>
            </a:extLst>
          </p:cNvPr>
          <p:cNvSpPr txBox="1">
            <a:spLocks/>
          </p:cNvSpPr>
          <p:nvPr/>
        </p:nvSpPr>
        <p:spPr>
          <a:xfrm>
            <a:off x="4994689" y="402196"/>
            <a:ext cx="2189922"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i="1" dirty="0">
                <a:solidFill>
                  <a:schemeClr val="bg1"/>
                </a:solidFill>
              </a:rPr>
              <a:t>Sommaire</a:t>
            </a:r>
          </a:p>
        </p:txBody>
      </p:sp>
      <p:pic>
        <p:nvPicPr>
          <p:cNvPr id="6" name="Graphique 5" descr="Menu avec un remplissage uni">
            <a:extLst>
              <a:ext uri="{FF2B5EF4-FFF2-40B4-BE49-F238E27FC236}">
                <a16:creationId xmlns:a16="http://schemas.microsoft.com/office/drawing/2014/main" id="{F3640D13-DDD0-8D47-9978-9A138749BA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271723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1709738"/>
            <a:ext cx="10515600" cy="2851200"/>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5400" dirty="0"/>
          </a:p>
          <a:p>
            <a:endParaRPr lang="fr-FR" sz="5400" dirty="0"/>
          </a:p>
          <a:p>
            <a:endParaRPr lang="fr-FR" sz="5400" dirty="0"/>
          </a:p>
          <a:p>
            <a:r>
              <a:rPr lang="fr-FR" sz="5400" dirty="0">
                <a:solidFill>
                  <a:schemeClr val="bg1"/>
                </a:solidFill>
              </a:rPr>
              <a:t>1. Contexte.</a:t>
            </a:r>
          </a:p>
        </p:txBody>
      </p:sp>
    </p:spTree>
    <p:extLst>
      <p:ext uri="{BB962C8B-B14F-4D97-AF65-F5344CB8AC3E}">
        <p14:creationId xmlns:p14="http://schemas.microsoft.com/office/powerpoint/2010/main" val="1118698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26689-8C7B-3CAC-12EB-B440C402566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833652E-F308-0F61-74E7-D158FFF08577}"/>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sp>
        <p:nvSpPr>
          <p:cNvPr id="3" name="ZoneTexte 2">
            <a:extLst>
              <a:ext uri="{FF2B5EF4-FFF2-40B4-BE49-F238E27FC236}">
                <a16:creationId xmlns:a16="http://schemas.microsoft.com/office/drawing/2014/main" id="{F4ED7CE1-F17F-A9E1-F764-5914DCB5AA4A}"/>
              </a:ext>
            </a:extLst>
          </p:cNvPr>
          <p:cNvSpPr txBox="1"/>
          <p:nvPr/>
        </p:nvSpPr>
        <p:spPr>
          <a:xfrm>
            <a:off x="844826" y="1431230"/>
            <a:ext cx="10525539" cy="4154984"/>
          </a:xfrm>
          <a:prstGeom prst="rect">
            <a:avLst/>
          </a:prstGeom>
          <a:noFill/>
        </p:spPr>
        <p:txBody>
          <a:bodyPr wrap="square" rtlCol="0">
            <a:spAutoFit/>
          </a:bodyPr>
          <a:lstStyle/>
          <a:p>
            <a:r>
              <a:rPr lang="fr-FR" sz="2400" b="1" dirty="0"/>
              <a:t>Éléments communs à la plupart des jeux (mathématiques)</a:t>
            </a:r>
          </a:p>
          <a:p>
            <a:endParaRPr lang="fr-FR" sz="2400" dirty="0"/>
          </a:p>
          <a:p>
            <a:pPr marL="342900" indent="-342900">
              <a:buFont typeface="Arial" panose="020B0604020202020204" pitchFamily="34" charset="0"/>
              <a:buChar char="•"/>
            </a:pPr>
            <a:r>
              <a:rPr lang="fr-FR" sz="2400" dirty="0"/>
              <a:t>Un ensemble de </a:t>
            </a:r>
            <a:r>
              <a:rPr lang="fr-FR" sz="2400" b="1" dirty="0"/>
              <a:t>positions</a:t>
            </a:r>
            <a:r>
              <a:rPr lang="fr-FR" sz="2400" dirty="0"/>
              <a:t> (</a:t>
            </a:r>
            <a:r>
              <a:rPr lang="fr-FR" sz="2400" b="1" dirty="0"/>
              <a:t>états</a:t>
            </a:r>
            <a:r>
              <a:rPr lang="fr-FR" sz="2400" dirty="0"/>
              <a:t>) possibles, généralement fini.</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Un ensemble de joueurs, la plupart du temps deux.</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Les joueurs choisissent leurs </a:t>
            </a:r>
            <a:r>
              <a:rPr lang="fr-FR" sz="2400" b="1" dirty="0"/>
              <a:t>coups</a:t>
            </a:r>
            <a:r>
              <a:rPr lang="fr-FR" sz="2400" dirty="0"/>
              <a:t> (</a:t>
            </a:r>
            <a:r>
              <a:rPr lang="fr-FR" sz="2400" b="1" dirty="0"/>
              <a:t>actions</a:t>
            </a:r>
            <a:r>
              <a:rPr lang="fr-FR" sz="2400" dirty="0"/>
              <a:t>) en fonction de la position courante, ce qui modifie cette dernière.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Des </a:t>
            </a:r>
            <a:r>
              <a:rPr lang="fr-FR" sz="2400" b="1" dirty="0"/>
              <a:t>gains</a:t>
            </a:r>
            <a:r>
              <a:rPr lang="fr-FR" sz="2400" dirty="0"/>
              <a:t> sont attribués aux joueurs, soit tout au long de la partie, soit uniquement à la fin.</a:t>
            </a:r>
          </a:p>
        </p:txBody>
      </p:sp>
    </p:spTree>
    <p:extLst>
      <p:ext uri="{BB962C8B-B14F-4D97-AF65-F5344CB8AC3E}">
        <p14:creationId xmlns:p14="http://schemas.microsoft.com/office/powerpoint/2010/main" val="3894956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524315"/>
          </a:xfrm>
          <a:prstGeom prst="rect">
            <a:avLst/>
          </a:prstGeom>
          <a:noFill/>
        </p:spPr>
        <p:txBody>
          <a:bodyPr wrap="square" rtlCol="0">
            <a:spAutoFit/>
          </a:bodyPr>
          <a:lstStyle/>
          <a:p>
            <a:r>
              <a:rPr lang="fr-FR" sz="2400" b="1" dirty="0"/>
              <a:t>Objectif</a:t>
            </a:r>
          </a:p>
          <a:p>
            <a:endParaRPr lang="fr-FR" sz="2400" dirty="0"/>
          </a:p>
          <a:p>
            <a:pPr marL="342900" indent="-342900">
              <a:buFont typeface="Arial" panose="020B0604020202020204" pitchFamily="34" charset="0"/>
              <a:buChar char="•"/>
            </a:pPr>
            <a:r>
              <a:rPr lang="fr-FR" sz="2400" dirty="0"/>
              <a:t>Proposer une </a:t>
            </a:r>
            <a:r>
              <a:rPr lang="fr-FR" sz="2400" b="1" dirty="0"/>
              <a:t>stratégie optimale </a:t>
            </a:r>
            <a:r>
              <a:rPr lang="fr-FR" sz="2400" dirty="0"/>
              <a:t>pour des jeux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Déterministes.</a:t>
            </a:r>
          </a:p>
          <a:p>
            <a:pPr marL="800100" lvl="1" indent="-342900">
              <a:buFont typeface="Arial" panose="020B0604020202020204" pitchFamily="34" charset="0"/>
              <a:buChar char="•"/>
            </a:pPr>
            <a:r>
              <a:rPr lang="fr-FR" sz="2400" dirty="0"/>
              <a:t>À deux joueurs.</a:t>
            </a:r>
          </a:p>
          <a:p>
            <a:pPr marL="800100" lvl="1" indent="-342900">
              <a:buFont typeface="Arial" panose="020B0604020202020204" pitchFamily="34" charset="0"/>
              <a:buChar char="•"/>
            </a:pPr>
            <a:r>
              <a:rPr lang="fr-FR" sz="2400" dirty="0"/>
              <a:t>À coups alternés.</a:t>
            </a:r>
          </a:p>
          <a:p>
            <a:pPr marL="800100" lvl="1" indent="-342900">
              <a:buFont typeface="Arial" panose="020B0604020202020204" pitchFamily="34" charset="0"/>
              <a:buChar char="•"/>
            </a:pPr>
            <a:r>
              <a:rPr lang="fr-FR" sz="2400" dirty="0"/>
              <a:t>À information complète.</a:t>
            </a:r>
          </a:p>
          <a:p>
            <a:pPr marL="800100" lvl="1" indent="-342900">
              <a:buFont typeface="Arial" panose="020B0604020202020204" pitchFamily="34" charset="0"/>
              <a:buChar char="•"/>
            </a:pPr>
            <a:r>
              <a:rPr lang="fr-FR" sz="2400" dirty="0"/>
              <a:t>À somme nulle.</a:t>
            </a:r>
          </a:p>
          <a:p>
            <a:pPr marL="800100" lvl="1"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Cette stratégie optimale sera mise au point en se plaçant du point de vue </a:t>
            </a:r>
            <a:br>
              <a:rPr lang="fr-FR" sz="2400" dirty="0"/>
            </a:br>
            <a:r>
              <a:rPr lang="fr-FR" sz="2400" dirty="0"/>
              <a:t>du </a:t>
            </a:r>
            <a:r>
              <a:rPr lang="fr-FR" sz="2400" b="1" dirty="0"/>
              <a:t>premier joueur</a:t>
            </a:r>
            <a:r>
              <a:rPr lang="fr-FR" sz="2400" dirty="0"/>
              <a:t>.</a:t>
            </a:r>
          </a:p>
        </p:txBody>
      </p:sp>
      <p:pic>
        <p:nvPicPr>
          <p:cNvPr id="5" name="Graphique 4" descr="Cible avec un remplissage uni">
            <a:extLst>
              <a:ext uri="{FF2B5EF4-FFF2-40B4-BE49-F238E27FC236}">
                <a16:creationId xmlns:a16="http://schemas.microsoft.com/office/drawing/2014/main" id="{3AEA90D9-90B9-E875-262B-E666B7C42B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58587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A584B-D013-B0C2-F07E-C61AD206EB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CCA1053-15B7-E6ED-72D0-8DAE957A4BA9}"/>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7B838F4D-583B-97D7-864B-B82C6945EB53}"/>
                  </a:ext>
                </a:extLst>
              </p:cNvPr>
              <p:cNvSpPr txBox="1"/>
              <p:nvPr/>
            </p:nvSpPr>
            <p:spPr>
              <a:xfrm>
                <a:off x="844826" y="1431230"/>
                <a:ext cx="10525539" cy="3416320"/>
              </a:xfrm>
              <a:prstGeom prst="rect">
                <a:avLst/>
              </a:prstGeom>
              <a:noFill/>
            </p:spPr>
            <p:txBody>
              <a:bodyPr wrap="square" rtlCol="0">
                <a:spAutoFit/>
              </a:bodyPr>
              <a:lstStyle/>
              <a:p>
                <a:r>
                  <a:rPr lang="fr-FR" sz="2400" b="1" dirty="0"/>
                  <a:t>Jeux déterministes</a:t>
                </a:r>
              </a:p>
              <a:p>
                <a:endParaRPr lang="fr-FR" sz="2400" dirty="0"/>
              </a:p>
              <a:p>
                <a:pPr marL="342900" indent="-342900">
                  <a:buFont typeface="Arial" panose="020B0604020202020204" pitchFamily="34" charset="0"/>
                  <a:buChar char="•"/>
                </a:pPr>
                <a:r>
                  <a:rPr lang="fr-FR" sz="2400" dirty="0"/>
                  <a:t>Ce sont des jeux dans lesquels le hasard n’intervient pas, que ça soit dans le choix des coups, dans leurs résultats, dans les changements de positions ou même dans le comportement de l’adversaire.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Par opposition aux jeux stochastiques qui contiennent une part d’aléatoire, comme le poker, le backgammon, le Monopoly, </a:t>
                </a:r>
                <a14:m>
                  <m:oMath xmlns:m="http://schemas.openxmlformats.org/officeDocument/2006/math">
                    <m:r>
                      <a:rPr lang="fr-FR" sz="2400" b="0" i="1" smtClean="0">
                        <a:latin typeface="Cambria Math" panose="02040503050406030204" pitchFamily="18" charset="0"/>
                      </a:rPr>
                      <m:t>2048</m:t>
                    </m:r>
                  </m:oMath>
                </a14:m>
                <a:r>
                  <a:rPr lang="fr-FR" sz="2400" dirty="0"/>
                  <a:t>, etc.</a:t>
                </a:r>
              </a:p>
            </p:txBody>
          </p:sp>
        </mc:Choice>
        <mc:Fallback xmlns="">
          <p:sp>
            <p:nvSpPr>
              <p:cNvPr id="3" name="ZoneTexte 2">
                <a:extLst>
                  <a:ext uri="{FF2B5EF4-FFF2-40B4-BE49-F238E27FC236}">
                    <a16:creationId xmlns:a16="http://schemas.microsoft.com/office/drawing/2014/main" id="{7B838F4D-583B-97D7-864B-B82C6945EB53}"/>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2"/>
                <a:stretch>
                  <a:fillRect l="-843" t="-1481" b="-3333"/>
                </a:stretch>
              </a:blipFill>
            </p:spPr>
            <p:txBody>
              <a:bodyPr/>
              <a:lstStyle/>
              <a:p>
                <a:r>
                  <a:rPr lang="fr-FR">
                    <a:noFill/>
                  </a:rPr>
                  <a:t> </a:t>
                </a:r>
              </a:p>
            </p:txBody>
          </p:sp>
        </mc:Fallback>
      </mc:AlternateContent>
      <p:pic>
        <p:nvPicPr>
          <p:cNvPr id="5" name="Graphique 4" descr="Dé avec un remplissage uni">
            <a:extLst>
              <a:ext uri="{FF2B5EF4-FFF2-40B4-BE49-F238E27FC236}">
                <a16:creationId xmlns:a16="http://schemas.microsoft.com/office/drawing/2014/main" id="{A8DE15A7-94B1-8E51-4D2D-98D61542E0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681620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7F004-5CFD-620F-5B06-9A9B50E5CC4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6A447B-1BF7-06B7-FAF7-2AF8CAA3D56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sp>
        <p:nvSpPr>
          <p:cNvPr id="3" name="ZoneTexte 2">
            <a:extLst>
              <a:ext uri="{FF2B5EF4-FFF2-40B4-BE49-F238E27FC236}">
                <a16:creationId xmlns:a16="http://schemas.microsoft.com/office/drawing/2014/main" id="{1D3310DA-E2BA-A04D-AAB9-B05DB1452E71}"/>
              </a:ext>
            </a:extLst>
          </p:cNvPr>
          <p:cNvSpPr txBox="1"/>
          <p:nvPr/>
        </p:nvSpPr>
        <p:spPr>
          <a:xfrm>
            <a:off x="844826" y="1431230"/>
            <a:ext cx="10525539" cy="2677656"/>
          </a:xfrm>
          <a:prstGeom prst="rect">
            <a:avLst/>
          </a:prstGeom>
          <a:noFill/>
        </p:spPr>
        <p:txBody>
          <a:bodyPr wrap="square" rtlCol="0">
            <a:spAutoFit/>
          </a:bodyPr>
          <a:lstStyle/>
          <a:p>
            <a:r>
              <a:rPr lang="fr-FR" sz="2400" b="1" dirty="0"/>
              <a:t>Jeux à coups alternés</a:t>
            </a:r>
          </a:p>
          <a:p>
            <a:endParaRPr lang="fr-FR" sz="2400" dirty="0"/>
          </a:p>
          <a:p>
            <a:pPr marL="342900" indent="-342900">
              <a:buFont typeface="Arial" panose="020B0604020202020204" pitchFamily="34" charset="0"/>
              <a:buChar char="•"/>
            </a:pPr>
            <a:r>
              <a:rPr lang="fr-FR" sz="2400" dirty="0"/>
              <a:t>Ce sont des jeux lors desquels les joueurs jouent chacun leur tour.</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Par opposition aux jeux où les joueurs jouent simultanément, comme pierre-feuille-ciseaux, le dilemme du prisonnier ou certains jeux vidéo.</a:t>
            </a:r>
          </a:p>
        </p:txBody>
      </p:sp>
      <p:pic>
        <p:nvPicPr>
          <p:cNvPr id="5" name="Graphique 4" descr="Manette de jeu avec un remplissage uni">
            <a:extLst>
              <a:ext uri="{FF2B5EF4-FFF2-40B4-BE49-F238E27FC236}">
                <a16:creationId xmlns:a16="http://schemas.microsoft.com/office/drawing/2014/main" id="{57438CED-87E4-9409-286B-1189C2661AB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021533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8B431-2412-9C5E-D893-2BDAE6C879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721902E-6EB4-9A1F-074A-80305E9D5318}"/>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sp>
        <p:nvSpPr>
          <p:cNvPr id="3" name="ZoneTexte 2">
            <a:extLst>
              <a:ext uri="{FF2B5EF4-FFF2-40B4-BE49-F238E27FC236}">
                <a16:creationId xmlns:a16="http://schemas.microsoft.com/office/drawing/2014/main" id="{3657DF27-CC25-A811-40D5-773ECE7669F2}"/>
              </a:ext>
            </a:extLst>
          </p:cNvPr>
          <p:cNvSpPr txBox="1"/>
          <p:nvPr/>
        </p:nvSpPr>
        <p:spPr>
          <a:xfrm>
            <a:off x="844826" y="1431230"/>
            <a:ext cx="10525539" cy="4524315"/>
          </a:xfrm>
          <a:prstGeom prst="rect">
            <a:avLst/>
          </a:prstGeom>
          <a:noFill/>
        </p:spPr>
        <p:txBody>
          <a:bodyPr wrap="square" rtlCol="0">
            <a:spAutoFit/>
          </a:bodyPr>
          <a:lstStyle/>
          <a:p>
            <a:r>
              <a:rPr lang="fr-FR" sz="2400" b="1" dirty="0"/>
              <a:t>Jeux à information complète</a:t>
            </a:r>
          </a:p>
          <a:p>
            <a:endParaRPr lang="fr-FR" sz="2400" dirty="0"/>
          </a:p>
          <a:p>
            <a:pPr marL="342900" indent="-342900">
              <a:buFont typeface="Arial" panose="020B0604020202020204" pitchFamily="34" charset="0"/>
              <a:buChar char="•"/>
            </a:pPr>
            <a:r>
              <a:rPr lang="fr-FR" sz="2400" dirty="0"/>
              <a:t>Ce sont des jeux pour lesquels chaque joueur possède toutes les informations nécessaires à sa prise de décision lorsque c’est à lui de jouer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Ses coups possibles.</a:t>
            </a:r>
          </a:p>
          <a:p>
            <a:pPr marL="800100" lvl="1" indent="-342900">
              <a:buFont typeface="Arial" panose="020B0604020202020204" pitchFamily="34" charset="0"/>
              <a:buChar char="•"/>
            </a:pPr>
            <a:r>
              <a:rPr lang="fr-FR" sz="2400" dirty="0"/>
              <a:t>Les coups possibles de son adversaire en réponse à son propre coup.</a:t>
            </a:r>
          </a:p>
          <a:p>
            <a:pPr marL="800100" lvl="1" indent="-342900">
              <a:buFont typeface="Arial" panose="020B0604020202020204" pitchFamily="34" charset="0"/>
              <a:buChar char="•"/>
            </a:pPr>
            <a:r>
              <a:rPr lang="fr-FR" sz="2400" dirty="0"/>
              <a:t>Les gains induits par les coups.</a:t>
            </a:r>
          </a:p>
          <a:p>
            <a:pPr marL="800100" lvl="1" indent="-342900">
              <a:buFont typeface="Arial" panose="020B0604020202020204" pitchFamily="34" charset="0"/>
              <a:buChar char="•"/>
            </a:pPr>
            <a:r>
              <a:rPr lang="fr-FR" sz="2400" dirty="0"/>
              <a:t>L’historique des coups joués par les joueurs jusqu’à présent.</a:t>
            </a:r>
          </a:p>
          <a:p>
            <a:pPr marL="800100" lvl="1"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Si l’un des éléments précédents est inconnu, on dit que le jeu est à information incomplète. C’est le cas par exemple du Poker ou du Scrabble.</a:t>
            </a:r>
          </a:p>
        </p:txBody>
      </p:sp>
    </p:spTree>
    <p:extLst>
      <p:ext uri="{BB962C8B-B14F-4D97-AF65-F5344CB8AC3E}">
        <p14:creationId xmlns:p14="http://schemas.microsoft.com/office/powerpoint/2010/main" val="3045976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8407-9561-D6BE-9C0B-DB503E76BA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0F2EDC4-FD79-FB6C-780E-49D8BBEE69DA}"/>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sp>
        <p:nvSpPr>
          <p:cNvPr id="3" name="ZoneTexte 2">
            <a:extLst>
              <a:ext uri="{FF2B5EF4-FFF2-40B4-BE49-F238E27FC236}">
                <a16:creationId xmlns:a16="http://schemas.microsoft.com/office/drawing/2014/main" id="{51EC7EC3-9F65-FC65-6846-FAA6A3DEF660}"/>
              </a:ext>
            </a:extLst>
          </p:cNvPr>
          <p:cNvSpPr txBox="1"/>
          <p:nvPr/>
        </p:nvSpPr>
        <p:spPr>
          <a:xfrm>
            <a:off x="844826" y="1431230"/>
            <a:ext cx="10525539" cy="3785652"/>
          </a:xfrm>
          <a:prstGeom prst="rect">
            <a:avLst/>
          </a:prstGeom>
          <a:noFill/>
        </p:spPr>
        <p:txBody>
          <a:bodyPr wrap="square" rtlCol="0">
            <a:spAutoFit/>
          </a:bodyPr>
          <a:lstStyle/>
          <a:p>
            <a:r>
              <a:rPr lang="fr-FR" sz="2400" b="1" dirty="0"/>
              <a:t>Jeux à somme nulle</a:t>
            </a:r>
          </a:p>
          <a:p>
            <a:endParaRPr lang="fr-FR" sz="2400" dirty="0"/>
          </a:p>
          <a:p>
            <a:pPr marL="342900" indent="-342900">
              <a:buFont typeface="Arial" panose="020B0604020202020204" pitchFamily="34" charset="0"/>
              <a:buChar char="•"/>
            </a:pPr>
            <a:r>
              <a:rPr lang="fr-FR" sz="2400" dirty="0"/>
              <a:t>Ce sont des jeux pour lesquels les gains d’un joueur sont opposés à ceux de l’autre joueur.</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Les deux joueurs ont donc des objectifs contraires et les seules issues d’une partie sont victoire, défaite ou match nul.</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Les jeux à somme non nulle sont par exemple les jeux coopératifs ou le dilemme du prisonnier.</a:t>
            </a:r>
          </a:p>
        </p:txBody>
      </p:sp>
      <p:pic>
        <p:nvPicPr>
          <p:cNvPr id="5" name="Graphique 4" descr="Vivats avec un remplissage uni">
            <a:extLst>
              <a:ext uri="{FF2B5EF4-FFF2-40B4-BE49-F238E27FC236}">
                <a16:creationId xmlns:a16="http://schemas.microsoft.com/office/drawing/2014/main" id="{9ACA1272-07D4-5838-8800-6424F1DC93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271796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73820-57FB-7457-B321-9651CBF281D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FFB80D-FB52-5C45-C517-953C86777817}"/>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sp>
        <p:nvSpPr>
          <p:cNvPr id="3" name="ZoneTexte 2">
            <a:extLst>
              <a:ext uri="{FF2B5EF4-FFF2-40B4-BE49-F238E27FC236}">
                <a16:creationId xmlns:a16="http://schemas.microsoft.com/office/drawing/2014/main" id="{B1A4C89E-6985-6ECC-2BE7-06BAD013320F}"/>
              </a:ext>
            </a:extLst>
          </p:cNvPr>
          <p:cNvSpPr txBox="1"/>
          <p:nvPr/>
        </p:nvSpPr>
        <p:spPr>
          <a:xfrm>
            <a:off x="844826" y="1431230"/>
            <a:ext cx="10525539" cy="461665"/>
          </a:xfrm>
          <a:prstGeom prst="rect">
            <a:avLst/>
          </a:prstGeom>
          <a:noFill/>
        </p:spPr>
        <p:txBody>
          <a:bodyPr wrap="square" rtlCol="0">
            <a:spAutoFit/>
          </a:bodyPr>
          <a:lstStyle/>
          <a:p>
            <a:r>
              <a:rPr lang="fr-FR" sz="2400" b="1" dirty="0"/>
              <a:t>Exemples de jeux concernés</a:t>
            </a:r>
          </a:p>
        </p:txBody>
      </p:sp>
      <p:pic>
        <p:nvPicPr>
          <p:cNvPr id="5" name="Image 4" descr="Une image contenant pièce de jeu d’échecs, Jeux et sports d’intérieur, échecs, jeu de plateau&#10;&#10;Le contenu généré par l’IA peut être incorrect.">
            <a:extLst>
              <a:ext uri="{FF2B5EF4-FFF2-40B4-BE49-F238E27FC236}">
                <a16:creationId xmlns:a16="http://schemas.microsoft.com/office/drawing/2014/main" id="{5337FACF-F2FD-099C-1C93-F8E7675F0C29}"/>
              </a:ext>
            </a:extLst>
          </p:cNvPr>
          <p:cNvPicPr>
            <a:picLocks noChangeAspect="1"/>
          </p:cNvPicPr>
          <p:nvPr/>
        </p:nvPicPr>
        <p:blipFill>
          <a:blip r:embed="rId3"/>
          <a:stretch>
            <a:fillRect/>
          </a:stretch>
        </p:blipFill>
        <p:spPr>
          <a:xfrm>
            <a:off x="1051605" y="2873829"/>
            <a:ext cx="4320000" cy="2871000"/>
          </a:xfrm>
          <a:prstGeom prst="rect">
            <a:avLst/>
          </a:prstGeom>
        </p:spPr>
      </p:pic>
      <p:pic>
        <p:nvPicPr>
          <p:cNvPr id="7" name="Image 6" descr="Une image contenant intérieur, Jeux et sports d’intérieur, jeu de plateau, Jeu de table&#10;&#10;Le contenu généré par l’IA peut être incorrect.">
            <a:extLst>
              <a:ext uri="{FF2B5EF4-FFF2-40B4-BE49-F238E27FC236}">
                <a16:creationId xmlns:a16="http://schemas.microsoft.com/office/drawing/2014/main" id="{067953B0-6E04-744A-8330-88FDA163DF3F}"/>
              </a:ext>
            </a:extLst>
          </p:cNvPr>
          <p:cNvPicPr>
            <a:picLocks noChangeAspect="1"/>
          </p:cNvPicPr>
          <p:nvPr/>
        </p:nvPicPr>
        <p:blipFill>
          <a:blip r:embed="rId4"/>
          <a:stretch>
            <a:fillRect/>
          </a:stretch>
        </p:blipFill>
        <p:spPr>
          <a:xfrm>
            <a:off x="6820395" y="2689329"/>
            <a:ext cx="4320000" cy="3240000"/>
          </a:xfrm>
          <a:prstGeom prst="rect">
            <a:avLst/>
          </a:prstGeom>
        </p:spPr>
      </p:pic>
    </p:spTree>
    <p:extLst>
      <p:ext uri="{BB962C8B-B14F-4D97-AF65-F5344CB8AC3E}">
        <p14:creationId xmlns:p14="http://schemas.microsoft.com/office/powerpoint/2010/main" val="4170248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4E025-7609-345E-C82D-4732EC8F2BF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0E22C7-B933-B9D8-F2FB-267CCE8E5B5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sp>
        <p:nvSpPr>
          <p:cNvPr id="3" name="ZoneTexte 2">
            <a:extLst>
              <a:ext uri="{FF2B5EF4-FFF2-40B4-BE49-F238E27FC236}">
                <a16:creationId xmlns:a16="http://schemas.microsoft.com/office/drawing/2014/main" id="{476DA144-8E64-C9CF-0D47-D1361F507B49}"/>
              </a:ext>
            </a:extLst>
          </p:cNvPr>
          <p:cNvSpPr txBox="1"/>
          <p:nvPr/>
        </p:nvSpPr>
        <p:spPr>
          <a:xfrm>
            <a:off x="844826" y="1431230"/>
            <a:ext cx="10525539" cy="461665"/>
          </a:xfrm>
          <a:prstGeom prst="rect">
            <a:avLst/>
          </a:prstGeom>
          <a:noFill/>
        </p:spPr>
        <p:txBody>
          <a:bodyPr wrap="square" rtlCol="0">
            <a:spAutoFit/>
          </a:bodyPr>
          <a:lstStyle/>
          <a:p>
            <a:r>
              <a:rPr lang="fr-FR" sz="2400" b="1" dirty="0"/>
              <a:t>Exemples de jeux concernés (suite)</a:t>
            </a:r>
          </a:p>
        </p:txBody>
      </p:sp>
      <p:pic>
        <p:nvPicPr>
          <p:cNvPr id="5" name="Image 4" descr="Une image contenant intérieur, sol, en bois, bois&#10;&#10;Le contenu généré par l’IA peut être incorrect.">
            <a:extLst>
              <a:ext uri="{FF2B5EF4-FFF2-40B4-BE49-F238E27FC236}">
                <a16:creationId xmlns:a16="http://schemas.microsoft.com/office/drawing/2014/main" id="{7B8FFAED-3ACB-29AB-52D9-434FED82318D}"/>
              </a:ext>
            </a:extLst>
          </p:cNvPr>
          <p:cNvPicPr>
            <a:picLocks noChangeAspect="1"/>
          </p:cNvPicPr>
          <p:nvPr/>
        </p:nvPicPr>
        <p:blipFill>
          <a:blip r:embed="rId3"/>
          <a:stretch>
            <a:fillRect/>
          </a:stretch>
        </p:blipFill>
        <p:spPr>
          <a:xfrm>
            <a:off x="997527" y="2752848"/>
            <a:ext cx="4320000" cy="2389500"/>
          </a:xfrm>
          <a:prstGeom prst="rect">
            <a:avLst/>
          </a:prstGeom>
        </p:spPr>
      </p:pic>
      <p:pic>
        <p:nvPicPr>
          <p:cNvPr id="6" name="Image 5" descr="Une image contenant intérieur, table, vert, sol&#10;&#10;Le contenu généré par l’IA peut être incorrect.">
            <a:extLst>
              <a:ext uri="{FF2B5EF4-FFF2-40B4-BE49-F238E27FC236}">
                <a16:creationId xmlns:a16="http://schemas.microsoft.com/office/drawing/2014/main" id="{E0FB49A5-011C-CB2F-17CB-6A352BE4C268}"/>
              </a:ext>
            </a:extLst>
          </p:cNvPr>
          <p:cNvPicPr>
            <a:picLocks noChangeAspect="1"/>
          </p:cNvPicPr>
          <p:nvPr/>
        </p:nvPicPr>
        <p:blipFill>
          <a:blip r:embed="rId4"/>
          <a:stretch>
            <a:fillRect/>
          </a:stretch>
        </p:blipFill>
        <p:spPr>
          <a:xfrm>
            <a:off x="6874473" y="2509848"/>
            <a:ext cx="4320000" cy="2875500"/>
          </a:xfrm>
          <a:prstGeom prst="rect">
            <a:avLst/>
          </a:prstGeom>
        </p:spPr>
      </p:pic>
    </p:spTree>
    <p:extLst>
      <p:ext uri="{BB962C8B-B14F-4D97-AF65-F5344CB8AC3E}">
        <p14:creationId xmlns:p14="http://schemas.microsoft.com/office/powerpoint/2010/main" val="3964202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1D969-42D6-6F4C-DEB4-930CD60F211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D0CC1D-1014-0FD9-A209-68BD4F522A2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706CE2F5-A872-C5FB-C930-9F92CE5B79CF}"/>
                  </a:ext>
                </a:extLst>
              </p:cNvPr>
              <p:cNvSpPr txBox="1"/>
              <p:nvPr/>
            </p:nvSpPr>
            <p:spPr>
              <a:xfrm>
                <a:off x="844826" y="1431230"/>
                <a:ext cx="10525539" cy="3046988"/>
              </a:xfrm>
              <a:prstGeom prst="rect">
                <a:avLst/>
              </a:prstGeom>
              <a:noFill/>
            </p:spPr>
            <p:txBody>
              <a:bodyPr wrap="square" rtlCol="0">
                <a:spAutoFit/>
              </a:bodyPr>
              <a:lstStyle/>
              <a:p>
                <a:r>
                  <a:rPr lang="fr-FR" sz="2400" b="1" dirty="0"/>
                  <a:t>Graphe associé à un jeu</a:t>
                </a:r>
              </a:p>
              <a:p>
                <a:endParaRPr lang="fr-FR" sz="2400" dirty="0"/>
              </a:p>
              <a:p>
                <a:pPr marL="342900" indent="-342900">
                  <a:buFont typeface="Arial" panose="020B0604020202020204" pitchFamily="34" charset="0"/>
                  <a:buChar char="•"/>
                </a:pPr>
                <a:r>
                  <a:rPr lang="fr-FR" sz="2400" dirty="0"/>
                  <a:t>On peut construire un </a:t>
                </a:r>
                <a:r>
                  <a:rPr lang="fr-FR" sz="2400" b="1" dirty="0"/>
                  <a:t>graphe orienté </a:t>
                </a:r>
                <a:r>
                  <a:rPr lang="fr-FR" sz="2400" dirty="0"/>
                  <a:t>afin de modéliser un jeu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b="1" dirty="0"/>
                  <a:t>Sommets</a:t>
                </a:r>
                <a:r>
                  <a:rPr lang="fr-FR" sz="2400" dirty="0"/>
                  <a:t> : les différentes positions du jeu.</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b="1" dirty="0"/>
                  <a:t>Arcs</a:t>
                </a:r>
                <a:r>
                  <a:rPr lang="fr-FR" sz="2400" dirty="0"/>
                  <a:t> : les différents coups possibles, un sommet </a:t>
                </a:r>
                <a14:m>
                  <m:oMath xmlns:m="http://schemas.openxmlformats.org/officeDocument/2006/math">
                    <m:r>
                      <a:rPr lang="fr-FR" sz="2400" b="0" i="1" smtClean="0">
                        <a:latin typeface="Cambria Math" panose="02040503050406030204" pitchFamily="18" charset="0"/>
                      </a:rPr>
                      <m:t>𝑌</m:t>
                    </m:r>
                  </m:oMath>
                </a14:m>
                <a:r>
                  <a:rPr lang="fr-FR" sz="2400" dirty="0"/>
                  <a:t> étant un successeur d’un sommet </a:t>
                </a:r>
                <a14:m>
                  <m:oMath xmlns:m="http://schemas.openxmlformats.org/officeDocument/2006/math">
                    <m:r>
                      <a:rPr lang="fr-FR" sz="2400" b="0" i="1" smtClean="0">
                        <a:latin typeface="Cambria Math" panose="02040503050406030204" pitchFamily="18" charset="0"/>
                      </a:rPr>
                      <m:t>𝑋</m:t>
                    </m:r>
                  </m:oMath>
                </a14:m>
                <a:r>
                  <a:rPr lang="fr-FR" sz="2400" dirty="0"/>
                  <a:t> si l’on peut passer de </a:t>
                </a:r>
                <a14:m>
                  <m:oMath xmlns:m="http://schemas.openxmlformats.org/officeDocument/2006/math">
                    <m:r>
                      <a:rPr lang="fr-FR" sz="2400" b="0" i="1" smtClean="0">
                        <a:latin typeface="Cambria Math" panose="02040503050406030204" pitchFamily="18" charset="0"/>
                      </a:rPr>
                      <m:t>𝑋</m:t>
                    </m:r>
                  </m:oMath>
                </a14:m>
                <a:r>
                  <a:rPr lang="fr-FR" sz="2400" dirty="0"/>
                  <a:t> à </a:t>
                </a:r>
                <a14:m>
                  <m:oMath xmlns:m="http://schemas.openxmlformats.org/officeDocument/2006/math">
                    <m:r>
                      <a:rPr lang="fr-FR" sz="2400" b="0" i="1" smtClean="0">
                        <a:latin typeface="Cambria Math" panose="02040503050406030204" pitchFamily="18" charset="0"/>
                      </a:rPr>
                      <m:t>𝑌</m:t>
                    </m:r>
                  </m:oMath>
                </a14:m>
                <a:r>
                  <a:rPr lang="fr-FR" sz="2400" dirty="0"/>
                  <a:t> en un seul coup.</a:t>
                </a:r>
              </a:p>
            </p:txBody>
          </p:sp>
        </mc:Choice>
        <mc:Fallback xmlns="">
          <p:sp>
            <p:nvSpPr>
              <p:cNvPr id="3" name="ZoneTexte 2">
                <a:extLst>
                  <a:ext uri="{FF2B5EF4-FFF2-40B4-BE49-F238E27FC236}">
                    <a16:creationId xmlns:a16="http://schemas.microsoft.com/office/drawing/2014/main" id="{706CE2F5-A872-C5FB-C930-9F92CE5B79CF}"/>
                  </a:ext>
                </a:extLst>
              </p:cNvPr>
              <p:cNvSpPr txBox="1">
                <a:spLocks noRot="1" noChangeAspect="1" noMove="1" noResize="1" noEditPoints="1" noAdjustHandles="1" noChangeArrowheads="1" noChangeShapeType="1" noTextEdit="1"/>
              </p:cNvSpPr>
              <p:nvPr/>
            </p:nvSpPr>
            <p:spPr>
              <a:xfrm>
                <a:off x="844826" y="1431230"/>
                <a:ext cx="10525539" cy="3046988"/>
              </a:xfrm>
              <a:prstGeom prst="rect">
                <a:avLst/>
              </a:prstGeom>
              <a:blipFill>
                <a:blip r:embed="rId3"/>
                <a:stretch>
                  <a:fillRect l="-843" t="-1660" b="-3320"/>
                </a:stretch>
              </a:blipFill>
            </p:spPr>
            <p:txBody>
              <a:bodyPr/>
              <a:lstStyle/>
              <a:p>
                <a:r>
                  <a:rPr lang="fr-FR">
                    <a:noFill/>
                  </a:rPr>
                  <a:t> </a:t>
                </a:r>
              </a:p>
            </p:txBody>
          </p:sp>
        </mc:Fallback>
      </mc:AlternateContent>
      <p:pic>
        <p:nvPicPr>
          <p:cNvPr id="5" name="Graphique 4" descr="Pièces d’échiquier avec un remplissage uni">
            <a:extLst>
              <a:ext uri="{FF2B5EF4-FFF2-40B4-BE49-F238E27FC236}">
                <a16:creationId xmlns:a16="http://schemas.microsoft.com/office/drawing/2014/main" id="{C40B7EDA-03D3-C517-D1AC-567794EFE8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400346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AC2F6-6A15-D297-8F8C-6A7B23C3223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993FBFF-0A0A-56B9-FDDA-2977FF1B1E0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sp>
        <p:nvSpPr>
          <p:cNvPr id="3" name="ZoneTexte 2">
            <a:extLst>
              <a:ext uri="{FF2B5EF4-FFF2-40B4-BE49-F238E27FC236}">
                <a16:creationId xmlns:a16="http://schemas.microsoft.com/office/drawing/2014/main" id="{152E582B-C28D-088B-AA8E-29956740E887}"/>
              </a:ext>
            </a:extLst>
          </p:cNvPr>
          <p:cNvSpPr txBox="1"/>
          <p:nvPr/>
        </p:nvSpPr>
        <p:spPr>
          <a:xfrm>
            <a:off x="844826" y="1431230"/>
            <a:ext cx="10525539" cy="3046988"/>
          </a:xfrm>
          <a:prstGeom prst="rect">
            <a:avLst/>
          </a:prstGeom>
          <a:noFill/>
        </p:spPr>
        <p:txBody>
          <a:bodyPr wrap="square" rtlCol="0">
            <a:spAutoFit/>
          </a:bodyPr>
          <a:lstStyle/>
          <a:p>
            <a:r>
              <a:rPr lang="fr-FR" sz="2400" b="1" dirty="0"/>
              <a:t>Graphe associé à un jeu : remarques</a:t>
            </a:r>
          </a:p>
          <a:p>
            <a:endParaRPr lang="fr-FR" sz="2400" dirty="0"/>
          </a:p>
          <a:p>
            <a:pPr marL="342900" indent="-342900">
              <a:buFont typeface="Arial" panose="020B0604020202020204" pitchFamily="34" charset="0"/>
              <a:buChar char="•"/>
            </a:pPr>
            <a:r>
              <a:rPr lang="fr-FR" sz="2400" dirty="0"/>
              <a:t>Selon les règles du jeu un sommet du graphe pourra appartenir à plusieurs chemins.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Il pourra également comporter des circuits, </a:t>
            </a:r>
            <a:r>
              <a:rPr lang="fr-FR" sz="2400" i="1" dirty="0"/>
              <a:t>i.e.</a:t>
            </a:r>
            <a:r>
              <a:rPr lang="fr-FR" sz="2400" dirty="0"/>
              <a:t> une succession d’arcs se “refermant“, si une même position peut se répéter (</a:t>
            </a:r>
            <a:r>
              <a:rPr lang="fr-FR" sz="2400" i="1" dirty="0"/>
              <a:t>e.g.</a:t>
            </a:r>
            <a:r>
              <a:rPr lang="fr-FR" sz="2400" dirty="0"/>
              <a:t> jeu d’échecs).</a:t>
            </a:r>
          </a:p>
        </p:txBody>
      </p:sp>
      <p:pic>
        <p:nvPicPr>
          <p:cNvPr id="5" name="Graphique 4" descr="Notes Post-it avec un remplissage uni">
            <a:extLst>
              <a:ext uri="{FF2B5EF4-FFF2-40B4-BE49-F238E27FC236}">
                <a16:creationId xmlns:a16="http://schemas.microsoft.com/office/drawing/2014/main" id="{F0A09803-48F0-E953-7F74-29565C64D2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813335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E3FAD-5265-681A-C9BB-7F9F6267B31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57D3311-18AB-0F98-52AE-51C1F6498663}"/>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sp>
        <p:nvSpPr>
          <p:cNvPr id="3" name="ZoneTexte 2">
            <a:extLst>
              <a:ext uri="{FF2B5EF4-FFF2-40B4-BE49-F238E27FC236}">
                <a16:creationId xmlns:a16="http://schemas.microsoft.com/office/drawing/2014/main" id="{23C921C7-0F46-116A-1EC9-9EBF5A4D1744}"/>
              </a:ext>
            </a:extLst>
          </p:cNvPr>
          <p:cNvSpPr txBox="1"/>
          <p:nvPr/>
        </p:nvSpPr>
        <p:spPr>
          <a:xfrm>
            <a:off x="844826" y="1431230"/>
            <a:ext cx="10525539" cy="4154984"/>
          </a:xfrm>
          <a:prstGeom prst="rect">
            <a:avLst/>
          </a:prstGeom>
          <a:noFill/>
        </p:spPr>
        <p:txBody>
          <a:bodyPr wrap="square" rtlCol="0">
            <a:spAutoFit/>
          </a:bodyPr>
          <a:lstStyle/>
          <a:p>
            <a:r>
              <a:rPr lang="fr-FR" sz="2400" b="1" dirty="0"/>
              <a:t>Arborescence associée à un jeu</a:t>
            </a:r>
          </a:p>
          <a:p>
            <a:endParaRPr lang="fr-FR" sz="2400" dirty="0"/>
          </a:p>
          <a:p>
            <a:pPr marL="342900" indent="-342900">
              <a:buFont typeface="Arial" panose="020B0604020202020204" pitchFamily="34" charset="0"/>
              <a:buChar char="•"/>
            </a:pPr>
            <a:r>
              <a:rPr lang="fr-FR" sz="2400" dirty="0"/>
              <a:t>On peut également construire une </a:t>
            </a:r>
            <a:r>
              <a:rPr lang="fr-FR" sz="2400" b="1" dirty="0"/>
              <a:t>arborescence</a:t>
            </a:r>
            <a:r>
              <a:rPr lang="fr-FR" sz="2400" dirty="0"/>
              <a:t> afin de représenter l’ensemble des parties existantes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b="1" dirty="0"/>
              <a:t>Racine</a:t>
            </a:r>
            <a:r>
              <a:rPr lang="fr-FR" sz="2400" dirty="0"/>
              <a:t> : la position initiale.</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b="1" dirty="0"/>
              <a:t>Feuilles</a:t>
            </a:r>
            <a:r>
              <a:rPr lang="fr-FR" sz="2400" dirty="0"/>
              <a:t> : les positions finales, </a:t>
            </a:r>
            <a:r>
              <a:rPr lang="fr-FR" sz="2400" i="1" dirty="0"/>
              <a:t>i.e.</a:t>
            </a:r>
            <a:r>
              <a:rPr lang="fr-FR" sz="2400" dirty="0"/>
              <a:t> les fins de partie possibles.</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b="1" dirty="0"/>
              <a:t>Autres sommets </a:t>
            </a:r>
            <a:r>
              <a:rPr lang="fr-FR" sz="2400" dirty="0"/>
              <a:t>: les différentes positions du jeu atteignables à partir de la configuration initiale et donc situées “entre“ la racine et les feuilles.</a:t>
            </a:r>
          </a:p>
        </p:txBody>
      </p:sp>
    </p:spTree>
    <p:extLst>
      <p:ext uri="{BB962C8B-B14F-4D97-AF65-F5344CB8AC3E}">
        <p14:creationId xmlns:p14="http://schemas.microsoft.com/office/powerpoint/2010/main" val="3606531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D6F47-B4B6-9E3B-B082-32E4D232E0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64C7744-5A19-3A5B-57BA-6BE37FA3CACE}"/>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2966DF9E-389A-16A8-3102-0AC4B3DAFCD1}"/>
                  </a:ext>
                </a:extLst>
              </p:cNvPr>
              <p:cNvSpPr txBox="1"/>
              <p:nvPr/>
            </p:nvSpPr>
            <p:spPr>
              <a:xfrm>
                <a:off x="844826" y="1431230"/>
                <a:ext cx="10525539" cy="3416320"/>
              </a:xfrm>
              <a:prstGeom prst="rect">
                <a:avLst/>
              </a:prstGeom>
              <a:noFill/>
            </p:spPr>
            <p:txBody>
              <a:bodyPr wrap="square" rtlCol="0">
                <a:spAutoFit/>
              </a:bodyPr>
              <a:lstStyle/>
              <a:p>
                <a:r>
                  <a:rPr lang="fr-FR" sz="2400" b="1" dirty="0"/>
                  <a:t>Arborescence associée à un jeu (suite)</a:t>
                </a:r>
              </a:p>
              <a:p>
                <a:endParaRPr lang="fr-FR" sz="2400" dirty="0"/>
              </a:p>
              <a:p>
                <a:pPr marL="342900" indent="-342900">
                  <a:buFont typeface="Arial" panose="020B0604020202020204" pitchFamily="34" charset="0"/>
                  <a:buChar char="•"/>
                </a:pPr>
                <a:r>
                  <a:rPr lang="fr-FR" sz="2400" dirty="0"/>
                  <a:t>Un sommet </a:t>
                </a:r>
                <a14:m>
                  <m:oMath xmlns:m="http://schemas.openxmlformats.org/officeDocument/2006/math">
                    <m:r>
                      <a:rPr lang="fr-FR" sz="2400" b="0" i="1" smtClean="0">
                        <a:latin typeface="Cambria Math" panose="02040503050406030204" pitchFamily="18" charset="0"/>
                      </a:rPr>
                      <m:t>𝑋</m:t>
                    </m:r>
                  </m:oMath>
                </a14:m>
                <a:r>
                  <a:rPr lang="fr-FR" sz="2400" dirty="0"/>
                  <a:t> sera le père d’un sommet </a:t>
                </a:r>
                <a14:m>
                  <m:oMath xmlns:m="http://schemas.openxmlformats.org/officeDocument/2006/math">
                    <m:r>
                      <a:rPr lang="fr-FR" sz="2400" b="0" i="1" smtClean="0">
                        <a:latin typeface="Cambria Math" panose="02040503050406030204" pitchFamily="18" charset="0"/>
                      </a:rPr>
                      <m:t>𝑌</m:t>
                    </m:r>
                  </m:oMath>
                </a14:m>
                <a:r>
                  <a:rPr lang="fr-FR" sz="2400" dirty="0"/>
                  <a:t> si l’on peut passer de l’état </a:t>
                </a:r>
                <a14:m>
                  <m:oMath xmlns:m="http://schemas.openxmlformats.org/officeDocument/2006/math">
                    <m:r>
                      <a:rPr lang="fr-FR" sz="2400" b="0" i="1" smtClean="0">
                        <a:latin typeface="Cambria Math" panose="02040503050406030204" pitchFamily="18" charset="0"/>
                      </a:rPr>
                      <m:t>𝑋</m:t>
                    </m:r>
                  </m:oMath>
                </a14:m>
                <a:r>
                  <a:rPr lang="fr-FR" sz="2400" dirty="0"/>
                  <a:t> du jeu à l’état </a:t>
                </a:r>
                <a14:m>
                  <m:oMath xmlns:m="http://schemas.openxmlformats.org/officeDocument/2006/math">
                    <m:r>
                      <a:rPr lang="fr-FR" sz="2400" b="0" i="1" smtClean="0">
                        <a:latin typeface="Cambria Math" panose="02040503050406030204" pitchFamily="18" charset="0"/>
                      </a:rPr>
                      <m:t>𝑌</m:t>
                    </m:r>
                  </m:oMath>
                </a14:m>
                <a:r>
                  <a:rPr lang="fr-FR" sz="2400" dirty="0"/>
                  <a:t> en un seul coup.</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Même s’il s’agit clairement d’une arborescence, </a:t>
                </a:r>
                <a:r>
                  <a:rPr lang="fr-FR" sz="2400" i="1" dirty="0"/>
                  <a:t>i.e.</a:t>
                </a:r>
                <a:r>
                  <a:rPr lang="fr-FR" sz="2400" dirty="0"/>
                  <a:t> d’un arbre orienté muni d’une racine, on omettra la plupart du temps la représentation de cette orientation en considérant qu’elle est implicite.</a:t>
                </a:r>
              </a:p>
            </p:txBody>
          </p:sp>
        </mc:Choice>
        <mc:Fallback xmlns="">
          <p:sp>
            <p:nvSpPr>
              <p:cNvPr id="3" name="ZoneTexte 2">
                <a:extLst>
                  <a:ext uri="{FF2B5EF4-FFF2-40B4-BE49-F238E27FC236}">
                    <a16:creationId xmlns:a16="http://schemas.microsoft.com/office/drawing/2014/main" id="{2966DF9E-389A-16A8-3102-0AC4B3DAFCD1}"/>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2"/>
                <a:stretch>
                  <a:fillRect l="-843" t="-1481" r="-361" b="-3333"/>
                </a:stretch>
              </a:blipFill>
            </p:spPr>
            <p:txBody>
              <a:bodyPr/>
              <a:lstStyle/>
              <a:p>
                <a:r>
                  <a:rPr lang="fr-FR">
                    <a:noFill/>
                  </a:rPr>
                  <a:t> </a:t>
                </a:r>
              </a:p>
            </p:txBody>
          </p:sp>
        </mc:Fallback>
      </mc:AlternateContent>
      <p:pic>
        <p:nvPicPr>
          <p:cNvPr id="5" name="Graphique 4" descr="Arc et flèche avec un remplissage uni">
            <a:extLst>
              <a:ext uri="{FF2B5EF4-FFF2-40B4-BE49-F238E27FC236}">
                <a16:creationId xmlns:a16="http://schemas.microsoft.com/office/drawing/2014/main" id="{F505A9A8-DCC9-4B6C-C28E-A716C86C4F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261746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B1310-321A-3E5E-EBF2-24188136BF2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26913D-6F20-06D0-E58C-A96669CF77C9}"/>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pic>
        <p:nvPicPr>
          <p:cNvPr id="5" name="Image 4" descr="Une image contenant diagramme, Plan, Dessin technique, schématique&#10;&#10;Le contenu généré par l’IA peut être incorrect.">
            <a:extLst>
              <a:ext uri="{FF2B5EF4-FFF2-40B4-BE49-F238E27FC236}">
                <a16:creationId xmlns:a16="http://schemas.microsoft.com/office/drawing/2014/main" id="{6E9B4DC3-CBE2-5B22-7EBF-A1CE96138B42}"/>
              </a:ext>
            </a:extLst>
          </p:cNvPr>
          <p:cNvPicPr>
            <a:picLocks noChangeAspect="1"/>
          </p:cNvPicPr>
          <p:nvPr/>
        </p:nvPicPr>
        <p:blipFill>
          <a:blip r:embed="rId3"/>
          <a:stretch>
            <a:fillRect/>
          </a:stretch>
        </p:blipFill>
        <p:spPr>
          <a:xfrm>
            <a:off x="3438000" y="1040400"/>
            <a:ext cx="8635683" cy="5760000"/>
          </a:xfrm>
          <a:prstGeom prst="rect">
            <a:avLst/>
          </a:prstGeom>
        </p:spPr>
      </p:pic>
      <p:pic>
        <p:nvPicPr>
          <p:cNvPr id="6" name="Graphique 5" descr="Signe pouce en haut avec un remplissage uni">
            <a:extLst>
              <a:ext uri="{FF2B5EF4-FFF2-40B4-BE49-F238E27FC236}">
                <a16:creationId xmlns:a16="http://schemas.microsoft.com/office/drawing/2014/main" id="{A77159FF-B043-0904-30D8-5318F7D8100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95008" y="5486147"/>
            <a:ext cx="288000" cy="288000"/>
          </a:xfrm>
          <a:prstGeom prst="rect">
            <a:avLst/>
          </a:prstGeom>
        </p:spPr>
      </p:pic>
      <p:pic>
        <p:nvPicPr>
          <p:cNvPr id="8" name="Graphique 7" descr="Pouce en bas avec un remplissage uni">
            <a:extLst>
              <a:ext uri="{FF2B5EF4-FFF2-40B4-BE49-F238E27FC236}">
                <a16:creationId xmlns:a16="http://schemas.microsoft.com/office/drawing/2014/main" id="{7C4F87A5-B2C4-0AA1-E045-8A074541306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12733" y="6348874"/>
            <a:ext cx="288000" cy="288000"/>
          </a:xfrm>
          <a:prstGeom prst="rect">
            <a:avLst/>
          </a:prstGeom>
        </p:spPr>
      </p:pic>
      <p:pic>
        <p:nvPicPr>
          <p:cNvPr id="15" name="Graphique 14" descr="Balance de la justice avec un remplissage uni">
            <a:extLst>
              <a:ext uri="{FF2B5EF4-FFF2-40B4-BE49-F238E27FC236}">
                <a16:creationId xmlns:a16="http://schemas.microsoft.com/office/drawing/2014/main" id="{67F7747B-FBF2-2064-1799-413575C30A8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012313" y="5993140"/>
            <a:ext cx="288000" cy="288000"/>
          </a:xfrm>
          <a:prstGeom prst="rect">
            <a:avLst/>
          </a:prstGeom>
        </p:spPr>
      </p:pic>
      <p:sp>
        <p:nvSpPr>
          <p:cNvPr id="16" name="ZoneTexte 15">
            <a:extLst>
              <a:ext uri="{FF2B5EF4-FFF2-40B4-BE49-F238E27FC236}">
                <a16:creationId xmlns:a16="http://schemas.microsoft.com/office/drawing/2014/main" id="{F5481F06-053F-D419-9B80-18131741AD0E}"/>
              </a:ext>
            </a:extLst>
          </p:cNvPr>
          <p:cNvSpPr txBox="1"/>
          <p:nvPr/>
        </p:nvSpPr>
        <p:spPr>
          <a:xfrm>
            <a:off x="844826" y="1431230"/>
            <a:ext cx="3240285" cy="830997"/>
          </a:xfrm>
          <a:prstGeom prst="rect">
            <a:avLst/>
          </a:prstGeom>
          <a:noFill/>
        </p:spPr>
        <p:txBody>
          <a:bodyPr wrap="square" rtlCol="0">
            <a:spAutoFit/>
          </a:bodyPr>
          <a:lstStyle/>
          <a:p>
            <a:r>
              <a:rPr lang="fr-FR" sz="2400" b="1" dirty="0"/>
              <a:t>Exemple : arborescence du jeu Tic-tac-toe</a:t>
            </a:r>
          </a:p>
        </p:txBody>
      </p:sp>
    </p:spTree>
    <p:extLst>
      <p:ext uri="{BB962C8B-B14F-4D97-AF65-F5344CB8AC3E}">
        <p14:creationId xmlns:p14="http://schemas.microsoft.com/office/powerpoint/2010/main" val="420140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13E82-90B8-642A-A88F-CAB40560237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B0661A5-DC8E-FA53-4378-F62F618B9E7F}"/>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sp>
        <p:nvSpPr>
          <p:cNvPr id="3" name="ZoneTexte 2">
            <a:extLst>
              <a:ext uri="{FF2B5EF4-FFF2-40B4-BE49-F238E27FC236}">
                <a16:creationId xmlns:a16="http://schemas.microsoft.com/office/drawing/2014/main" id="{A4E28855-293E-39F0-85FE-C0BF571DB82C}"/>
              </a:ext>
            </a:extLst>
          </p:cNvPr>
          <p:cNvSpPr txBox="1"/>
          <p:nvPr/>
        </p:nvSpPr>
        <p:spPr>
          <a:xfrm>
            <a:off x="844826" y="1431230"/>
            <a:ext cx="10525539" cy="3416320"/>
          </a:xfrm>
          <a:prstGeom prst="rect">
            <a:avLst/>
          </a:prstGeom>
          <a:noFill/>
        </p:spPr>
        <p:txBody>
          <a:bodyPr wrap="square" rtlCol="0">
            <a:spAutoFit/>
          </a:bodyPr>
          <a:lstStyle/>
          <a:p>
            <a:r>
              <a:rPr lang="fr-FR" sz="2400" b="1" dirty="0"/>
              <a:t>Approche </a:t>
            </a:r>
          </a:p>
          <a:p>
            <a:endParaRPr lang="fr-FR" sz="2400" dirty="0"/>
          </a:p>
          <a:p>
            <a:pPr marL="342900" indent="-342900">
              <a:buFont typeface="Arial" panose="020B0604020202020204" pitchFamily="34" charset="0"/>
              <a:buChar char="•"/>
            </a:pPr>
            <a:r>
              <a:rPr lang="fr-FR" sz="2400" dirty="0"/>
              <a:t>Les algorithmes des deux parties suivantes vont reposer sur des parcours en profondeur de cette arborescence.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Ces parcours, avec leurs enchaînements de coups, correspondront à des parties.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En identifiant des parcours optimaux en un certain sens, on pourra alors mettre au point des stratégies de jeu.</a:t>
            </a:r>
          </a:p>
        </p:txBody>
      </p:sp>
      <p:pic>
        <p:nvPicPr>
          <p:cNvPr id="5" name="Graphique 4" descr="Tic Tac Toe avec un remplissage uni">
            <a:extLst>
              <a:ext uri="{FF2B5EF4-FFF2-40B4-BE49-F238E27FC236}">
                <a16:creationId xmlns:a16="http://schemas.microsoft.com/office/drawing/2014/main" id="{803CDCE5-2619-E91E-31A9-69C3E0CDD0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656177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F8584-92C2-C257-89D2-BDE42D2A965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AE23E8-9E4B-F6BB-8175-1439199E015F}"/>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Contexte.</a:t>
            </a:r>
          </a:p>
        </p:txBody>
      </p:sp>
      <p:sp>
        <p:nvSpPr>
          <p:cNvPr id="3" name="ZoneTexte 2">
            <a:extLst>
              <a:ext uri="{FF2B5EF4-FFF2-40B4-BE49-F238E27FC236}">
                <a16:creationId xmlns:a16="http://schemas.microsoft.com/office/drawing/2014/main" id="{42A171E3-413B-0789-E853-C336AD5DCA9B}"/>
              </a:ext>
            </a:extLst>
          </p:cNvPr>
          <p:cNvSpPr txBox="1"/>
          <p:nvPr/>
        </p:nvSpPr>
        <p:spPr>
          <a:xfrm>
            <a:off x="844826" y="1431230"/>
            <a:ext cx="10525539" cy="3416320"/>
          </a:xfrm>
          <a:prstGeom prst="rect">
            <a:avLst/>
          </a:prstGeom>
          <a:noFill/>
        </p:spPr>
        <p:txBody>
          <a:bodyPr wrap="square" rtlCol="0">
            <a:spAutoFit/>
          </a:bodyPr>
          <a:lstStyle/>
          <a:p>
            <a:r>
              <a:rPr lang="fr-FR" sz="2400" b="1" dirty="0"/>
              <a:t>Remarques</a:t>
            </a:r>
          </a:p>
          <a:p>
            <a:endParaRPr lang="fr-FR" sz="2400" dirty="0"/>
          </a:p>
          <a:p>
            <a:pPr marL="342900" indent="-342900">
              <a:buFont typeface="Arial" panose="020B0604020202020204" pitchFamily="34" charset="0"/>
              <a:buChar char="•"/>
            </a:pPr>
            <a:r>
              <a:rPr lang="fr-FR" sz="2400" dirty="0"/>
              <a:t>Le graphe d’un jeu représente les positions existantes et les coups possibles entre elles tandis que l’arborescence décrit la succession des coups lors des différentes parties.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À noter que l’on ne construira pas l’arborescence entièrement préalablement à son parcours, on génèrera ses différents sommets progressivement, “à la volée“.</a:t>
            </a:r>
          </a:p>
        </p:txBody>
      </p:sp>
      <p:pic>
        <p:nvPicPr>
          <p:cNvPr id="5" name="Graphique 4" descr="Raquette et balle de tennis avec un remplissage uni">
            <a:extLst>
              <a:ext uri="{FF2B5EF4-FFF2-40B4-BE49-F238E27FC236}">
                <a16:creationId xmlns:a16="http://schemas.microsoft.com/office/drawing/2014/main" id="{7793D059-82E1-F37B-A361-3B80E776CA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848032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117F3F9E-E45E-9844-8215-AA148A5923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
        <p:nvSpPr>
          <p:cNvPr id="6" name="Titre 1">
            <a:extLst>
              <a:ext uri="{FF2B5EF4-FFF2-40B4-BE49-F238E27FC236}">
                <a16:creationId xmlns:a16="http://schemas.microsoft.com/office/drawing/2014/main" id="{6784514D-DFE8-6540-A8D9-ED1329C44D3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olidFill>
                  <a:schemeClr val="bg1"/>
                </a:solidFill>
              </a:rPr>
              <a:t>1. Contexte.</a:t>
            </a:r>
          </a:p>
        </p:txBody>
      </p:sp>
    </p:spTree>
    <p:extLst>
      <p:ext uri="{BB962C8B-B14F-4D97-AF65-F5344CB8AC3E}">
        <p14:creationId xmlns:p14="http://schemas.microsoft.com/office/powerpoint/2010/main" val="1926402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1709738"/>
            <a:ext cx="10515600" cy="2851200"/>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5400" dirty="0"/>
          </a:p>
          <a:p>
            <a:endParaRPr lang="fr-FR" sz="5400" dirty="0"/>
          </a:p>
          <a:p>
            <a:endParaRPr lang="fr-FR" sz="5400" dirty="0"/>
          </a:p>
          <a:p>
            <a:r>
              <a:rPr lang="fr-FR" sz="5400" dirty="0">
                <a:solidFill>
                  <a:schemeClr val="bg1"/>
                </a:solidFill>
              </a:rPr>
              <a:t>2. Algorithme MinMax.</a:t>
            </a:r>
          </a:p>
        </p:txBody>
      </p:sp>
    </p:spTree>
    <p:extLst>
      <p:ext uri="{BB962C8B-B14F-4D97-AF65-F5344CB8AC3E}">
        <p14:creationId xmlns:p14="http://schemas.microsoft.com/office/powerpoint/2010/main" val="227131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E6B80-8664-C2AD-0F0B-2C8CD11A2D9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A6969D4-3A6D-71B8-F2A2-C2921D5B1F7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B2CC5430-2B96-59D2-8175-82D328030C1D}"/>
              </a:ext>
            </a:extLst>
          </p:cNvPr>
          <p:cNvSpPr txBox="1"/>
          <p:nvPr/>
        </p:nvSpPr>
        <p:spPr>
          <a:xfrm>
            <a:off x="844826" y="1431230"/>
            <a:ext cx="10525539" cy="3416320"/>
          </a:xfrm>
          <a:prstGeom prst="rect">
            <a:avLst/>
          </a:prstGeom>
          <a:noFill/>
        </p:spPr>
        <p:txBody>
          <a:bodyPr wrap="square" rtlCol="0">
            <a:spAutoFit/>
          </a:bodyPr>
          <a:lstStyle/>
          <a:p>
            <a:r>
              <a:rPr lang="fr-FR" sz="2400" b="1" dirty="0"/>
              <a:t>Idée de base</a:t>
            </a:r>
          </a:p>
          <a:p>
            <a:endParaRPr lang="fr-FR" sz="2400" dirty="0"/>
          </a:p>
          <a:p>
            <a:pPr marL="342900" indent="-342900">
              <a:buFont typeface="Arial" panose="020B0604020202020204" pitchFamily="34" charset="0"/>
              <a:buChar char="•"/>
            </a:pPr>
            <a:r>
              <a:rPr lang="fr-FR" sz="2400" dirty="0"/>
              <a:t>Pour décider d’un coup on envisage les répliques possibles de l’adversaire.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On suppose que celui-ci fait de même et analyse également nos propres potentielles répliques.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On répète ensuite ce processus d’alternance de coups afin d’avoir une vision à </a:t>
            </a:r>
            <a:r>
              <a:rPr lang="fr-FR" sz="2400" b="1" dirty="0"/>
              <a:t>long terme </a:t>
            </a:r>
            <a:r>
              <a:rPr lang="fr-FR" sz="2400" dirty="0"/>
              <a:t>sur le résultat de la partie.</a:t>
            </a:r>
          </a:p>
        </p:txBody>
      </p:sp>
      <p:pic>
        <p:nvPicPr>
          <p:cNvPr id="5" name="Graphique 4" descr="Jumelles avec un remplissage uni">
            <a:extLst>
              <a:ext uri="{FF2B5EF4-FFF2-40B4-BE49-F238E27FC236}">
                <a16:creationId xmlns:a16="http://schemas.microsoft.com/office/drawing/2014/main" id="{6FAF983C-4A22-C610-DE90-E67DB41F70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475762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154984"/>
          </a:xfrm>
          <a:prstGeom prst="rect">
            <a:avLst/>
          </a:prstGeom>
          <a:noFill/>
        </p:spPr>
        <p:txBody>
          <a:bodyPr wrap="square" rtlCol="0">
            <a:spAutoFit/>
          </a:bodyPr>
          <a:lstStyle/>
          <a:p>
            <a:r>
              <a:rPr lang="fr-FR" sz="2400" b="1" dirty="0"/>
              <a:t>Idée de base (suite)</a:t>
            </a:r>
          </a:p>
          <a:p>
            <a:endParaRPr lang="fr-FR" sz="2400" dirty="0"/>
          </a:p>
          <a:p>
            <a:pPr marL="342900" indent="-342900">
              <a:buFont typeface="Arial" panose="020B0604020202020204" pitchFamily="34" charset="0"/>
              <a:buChar char="•"/>
            </a:pPr>
            <a:r>
              <a:rPr lang="fr-FR" sz="2400" dirty="0"/>
              <a:t>Deux cas de figure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Cas </a:t>
            </a:r>
            <a:r>
              <a:rPr lang="fr-FR" sz="2400" b="1" dirty="0"/>
              <a:t>simple</a:t>
            </a:r>
            <a:r>
              <a:rPr lang="fr-FR" sz="2400" dirty="0"/>
              <a:t> : on poursuit l’enchaînement des coups jusqu’à arriver à une fin de partie, </a:t>
            </a:r>
            <a:r>
              <a:rPr lang="fr-FR" sz="2400" i="1" dirty="0"/>
              <a:t>i.e.</a:t>
            </a:r>
            <a:r>
              <a:rPr lang="fr-FR" sz="2400" dirty="0"/>
              <a:t> à une feuille de l’arborescence.</a:t>
            </a:r>
          </a:p>
          <a:p>
            <a:pPr lvl="1"/>
            <a:endParaRPr lang="fr-FR" sz="2400" dirty="0"/>
          </a:p>
          <a:p>
            <a:pPr marL="800100" lvl="1" indent="-342900">
              <a:buFont typeface="Arial" panose="020B0604020202020204" pitchFamily="34" charset="0"/>
              <a:buChar char="•"/>
            </a:pPr>
            <a:r>
              <a:rPr lang="fr-FR" sz="2400" dirty="0"/>
              <a:t>Cas </a:t>
            </a:r>
            <a:r>
              <a:rPr lang="fr-FR" sz="2400" b="1" dirty="0"/>
              <a:t>général</a:t>
            </a:r>
            <a:r>
              <a:rPr lang="fr-FR" sz="2400" dirty="0"/>
              <a:t> : on se limite à un nombre de coups fixé à l’avance.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Dans les deux cas on fera ensuite remonter l’information jusqu’au coup à jouer présentement.</a:t>
            </a:r>
          </a:p>
        </p:txBody>
      </p:sp>
    </p:spTree>
    <p:extLst>
      <p:ext uri="{BB962C8B-B14F-4D97-AF65-F5344CB8AC3E}">
        <p14:creationId xmlns:p14="http://schemas.microsoft.com/office/powerpoint/2010/main" val="3812561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0090C-9BBF-96E2-A993-4C6FF389608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20D932-4164-24D3-B897-1882D1AC436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D5A847F4-D869-6193-D096-EFFDE4230BC7}"/>
              </a:ext>
            </a:extLst>
          </p:cNvPr>
          <p:cNvSpPr txBox="1"/>
          <p:nvPr/>
        </p:nvSpPr>
        <p:spPr>
          <a:xfrm>
            <a:off x="844826" y="1431230"/>
            <a:ext cx="10525539" cy="3416320"/>
          </a:xfrm>
          <a:prstGeom prst="rect">
            <a:avLst/>
          </a:prstGeom>
          <a:noFill/>
        </p:spPr>
        <p:txBody>
          <a:bodyPr wrap="square" rtlCol="0">
            <a:spAutoFit/>
          </a:bodyPr>
          <a:lstStyle/>
          <a:p>
            <a:r>
              <a:rPr lang="fr-FR" sz="2400" b="1" dirty="0"/>
              <a:t>Cas simple : principe</a:t>
            </a:r>
          </a:p>
          <a:p>
            <a:endParaRPr lang="fr-FR" sz="2400" dirty="0"/>
          </a:p>
          <a:p>
            <a:pPr marL="342900" indent="-342900">
              <a:buFont typeface="Arial" panose="020B0604020202020204" pitchFamily="34" charset="0"/>
              <a:buChar char="•"/>
            </a:pPr>
            <a:r>
              <a:rPr lang="fr-FR" sz="2400" dirty="0"/>
              <a:t>On va attribuer une valeur dite d’</a:t>
            </a:r>
            <a:r>
              <a:rPr lang="fr-FR" sz="2400" b="1" dirty="0"/>
              <a:t>utilité</a:t>
            </a:r>
            <a:r>
              <a:rPr lang="fr-FR" sz="2400" dirty="0"/>
              <a:t> à chacune des feuilles de l’arborescence.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Cela permettra d’évaluer l’intérêt et la qualité de la succession des coups conduisant à une position finale depuis la situation initiale.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On fait cela en se plaçant du point de vue du premier joueur, c’est-à-dire de celui pour lequel on veut élaborer une stratégie optimale.</a:t>
            </a:r>
          </a:p>
        </p:txBody>
      </p:sp>
      <p:pic>
        <p:nvPicPr>
          <p:cNvPr id="5" name="Graphique 4" descr="Pièces avec un remplissage uni">
            <a:extLst>
              <a:ext uri="{FF2B5EF4-FFF2-40B4-BE49-F238E27FC236}">
                <a16:creationId xmlns:a16="http://schemas.microsoft.com/office/drawing/2014/main" id="{429D7A06-28D5-5E6E-7288-CC13A28F82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444165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8A4CD-661A-1C49-6BCE-54CF4A354DC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C8A531B-3CFB-0BB7-7C02-7C2B7DA9E859}"/>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693FED8F-3D2D-3658-1D77-0E01FE9704A4}"/>
                  </a:ext>
                </a:extLst>
              </p:cNvPr>
              <p:cNvSpPr txBox="1"/>
              <p:nvPr/>
            </p:nvSpPr>
            <p:spPr>
              <a:xfrm>
                <a:off x="844826" y="1431230"/>
                <a:ext cx="10525539" cy="3785652"/>
              </a:xfrm>
              <a:prstGeom prst="rect">
                <a:avLst/>
              </a:prstGeom>
              <a:noFill/>
            </p:spPr>
            <p:txBody>
              <a:bodyPr wrap="square" rtlCol="0">
                <a:spAutoFit/>
              </a:bodyPr>
              <a:lstStyle/>
              <a:p>
                <a:r>
                  <a:rPr lang="fr-FR" sz="2400" b="1" dirty="0"/>
                  <a:t>Cas simple : principe (suite)</a:t>
                </a:r>
              </a:p>
              <a:p>
                <a:endParaRPr lang="fr-FR" sz="2400" dirty="0"/>
              </a:p>
              <a:p>
                <a:pPr marL="342900" indent="-342900">
                  <a:buFont typeface="Arial" panose="020B0604020202020204" pitchFamily="34" charset="0"/>
                  <a:buChar char="•"/>
                </a:pPr>
                <a:r>
                  <a:rPr lang="fr-FR" sz="2400" dirty="0"/>
                  <a:t>Cette </a:t>
                </a:r>
                <a:r>
                  <a:rPr lang="fr-FR" sz="2400" b="1" dirty="0"/>
                  <a:t>fonction d’utilité </a:t>
                </a:r>
                <a:r>
                  <a:rPr lang="fr-FR" sz="2400" dirty="0"/>
                  <a:t>doit bien sûr mesurer le gain du premier joueur.</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Dans le cas classique d’un jeu dont les seules issues sont la victoire, la défaite et un match nul, on pourra attribuer aux feuilles correspondantes les valeurs de </a:t>
                </a:r>
                <a14:m>
                  <m:oMath xmlns:m="http://schemas.openxmlformats.org/officeDocument/2006/math">
                    <m:r>
                      <a:rPr lang="fr-FR" sz="2400" b="0" i="1" smtClean="0">
                        <a:latin typeface="Cambria Math" panose="02040503050406030204" pitchFamily="18" charset="0"/>
                      </a:rPr>
                      <m:t>+1, −1, 0</m:t>
                    </m:r>
                  </m:oMath>
                </a14:m>
                <a:r>
                  <a:rPr lang="fr-FR" sz="2400" dirty="0"/>
                  <a: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Si des scores sont attribués selon les positions finales, ce sont ces scores que l’on utilisera.</a:t>
                </a:r>
              </a:p>
            </p:txBody>
          </p:sp>
        </mc:Choice>
        <mc:Fallback xmlns="">
          <p:sp>
            <p:nvSpPr>
              <p:cNvPr id="3" name="ZoneTexte 2">
                <a:extLst>
                  <a:ext uri="{FF2B5EF4-FFF2-40B4-BE49-F238E27FC236}">
                    <a16:creationId xmlns:a16="http://schemas.microsoft.com/office/drawing/2014/main" id="{693FED8F-3D2D-3658-1D77-0E01FE9704A4}"/>
                  </a:ext>
                </a:extLst>
              </p:cNvPr>
              <p:cNvSpPr txBox="1">
                <a:spLocks noRot="1" noChangeAspect="1" noMove="1" noResize="1" noEditPoints="1" noAdjustHandles="1" noChangeArrowheads="1" noChangeShapeType="1" noTextEdit="1"/>
              </p:cNvSpPr>
              <p:nvPr/>
            </p:nvSpPr>
            <p:spPr>
              <a:xfrm>
                <a:off x="844826" y="1431230"/>
                <a:ext cx="10525539" cy="3785652"/>
              </a:xfrm>
              <a:prstGeom prst="rect">
                <a:avLst/>
              </a:prstGeom>
              <a:blipFill>
                <a:blip r:embed="rId3"/>
                <a:stretch>
                  <a:fillRect l="-843" t="-1338" r="-1084" b="-3010"/>
                </a:stretch>
              </a:blipFill>
            </p:spPr>
            <p:txBody>
              <a:bodyPr/>
              <a:lstStyle/>
              <a:p>
                <a:r>
                  <a:rPr lang="fr-FR">
                    <a:noFill/>
                  </a:rPr>
                  <a:t> </a:t>
                </a:r>
              </a:p>
            </p:txBody>
          </p:sp>
        </mc:Fallback>
      </mc:AlternateContent>
      <p:pic>
        <p:nvPicPr>
          <p:cNvPr id="5" name="Graphique 4" descr="Panier de basketball avec un remplissage uni">
            <a:extLst>
              <a:ext uri="{FF2B5EF4-FFF2-40B4-BE49-F238E27FC236}">
                <a16:creationId xmlns:a16="http://schemas.microsoft.com/office/drawing/2014/main" id="{D548BA41-7DB2-191B-206E-B0C2CC77D13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48349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E03B8-4D04-307C-185A-68A940FA93B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CFFE4D6-DA54-329D-A489-B50E6356CCE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F1FB041E-A10D-8468-7A2D-E581E3764436}"/>
              </a:ext>
            </a:extLst>
          </p:cNvPr>
          <p:cNvSpPr txBox="1"/>
          <p:nvPr/>
        </p:nvSpPr>
        <p:spPr>
          <a:xfrm>
            <a:off x="844826" y="1431230"/>
            <a:ext cx="10525539" cy="3416320"/>
          </a:xfrm>
          <a:prstGeom prst="rect">
            <a:avLst/>
          </a:prstGeom>
          <a:noFill/>
        </p:spPr>
        <p:txBody>
          <a:bodyPr wrap="square" rtlCol="0">
            <a:spAutoFit/>
          </a:bodyPr>
          <a:lstStyle/>
          <a:p>
            <a:r>
              <a:rPr lang="fr-FR" sz="2400" b="1" dirty="0"/>
              <a:t>Cas simple : principe (suite)</a:t>
            </a:r>
          </a:p>
          <a:p>
            <a:endParaRPr lang="fr-FR" sz="2400" dirty="0"/>
          </a:p>
          <a:p>
            <a:pPr marL="342900" indent="-342900">
              <a:buFont typeface="Arial" panose="020B0604020202020204" pitchFamily="34" charset="0"/>
              <a:buChar char="•"/>
            </a:pPr>
            <a:r>
              <a:rPr lang="fr-FR" sz="2400" dirty="0"/>
              <a:t>Une fois les feuilles évaluées on va propager cette information en la faisant remonter le long des branches de l’arborescence.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On va supposer que tout au long de la partie les deux joueurs vont choisir leurs coups de façon optimale, le meilleur coup pour l’un étant bien sûr le pire pour l’autre.</a:t>
            </a:r>
          </a:p>
        </p:txBody>
      </p:sp>
      <p:pic>
        <p:nvPicPr>
          <p:cNvPr id="7" name="Graphique 6" descr="Arbre avec racines avec un remplissage uni">
            <a:extLst>
              <a:ext uri="{FF2B5EF4-FFF2-40B4-BE49-F238E27FC236}">
                <a16:creationId xmlns:a16="http://schemas.microsoft.com/office/drawing/2014/main" id="{F4DD1F9D-C044-9876-038C-E8462918B39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2671618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E573E-3602-FC5E-95CE-FCB55CC660E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9A3BA3B-8E4B-1F89-01AA-DA3A46F12579}"/>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735B1BEA-0D89-3D95-BB90-395DAD0BC974}"/>
              </a:ext>
            </a:extLst>
          </p:cNvPr>
          <p:cNvSpPr txBox="1"/>
          <p:nvPr/>
        </p:nvSpPr>
        <p:spPr>
          <a:xfrm>
            <a:off x="844826" y="1431230"/>
            <a:ext cx="10525539" cy="2308324"/>
          </a:xfrm>
          <a:prstGeom prst="rect">
            <a:avLst/>
          </a:prstGeom>
          <a:noFill/>
        </p:spPr>
        <p:txBody>
          <a:bodyPr wrap="square" rtlCol="0">
            <a:spAutoFit/>
          </a:bodyPr>
          <a:lstStyle/>
          <a:p>
            <a:r>
              <a:rPr lang="fr-FR" sz="2400" b="1" dirty="0"/>
              <a:t>Cas simple : principe (suite)</a:t>
            </a:r>
          </a:p>
          <a:p>
            <a:endParaRPr lang="fr-FR" sz="2400" dirty="0"/>
          </a:p>
          <a:p>
            <a:pPr marL="342900" indent="-342900">
              <a:buFont typeface="Arial" panose="020B0604020202020204" pitchFamily="34" charset="0"/>
              <a:buChar char="•"/>
            </a:pPr>
            <a:r>
              <a:rPr lang="fr-FR" sz="2400" dirty="0"/>
              <a:t>Quand on est sur un sommet correspondant au premier joueur, puisque la stratégie est conçue pour lui, on va choisir le coup correspondant au maximum des utilités des positions suivantes et l’on va affecter cette valeur au sommet en question :</a:t>
            </a:r>
          </a:p>
        </p:txBody>
      </p:sp>
      <p:pic>
        <p:nvPicPr>
          <p:cNvPr id="7" name="Image 6" descr="Une image contenant ligne, diagramme, triangle, origami&#10;&#10;Le contenu généré par l’IA peut être incorrect.">
            <a:extLst>
              <a:ext uri="{FF2B5EF4-FFF2-40B4-BE49-F238E27FC236}">
                <a16:creationId xmlns:a16="http://schemas.microsoft.com/office/drawing/2014/main" id="{EBCFCF66-AE1F-7E1F-8367-13FB1CFE68DC}"/>
              </a:ext>
            </a:extLst>
          </p:cNvPr>
          <p:cNvPicPr>
            <a:picLocks noChangeAspect="1"/>
          </p:cNvPicPr>
          <p:nvPr/>
        </p:nvPicPr>
        <p:blipFill>
          <a:blip r:embed="rId3"/>
          <a:stretch>
            <a:fillRect/>
          </a:stretch>
        </p:blipFill>
        <p:spPr>
          <a:xfrm>
            <a:off x="1080000" y="4140000"/>
            <a:ext cx="3600000" cy="2008800"/>
          </a:xfrm>
          <a:prstGeom prst="rect">
            <a:avLst/>
          </a:prstGeom>
        </p:spPr>
      </p:pic>
      <p:pic>
        <p:nvPicPr>
          <p:cNvPr id="9" name="Image 8" descr="Une image contenant ligne, diagramme, triangle, conception&#10;&#10;Le contenu généré par l’IA peut être incorrect.">
            <a:extLst>
              <a:ext uri="{FF2B5EF4-FFF2-40B4-BE49-F238E27FC236}">
                <a16:creationId xmlns:a16="http://schemas.microsoft.com/office/drawing/2014/main" id="{CA80DE19-3CC7-A357-2BB7-583DF7D24902}"/>
              </a:ext>
            </a:extLst>
          </p:cNvPr>
          <p:cNvPicPr>
            <a:picLocks noChangeAspect="1"/>
          </p:cNvPicPr>
          <p:nvPr/>
        </p:nvPicPr>
        <p:blipFill>
          <a:blip r:embed="rId4"/>
          <a:stretch>
            <a:fillRect/>
          </a:stretch>
        </p:blipFill>
        <p:spPr>
          <a:xfrm>
            <a:off x="7512002" y="3852000"/>
            <a:ext cx="3600000" cy="2296800"/>
          </a:xfrm>
          <a:prstGeom prst="rect">
            <a:avLst/>
          </a:prstGeom>
        </p:spPr>
      </p:pic>
      <p:sp>
        <p:nvSpPr>
          <p:cNvPr id="10" name="Flèche vers la droite 9">
            <a:extLst>
              <a:ext uri="{FF2B5EF4-FFF2-40B4-BE49-F238E27FC236}">
                <a16:creationId xmlns:a16="http://schemas.microsoft.com/office/drawing/2014/main" id="{F3D3328F-08F0-2219-8ED6-3350312400A9}"/>
              </a:ext>
            </a:extLst>
          </p:cNvPr>
          <p:cNvSpPr/>
          <p:nvPr/>
        </p:nvSpPr>
        <p:spPr>
          <a:xfrm>
            <a:off x="5717823" y="5000400"/>
            <a:ext cx="756356" cy="135466"/>
          </a:xfrm>
          <a:prstGeom prst="rightArrow">
            <a:avLst/>
          </a:prstGeom>
          <a:solidFill>
            <a:srgbClr val="3D268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06032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E3ABE-E3DF-A3D2-E8AA-E2C2B068253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8B8670-E850-FE91-09F4-6CC629CFB30C}"/>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DC47082D-9DC2-B2B8-C91E-BFA54FEFFF9E}"/>
              </a:ext>
            </a:extLst>
          </p:cNvPr>
          <p:cNvSpPr txBox="1"/>
          <p:nvPr/>
        </p:nvSpPr>
        <p:spPr>
          <a:xfrm>
            <a:off x="844826" y="1431230"/>
            <a:ext cx="10525539" cy="1938992"/>
          </a:xfrm>
          <a:prstGeom prst="rect">
            <a:avLst/>
          </a:prstGeom>
          <a:noFill/>
        </p:spPr>
        <p:txBody>
          <a:bodyPr wrap="square" rtlCol="0">
            <a:spAutoFit/>
          </a:bodyPr>
          <a:lstStyle/>
          <a:p>
            <a:r>
              <a:rPr lang="fr-FR" sz="2400" b="1" dirty="0"/>
              <a:t>Cas simple : principe (suite)</a:t>
            </a:r>
          </a:p>
          <a:p>
            <a:endParaRPr lang="fr-FR" sz="2400" dirty="0"/>
          </a:p>
          <a:p>
            <a:pPr marL="342900" indent="-342900">
              <a:buFont typeface="Arial" panose="020B0604020202020204" pitchFamily="34" charset="0"/>
              <a:buChar char="•"/>
            </a:pPr>
            <a:r>
              <a:rPr lang="fr-FR" sz="2400" dirty="0"/>
              <a:t>Inversement, quand on est sur un sommet correspondant au second joueur, on va choisir le coup correspondant au minimum des utilités des positions suivantes et l’on va affecter cette valeur au sommet en question :</a:t>
            </a:r>
          </a:p>
        </p:txBody>
      </p:sp>
      <p:pic>
        <p:nvPicPr>
          <p:cNvPr id="5" name="Image 4" descr="Une image contenant ligne, diagramme, triangle, conception&#10;&#10;Le contenu généré par l’IA peut être incorrect.">
            <a:extLst>
              <a:ext uri="{FF2B5EF4-FFF2-40B4-BE49-F238E27FC236}">
                <a16:creationId xmlns:a16="http://schemas.microsoft.com/office/drawing/2014/main" id="{3C1AF5DA-8B3A-108C-80CD-FB8522E5DD6D}"/>
              </a:ext>
            </a:extLst>
          </p:cNvPr>
          <p:cNvPicPr>
            <a:picLocks noChangeAspect="1"/>
          </p:cNvPicPr>
          <p:nvPr/>
        </p:nvPicPr>
        <p:blipFill>
          <a:blip r:embed="rId3"/>
          <a:stretch>
            <a:fillRect/>
          </a:stretch>
        </p:blipFill>
        <p:spPr>
          <a:xfrm>
            <a:off x="1080000" y="4140000"/>
            <a:ext cx="3600000" cy="2008800"/>
          </a:xfrm>
          <a:prstGeom prst="rect">
            <a:avLst/>
          </a:prstGeom>
        </p:spPr>
      </p:pic>
      <p:pic>
        <p:nvPicPr>
          <p:cNvPr id="7" name="Image 6" descr="Une image contenant ligne, diagramme, Tracé, conception&#10;&#10;Le contenu généré par l’IA peut être incorrect.">
            <a:extLst>
              <a:ext uri="{FF2B5EF4-FFF2-40B4-BE49-F238E27FC236}">
                <a16:creationId xmlns:a16="http://schemas.microsoft.com/office/drawing/2014/main" id="{790E07E3-0184-B1B6-F10C-7D81A6A0EECC}"/>
              </a:ext>
            </a:extLst>
          </p:cNvPr>
          <p:cNvPicPr>
            <a:picLocks noChangeAspect="1"/>
          </p:cNvPicPr>
          <p:nvPr/>
        </p:nvPicPr>
        <p:blipFill>
          <a:blip r:embed="rId4"/>
          <a:stretch>
            <a:fillRect/>
          </a:stretch>
        </p:blipFill>
        <p:spPr>
          <a:xfrm>
            <a:off x="7513200" y="3852000"/>
            <a:ext cx="3600000" cy="2296800"/>
          </a:xfrm>
          <a:prstGeom prst="rect">
            <a:avLst/>
          </a:prstGeom>
        </p:spPr>
      </p:pic>
      <p:sp>
        <p:nvSpPr>
          <p:cNvPr id="8" name="Flèche vers la droite 7">
            <a:extLst>
              <a:ext uri="{FF2B5EF4-FFF2-40B4-BE49-F238E27FC236}">
                <a16:creationId xmlns:a16="http://schemas.microsoft.com/office/drawing/2014/main" id="{916E0621-C20C-F9AF-078A-1B96F59BC147}"/>
              </a:ext>
            </a:extLst>
          </p:cNvPr>
          <p:cNvSpPr/>
          <p:nvPr/>
        </p:nvSpPr>
        <p:spPr>
          <a:xfrm>
            <a:off x="5717823" y="5000400"/>
            <a:ext cx="756356" cy="135466"/>
          </a:xfrm>
          <a:prstGeom prst="rightArrow">
            <a:avLst/>
          </a:prstGeom>
          <a:solidFill>
            <a:srgbClr val="3D268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80555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5DEA1-F063-D155-CDE1-02C2956A0E3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A75342-FEEF-0DE1-36E4-09B512D633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7EF03377-5AE1-7F81-9AED-921524A6A481}"/>
              </a:ext>
            </a:extLst>
          </p:cNvPr>
          <p:cNvSpPr txBox="1"/>
          <p:nvPr/>
        </p:nvSpPr>
        <p:spPr>
          <a:xfrm>
            <a:off x="844826" y="1431230"/>
            <a:ext cx="10525539" cy="3416320"/>
          </a:xfrm>
          <a:prstGeom prst="rect">
            <a:avLst/>
          </a:prstGeom>
          <a:noFill/>
        </p:spPr>
        <p:txBody>
          <a:bodyPr wrap="square" rtlCol="0">
            <a:spAutoFit/>
          </a:bodyPr>
          <a:lstStyle/>
          <a:p>
            <a:r>
              <a:rPr lang="fr-FR" sz="2400" b="1" dirty="0"/>
              <a:t>Cas simple : principe (suite)</a:t>
            </a:r>
          </a:p>
          <a:p>
            <a:endParaRPr lang="fr-FR" sz="2400" dirty="0"/>
          </a:p>
          <a:p>
            <a:pPr marL="342900" indent="-342900">
              <a:buFont typeface="Arial" panose="020B0604020202020204" pitchFamily="34" charset="0"/>
              <a:buChar char="•"/>
            </a:pPr>
            <a:r>
              <a:rPr lang="fr-FR" sz="2400" dirty="0"/>
              <a:t>Pour le second joueur on choisit le minimum car les utilités sont calculées du point de vue du premier joueur et que le jeu est à somme nulle.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Les valeurs d’utilité des feuilles vont ainsi remonter d’un niveau de profondeur au précédent en alternant les sommets où l’on calcule un maximum avec ceux où l’on calcule un minimum. </a:t>
            </a:r>
          </a:p>
        </p:txBody>
      </p:sp>
      <p:pic>
        <p:nvPicPr>
          <p:cNvPr id="5" name="Graphique 4" descr="Escalade avec un remplissage uni">
            <a:extLst>
              <a:ext uri="{FF2B5EF4-FFF2-40B4-BE49-F238E27FC236}">
                <a16:creationId xmlns:a16="http://schemas.microsoft.com/office/drawing/2014/main" id="{0FCF8DFB-5541-F93B-3453-181F1429A3F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902633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6BB40-0A7C-2112-8FD5-E7CF12CB3FA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98DF95F-1B38-B929-3F4B-A9387C31B6BF}"/>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6B6A8AA1-99C7-2249-223C-805055442001}"/>
              </a:ext>
            </a:extLst>
          </p:cNvPr>
          <p:cNvSpPr txBox="1"/>
          <p:nvPr/>
        </p:nvSpPr>
        <p:spPr>
          <a:xfrm>
            <a:off x="844826" y="1431230"/>
            <a:ext cx="10525539" cy="461665"/>
          </a:xfrm>
          <a:prstGeom prst="rect">
            <a:avLst/>
          </a:prstGeom>
          <a:noFill/>
        </p:spPr>
        <p:txBody>
          <a:bodyPr wrap="square" rtlCol="0">
            <a:spAutoFit/>
          </a:bodyPr>
          <a:lstStyle/>
          <a:p>
            <a:r>
              <a:rPr lang="fr-FR" sz="2400" b="1" dirty="0"/>
              <a:t>Cas simple : exemple de propagation des valeurs d’utilité</a:t>
            </a:r>
          </a:p>
        </p:txBody>
      </p:sp>
      <p:pic>
        <p:nvPicPr>
          <p:cNvPr id="7" name="Image 6" descr="Une image contenant diagramme, dessin, motif&#10;&#10;Le contenu généré par l’IA peut être incorrect.">
            <a:extLst>
              <a:ext uri="{FF2B5EF4-FFF2-40B4-BE49-F238E27FC236}">
                <a16:creationId xmlns:a16="http://schemas.microsoft.com/office/drawing/2014/main" id="{6B8BDE53-C849-59CF-E8FB-002376596F82}"/>
              </a:ext>
            </a:extLst>
          </p:cNvPr>
          <p:cNvPicPr>
            <a:picLocks noChangeAspect="1"/>
          </p:cNvPicPr>
          <p:nvPr/>
        </p:nvPicPr>
        <p:blipFill>
          <a:blip r:embed="rId3"/>
          <a:stretch>
            <a:fillRect/>
          </a:stretch>
        </p:blipFill>
        <p:spPr>
          <a:xfrm>
            <a:off x="1067595" y="2211120"/>
            <a:ext cx="10080000" cy="4646880"/>
          </a:xfrm>
          <a:prstGeom prst="rect">
            <a:avLst/>
          </a:prstGeom>
        </p:spPr>
      </p:pic>
    </p:spTree>
    <p:extLst>
      <p:ext uri="{BB962C8B-B14F-4D97-AF65-F5344CB8AC3E}">
        <p14:creationId xmlns:p14="http://schemas.microsoft.com/office/powerpoint/2010/main" val="3556928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1C64-18DE-A514-D42C-DE5BAC71C6F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3D042EE-6A82-7453-AE3B-8F5ECFE16ED2}"/>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BC9F059A-7431-AE1E-F344-D60021685AE1}"/>
              </a:ext>
            </a:extLst>
          </p:cNvPr>
          <p:cNvSpPr txBox="1"/>
          <p:nvPr/>
        </p:nvSpPr>
        <p:spPr>
          <a:xfrm>
            <a:off x="844826" y="1431230"/>
            <a:ext cx="10525539" cy="461665"/>
          </a:xfrm>
          <a:prstGeom prst="rect">
            <a:avLst/>
          </a:prstGeom>
          <a:noFill/>
        </p:spPr>
        <p:txBody>
          <a:bodyPr wrap="square" rtlCol="0">
            <a:spAutoFit/>
          </a:bodyPr>
          <a:lstStyle/>
          <a:p>
            <a:r>
              <a:rPr lang="fr-FR" sz="2400" b="1" dirty="0"/>
              <a:t>Cas simple : exemple de propagation des valeurs d’utilité (suite)</a:t>
            </a:r>
          </a:p>
        </p:txBody>
      </p:sp>
      <p:pic>
        <p:nvPicPr>
          <p:cNvPr id="5" name="Image 4" descr="Une image contenant diagramme, ligne, dessin, croquis&#10;&#10;Le contenu généré par l’IA peut être incorrect.">
            <a:extLst>
              <a:ext uri="{FF2B5EF4-FFF2-40B4-BE49-F238E27FC236}">
                <a16:creationId xmlns:a16="http://schemas.microsoft.com/office/drawing/2014/main" id="{EA363637-2DCE-43AE-DDA7-93C1FFC21D9C}"/>
              </a:ext>
            </a:extLst>
          </p:cNvPr>
          <p:cNvPicPr>
            <a:picLocks noChangeAspect="1"/>
          </p:cNvPicPr>
          <p:nvPr/>
        </p:nvPicPr>
        <p:blipFill>
          <a:blip r:embed="rId3"/>
          <a:stretch>
            <a:fillRect/>
          </a:stretch>
        </p:blipFill>
        <p:spPr>
          <a:xfrm>
            <a:off x="1067595" y="2211121"/>
            <a:ext cx="10080000" cy="4646879"/>
          </a:xfrm>
          <a:prstGeom prst="rect">
            <a:avLst/>
          </a:prstGeom>
        </p:spPr>
      </p:pic>
    </p:spTree>
    <p:extLst>
      <p:ext uri="{BB962C8B-B14F-4D97-AF65-F5344CB8AC3E}">
        <p14:creationId xmlns:p14="http://schemas.microsoft.com/office/powerpoint/2010/main" val="3590371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A9E9D-F0BE-19EE-CF71-D4128464FF2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9A24EAE-17A8-DF84-3EC2-8A73A7B9D060}"/>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D0A28114-494B-4E73-EF56-1E7039488D3C}"/>
              </a:ext>
            </a:extLst>
          </p:cNvPr>
          <p:cNvSpPr txBox="1"/>
          <p:nvPr/>
        </p:nvSpPr>
        <p:spPr>
          <a:xfrm>
            <a:off x="844826" y="1431230"/>
            <a:ext cx="10525539" cy="461665"/>
          </a:xfrm>
          <a:prstGeom prst="rect">
            <a:avLst/>
          </a:prstGeom>
          <a:noFill/>
        </p:spPr>
        <p:txBody>
          <a:bodyPr wrap="square" rtlCol="0">
            <a:spAutoFit/>
          </a:bodyPr>
          <a:lstStyle/>
          <a:p>
            <a:r>
              <a:rPr lang="fr-FR" sz="2400" b="1" dirty="0"/>
              <a:t>Cas simple : exemple de propagation des valeurs d’utilité (suite)</a:t>
            </a:r>
          </a:p>
        </p:txBody>
      </p:sp>
      <p:pic>
        <p:nvPicPr>
          <p:cNvPr id="5" name="Image 4" descr="Une image contenant diagramme, ligne&#10;&#10;Le contenu généré par l’IA peut être incorrect.">
            <a:extLst>
              <a:ext uri="{FF2B5EF4-FFF2-40B4-BE49-F238E27FC236}">
                <a16:creationId xmlns:a16="http://schemas.microsoft.com/office/drawing/2014/main" id="{F292298C-0C89-80E8-7711-5E5FF6A58280}"/>
              </a:ext>
            </a:extLst>
          </p:cNvPr>
          <p:cNvPicPr>
            <a:picLocks noChangeAspect="1"/>
          </p:cNvPicPr>
          <p:nvPr/>
        </p:nvPicPr>
        <p:blipFill>
          <a:blip r:embed="rId3"/>
          <a:stretch>
            <a:fillRect/>
          </a:stretch>
        </p:blipFill>
        <p:spPr>
          <a:xfrm>
            <a:off x="1067595" y="2211121"/>
            <a:ext cx="10080000" cy="4646879"/>
          </a:xfrm>
          <a:prstGeom prst="rect">
            <a:avLst/>
          </a:prstGeom>
        </p:spPr>
      </p:pic>
    </p:spTree>
    <p:extLst>
      <p:ext uri="{BB962C8B-B14F-4D97-AF65-F5344CB8AC3E}">
        <p14:creationId xmlns:p14="http://schemas.microsoft.com/office/powerpoint/2010/main" val="3685911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E6E10-2BD6-3096-3DF2-8C7E45D3CED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98888A-EFF4-B248-91B3-F6030B07DDCE}"/>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C07203EF-EEBC-2D39-0589-D73141F83FA9}"/>
              </a:ext>
            </a:extLst>
          </p:cNvPr>
          <p:cNvSpPr txBox="1"/>
          <p:nvPr/>
        </p:nvSpPr>
        <p:spPr>
          <a:xfrm>
            <a:off x="844826" y="1431230"/>
            <a:ext cx="10525539" cy="461665"/>
          </a:xfrm>
          <a:prstGeom prst="rect">
            <a:avLst/>
          </a:prstGeom>
          <a:noFill/>
        </p:spPr>
        <p:txBody>
          <a:bodyPr wrap="square" rtlCol="0">
            <a:spAutoFit/>
          </a:bodyPr>
          <a:lstStyle/>
          <a:p>
            <a:r>
              <a:rPr lang="fr-FR" sz="2400" b="1" dirty="0"/>
              <a:t>Cas simple : exemple de propagation des valeurs d’utilité (suite)</a:t>
            </a:r>
          </a:p>
        </p:txBody>
      </p:sp>
      <p:pic>
        <p:nvPicPr>
          <p:cNvPr id="5" name="Image 4" descr="Une image contenant diagramme, ligne&#10;&#10;Le contenu généré par l’IA peut être incorrect.">
            <a:extLst>
              <a:ext uri="{FF2B5EF4-FFF2-40B4-BE49-F238E27FC236}">
                <a16:creationId xmlns:a16="http://schemas.microsoft.com/office/drawing/2014/main" id="{546EFA65-28F2-0595-8C37-F8CC214D56CE}"/>
              </a:ext>
            </a:extLst>
          </p:cNvPr>
          <p:cNvPicPr>
            <a:picLocks noChangeAspect="1"/>
          </p:cNvPicPr>
          <p:nvPr/>
        </p:nvPicPr>
        <p:blipFill>
          <a:blip r:embed="rId3"/>
          <a:stretch>
            <a:fillRect/>
          </a:stretch>
        </p:blipFill>
        <p:spPr>
          <a:xfrm>
            <a:off x="1067595" y="2211121"/>
            <a:ext cx="10080000" cy="4646879"/>
          </a:xfrm>
          <a:prstGeom prst="rect">
            <a:avLst/>
          </a:prstGeom>
        </p:spPr>
      </p:pic>
    </p:spTree>
    <p:extLst>
      <p:ext uri="{BB962C8B-B14F-4D97-AF65-F5344CB8AC3E}">
        <p14:creationId xmlns:p14="http://schemas.microsoft.com/office/powerpoint/2010/main" val="20127942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FC8D6-6763-1D1A-1588-4AF0AC97D5E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09F9180-B6BD-0307-A259-3829715E1A17}"/>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E9C181E5-B6D9-E78D-085B-D8D47BF8D258}"/>
              </a:ext>
            </a:extLst>
          </p:cNvPr>
          <p:cNvSpPr txBox="1"/>
          <p:nvPr/>
        </p:nvSpPr>
        <p:spPr>
          <a:xfrm>
            <a:off x="844826" y="1431230"/>
            <a:ext cx="10525539" cy="461665"/>
          </a:xfrm>
          <a:prstGeom prst="rect">
            <a:avLst/>
          </a:prstGeom>
          <a:noFill/>
        </p:spPr>
        <p:txBody>
          <a:bodyPr wrap="square" rtlCol="0">
            <a:spAutoFit/>
          </a:bodyPr>
          <a:lstStyle/>
          <a:p>
            <a:r>
              <a:rPr lang="fr-FR" sz="2400" b="1" dirty="0"/>
              <a:t>Cas simple : exemple de propagation des valeurs d’utilité (suite)</a:t>
            </a:r>
          </a:p>
        </p:txBody>
      </p:sp>
      <p:pic>
        <p:nvPicPr>
          <p:cNvPr id="5" name="Image 4" descr="Une image contenant ligne, diagramme&#10;&#10;Le contenu généré par l’IA peut être incorrect.">
            <a:extLst>
              <a:ext uri="{FF2B5EF4-FFF2-40B4-BE49-F238E27FC236}">
                <a16:creationId xmlns:a16="http://schemas.microsoft.com/office/drawing/2014/main" id="{A32CA06F-E050-9884-682C-7E09C56A7B9C}"/>
              </a:ext>
            </a:extLst>
          </p:cNvPr>
          <p:cNvPicPr>
            <a:picLocks noChangeAspect="1"/>
          </p:cNvPicPr>
          <p:nvPr/>
        </p:nvPicPr>
        <p:blipFill>
          <a:blip r:embed="rId3"/>
          <a:stretch>
            <a:fillRect/>
          </a:stretch>
        </p:blipFill>
        <p:spPr>
          <a:xfrm>
            <a:off x="1067595" y="1969200"/>
            <a:ext cx="10080000" cy="4888800"/>
          </a:xfrm>
          <a:prstGeom prst="rect">
            <a:avLst/>
          </a:prstGeom>
        </p:spPr>
      </p:pic>
    </p:spTree>
    <p:extLst>
      <p:ext uri="{BB962C8B-B14F-4D97-AF65-F5344CB8AC3E}">
        <p14:creationId xmlns:p14="http://schemas.microsoft.com/office/powerpoint/2010/main" val="6006785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599FD-A084-0CEA-63F9-91C1AB67668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60B32CF-10E3-8555-A1F6-8E8F8E07A9C3}"/>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475DB798-A1F3-CD4A-DA15-28F70FDA0972}"/>
                  </a:ext>
                </a:extLst>
              </p:cNvPr>
              <p:cNvSpPr txBox="1"/>
              <p:nvPr/>
            </p:nvSpPr>
            <p:spPr>
              <a:xfrm>
                <a:off x="844826" y="1431230"/>
                <a:ext cx="10525539" cy="3046988"/>
              </a:xfrm>
              <a:prstGeom prst="rect">
                <a:avLst/>
              </a:prstGeom>
              <a:noFill/>
            </p:spPr>
            <p:txBody>
              <a:bodyPr wrap="square" rtlCol="0">
                <a:spAutoFit/>
              </a:bodyPr>
              <a:lstStyle/>
              <a:p>
                <a:r>
                  <a:rPr lang="fr-FR" sz="2400" b="1" dirty="0"/>
                  <a:t>Cas simple : principe (suite)</a:t>
                </a:r>
              </a:p>
              <a:p>
                <a:endParaRPr lang="fr-FR" sz="2400" dirty="0"/>
              </a:p>
              <a:p>
                <a:pPr marL="342900" indent="-342900">
                  <a:buFont typeface="Arial" panose="020B0604020202020204" pitchFamily="34" charset="0"/>
                  <a:buChar char="•"/>
                </a:pPr>
                <a:r>
                  <a:rPr lang="fr-FR" sz="2400" dirty="0"/>
                  <a:t>Une fois la propagation des valeurs d’utilité terminée, le premier joueur n’a plus qu’à choisir le coup correspondant à la valeur maximale.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Dans l’exemple précédent il s’agissait du coup conduisant à la valeur </a:t>
                </a:r>
                <a14:m>
                  <m:oMath xmlns:m="http://schemas.openxmlformats.org/officeDocument/2006/math">
                    <m:r>
                      <a:rPr lang="fr-FR" sz="2400" b="0" i="1" smtClean="0">
                        <a:latin typeface="Cambria Math" panose="02040503050406030204" pitchFamily="18" charset="0"/>
                      </a:rPr>
                      <m:t>5</m:t>
                    </m:r>
                  </m:oMath>
                </a14:m>
                <a:r>
                  <a:rPr lang="fr-FR" sz="2400" dirty="0"/>
                  <a:t>, c’est-à-dire du coup “de gauche“.</a:t>
                </a:r>
              </a:p>
            </p:txBody>
          </p:sp>
        </mc:Choice>
        <mc:Fallback xmlns="">
          <p:sp>
            <p:nvSpPr>
              <p:cNvPr id="3" name="ZoneTexte 2">
                <a:extLst>
                  <a:ext uri="{FF2B5EF4-FFF2-40B4-BE49-F238E27FC236}">
                    <a16:creationId xmlns:a16="http://schemas.microsoft.com/office/drawing/2014/main" id="{475DB798-A1F3-CD4A-DA15-28F70FDA0972}"/>
                  </a:ext>
                </a:extLst>
              </p:cNvPr>
              <p:cNvSpPr txBox="1">
                <a:spLocks noRot="1" noChangeAspect="1" noMove="1" noResize="1" noEditPoints="1" noAdjustHandles="1" noChangeArrowheads="1" noChangeShapeType="1" noTextEdit="1"/>
              </p:cNvSpPr>
              <p:nvPr/>
            </p:nvSpPr>
            <p:spPr>
              <a:xfrm>
                <a:off x="844826" y="1431230"/>
                <a:ext cx="10525539" cy="3046988"/>
              </a:xfrm>
              <a:prstGeom prst="rect">
                <a:avLst/>
              </a:prstGeom>
              <a:blipFill>
                <a:blip r:embed="rId2"/>
                <a:stretch>
                  <a:fillRect l="-843" t="-1660" r="-120" b="-3320"/>
                </a:stretch>
              </a:blipFill>
            </p:spPr>
            <p:txBody>
              <a:bodyPr/>
              <a:lstStyle/>
              <a:p>
                <a:r>
                  <a:rPr lang="fr-FR">
                    <a:noFill/>
                  </a:rPr>
                  <a:t> </a:t>
                </a:r>
              </a:p>
            </p:txBody>
          </p:sp>
        </mc:Fallback>
      </mc:AlternateContent>
      <p:pic>
        <p:nvPicPr>
          <p:cNvPr id="5" name="Graphique 4" descr="Tableau décisionnel avec un remplissage uni">
            <a:extLst>
              <a:ext uri="{FF2B5EF4-FFF2-40B4-BE49-F238E27FC236}">
                <a16:creationId xmlns:a16="http://schemas.microsoft.com/office/drawing/2014/main" id="{D69027F3-C63D-D935-D6F9-8D9654E79D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6906658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0321C-CF62-9F26-306B-C01904ABE98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ED5D5E-47F3-4F18-BA54-3162DC218B0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5139A12B-BA94-3163-0DF8-877FA6191922}"/>
                  </a:ext>
                </a:extLst>
              </p:cNvPr>
              <p:cNvSpPr txBox="1"/>
              <p:nvPr/>
            </p:nvSpPr>
            <p:spPr>
              <a:xfrm>
                <a:off x="844826" y="1431230"/>
                <a:ext cx="10525539" cy="3970318"/>
              </a:xfrm>
              <a:prstGeom prst="rect">
                <a:avLst/>
              </a:prstGeom>
              <a:noFill/>
            </p:spPr>
            <p:txBody>
              <a:bodyPr wrap="square" rtlCol="0">
                <a:spAutoFit/>
              </a:bodyPr>
              <a:lstStyle/>
              <a:p>
                <a:r>
                  <a:rPr lang="fr-FR" sz="2400" b="1" dirty="0"/>
                  <a:t>Cas simple : pseudo-code</a:t>
                </a:r>
              </a:p>
              <a:p>
                <a:endParaRPr lang="fr-FR" sz="2400" dirty="0"/>
              </a:p>
              <a:p>
                <a:endParaRPr lang="fr-FR" sz="2400" dirty="0"/>
              </a:p>
              <a:p>
                <a:r>
                  <a:rPr lang="fr-FR" sz="2000" dirty="0"/>
                  <a:t>FONCTION </a:t>
                </a:r>
                <a14:m>
                  <m:oMath xmlns:m="http://schemas.openxmlformats.org/officeDocument/2006/math">
                    <m:r>
                      <m:rPr>
                        <m:nor/>
                      </m:rPr>
                      <a:rPr lang="fr-FR" sz="2000" i="0" dirty="0" smtClean="0">
                        <a:latin typeface="Cambria Math" panose="02040503050406030204" pitchFamily="18" charset="0"/>
                      </a:rPr>
                      <m:t>utilit</m:t>
                    </m:r>
                    <m:r>
                      <m:rPr>
                        <m:nor/>
                      </m:rPr>
                      <a:rPr lang="fr-FR" sz="2000" i="0" dirty="0" smtClean="0">
                        <a:latin typeface="Cambria Math" panose="02040503050406030204" pitchFamily="18" charset="0"/>
                      </a:rPr>
                      <m:t>é</m:t>
                    </m:r>
                    <m:r>
                      <a:rPr lang="fr-FR" sz="2000" i="1" dirty="0" smtClean="0">
                        <a:latin typeface="Cambria Math" panose="02040503050406030204" pitchFamily="18" charset="0"/>
                      </a:rPr>
                      <m:t>(</m:t>
                    </m:r>
                    <m:r>
                      <a:rPr lang="fr-FR" sz="2000" i="1" dirty="0">
                        <a:latin typeface="Cambria Math" panose="02040503050406030204" pitchFamily="18" charset="0"/>
                      </a:rPr>
                      <m:t>𝑗𝑒𝑢</m:t>
                    </m:r>
                    <m:r>
                      <a:rPr lang="fr-FR" sz="2000" i="1" dirty="0">
                        <a:latin typeface="Cambria Math" panose="02040503050406030204" pitchFamily="18" charset="0"/>
                      </a:rPr>
                      <m:t>, </m:t>
                    </m:r>
                    <m:r>
                      <a:rPr lang="fr-FR" sz="2000" i="1" dirty="0">
                        <a:latin typeface="Cambria Math" panose="02040503050406030204" pitchFamily="18" charset="0"/>
                      </a:rPr>
                      <m:t>𝑝𝑜𝑠𝑖𝑡𝑖𝑜𝑛</m:t>
                    </m:r>
                    <m:r>
                      <a:rPr lang="fr-FR" sz="2000" i="1" dirty="0">
                        <a:latin typeface="Cambria Math" panose="02040503050406030204" pitchFamily="18" charset="0"/>
                      </a:rPr>
                      <m:t>, </m:t>
                    </m:r>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m:t>
                    </m:r>
                  </m:oMath>
                </a14:m>
                <a:endParaRPr lang="fr-FR" sz="2000" dirty="0"/>
              </a:p>
              <a:p>
                <a:r>
                  <a:rPr lang="fr-FR" sz="2000" dirty="0"/>
                  <a:t>	# retourne l’utilité de </a:t>
                </a:r>
                <a14:m>
                  <m:oMath xmlns:m="http://schemas.openxmlformats.org/officeDocument/2006/math">
                    <m:r>
                      <a:rPr lang="fr-FR" sz="2000" i="1" dirty="0" smtClean="0">
                        <a:latin typeface="Cambria Math" panose="02040503050406030204" pitchFamily="18" charset="0"/>
                      </a:rPr>
                      <m:t>𝑝𝑜𝑠𝑖𝑡𝑖𝑜𝑛</m:t>
                    </m:r>
                  </m:oMath>
                </a14:m>
                <a:r>
                  <a:rPr lang="fr-FR" sz="2000" dirty="0"/>
                  <a:t> en se plaçant du point de vue du premier </a:t>
                </a:r>
              </a:p>
              <a:p>
                <a:r>
                  <a:rPr lang="fr-FR" sz="2000" dirty="0"/>
                  <a:t>	# joueur (même si c’est à son adversaire de jouer)</a:t>
                </a:r>
              </a:p>
              <a:p>
                <a:endParaRPr lang="fr-FR" sz="2000" dirty="0"/>
              </a:p>
              <a:p>
                <a:endParaRPr lang="fr-FR" sz="2000" dirty="0"/>
              </a:p>
              <a:p>
                <a:r>
                  <a:rPr lang="fr-FR" sz="2000" dirty="0"/>
                  <a:t>FONCTION </a:t>
                </a:r>
                <a14:m>
                  <m:oMath xmlns:m="http://schemas.openxmlformats.org/officeDocument/2006/math">
                    <m:r>
                      <m:rPr>
                        <m:nor/>
                      </m:rPr>
                      <a:rPr lang="fr-FR" sz="2000" i="0" dirty="0" smtClean="0">
                        <a:latin typeface="Cambria Math" panose="02040503050406030204" pitchFamily="18" charset="0"/>
                      </a:rPr>
                      <m:t>min</m:t>
                    </m:r>
                    <m:r>
                      <m:rPr>
                        <m:nor/>
                      </m:rPr>
                      <a:rPr lang="fr-FR" sz="2000" i="0" dirty="0" err="1" smtClean="0">
                        <a:latin typeface="Cambria Math" panose="02040503050406030204" pitchFamily="18" charset="0"/>
                      </a:rPr>
                      <m:t>Max</m:t>
                    </m:r>
                    <m:r>
                      <a:rPr lang="fr-FR" sz="2000" i="1" dirty="0" smtClean="0">
                        <a:latin typeface="Cambria Math" panose="02040503050406030204" pitchFamily="18" charset="0"/>
                      </a:rPr>
                      <m:t>(</m:t>
                    </m:r>
                    <m:r>
                      <a:rPr lang="fr-FR" sz="2000" i="1" dirty="0" smtClean="0">
                        <a:latin typeface="Cambria Math" panose="02040503050406030204" pitchFamily="18" charset="0"/>
                      </a:rPr>
                      <m:t>𝑗𝑒𝑢</m:t>
                    </m:r>
                    <m:r>
                      <a:rPr lang="fr-FR" sz="2000" i="1" dirty="0" smtClean="0">
                        <a:latin typeface="Cambria Math" panose="02040503050406030204" pitchFamily="18" charset="0"/>
                      </a:rPr>
                      <m:t>, </m:t>
                    </m:r>
                    <m:r>
                      <a:rPr lang="fr-FR" sz="2000" i="1" dirty="0" smtClean="0">
                        <a:latin typeface="Cambria Math" panose="02040503050406030204" pitchFamily="18" charset="0"/>
                      </a:rPr>
                      <m:t>𝑝𝑜𝑠𝑖𝑡𝑖𝑜𝑛</m:t>
                    </m:r>
                    <m:r>
                      <a:rPr lang="fr-FR" sz="2000" i="1" dirty="0" smtClean="0">
                        <a:latin typeface="Cambria Math" panose="02040503050406030204" pitchFamily="18" charset="0"/>
                      </a:rPr>
                      <m:t>, </m:t>
                    </m:r>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m:t>
                    </m:r>
                  </m:oMath>
                </a14:m>
                <a:endParaRPr lang="fr-FR" sz="2000" dirty="0"/>
              </a:p>
              <a:p>
                <a:r>
                  <a:rPr lang="fr-FR" sz="2000" dirty="0"/>
                  <a:t>	SI </a:t>
                </a:r>
                <a14:m>
                  <m:oMath xmlns:m="http://schemas.openxmlformats.org/officeDocument/2006/math">
                    <m:r>
                      <a:rPr lang="fr-FR" sz="2000" i="1" dirty="0" smtClean="0">
                        <a:latin typeface="Cambria Math" panose="02040503050406030204" pitchFamily="18" charset="0"/>
                      </a:rPr>
                      <m:t>𝑝𝑜𝑠𝑖𝑡𝑖𝑜𝑛</m:t>
                    </m:r>
                  </m:oMath>
                </a14:m>
                <a:r>
                  <a:rPr lang="fr-FR" sz="2000" dirty="0"/>
                  <a:t> est finale ALORS</a:t>
                </a:r>
              </a:p>
              <a:p>
                <a:r>
                  <a:rPr lang="fr-FR" sz="2000" dirty="0"/>
                  <a:t>		RETOURNER </a:t>
                </a:r>
                <a14:m>
                  <m:oMath xmlns:m="http://schemas.openxmlformats.org/officeDocument/2006/math">
                    <m:r>
                      <m:rPr>
                        <m:nor/>
                      </m:rPr>
                      <a:rPr lang="fr-FR" sz="2000" i="0" dirty="0" smtClean="0">
                        <a:latin typeface="Cambria Math" panose="02040503050406030204" pitchFamily="18" charset="0"/>
                      </a:rPr>
                      <m:t>utilit</m:t>
                    </m:r>
                    <m:r>
                      <m:rPr>
                        <m:nor/>
                      </m:rPr>
                      <a:rPr lang="fr-FR" sz="2000" i="0" dirty="0" smtClean="0">
                        <a:latin typeface="Cambria Math" panose="02040503050406030204" pitchFamily="18" charset="0"/>
                      </a:rPr>
                      <m:t>é</m:t>
                    </m:r>
                    <m:r>
                      <a:rPr lang="fr-FR" sz="2000" i="1" dirty="0" smtClean="0">
                        <a:latin typeface="Cambria Math" panose="02040503050406030204" pitchFamily="18" charset="0"/>
                      </a:rPr>
                      <m:t>(</m:t>
                    </m:r>
                    <m:r>
                      <a:rPr lang="fr-FR" sz="2000" i="1" dirty="0" smtClean="0">
                        <a:latin typeface="Cambria Math" panose="02040503050406030204" pitchFamily="18" charset="0"/>
                      </a:rPr>
                      <m:t>𝑗𝑒𝑢</m:t>
                    </m:r>
                    <m:r>
                      <a:rPr lang="fr-FR" sz="2000" i="1" dirty="0" smtClean="0">
                        <a:latin typeface="Cambria Math" panose="02040503050406030204" pitchFamily="18" charset="0"/>
                      </a:rPr>
                      <m:t>, </m:t>
                    </m:r>
                    <m:r>
                      <a:rPr lang="fr-FR" sz="2000" i="1" dirty="0" smtClean="0">
                        <a:latin typeface="Cambria Math" panose="02040503050406030204" pitchFamily="18" charset="0"/>
                      </a:rPr>
                      <m:t>𝑝𝑜𝑠𝑖𝑡𝑖𝑜𝑛</m:t>
                    </m:r>
                    <m:r>
                      <a:rPr lang="fr-FR" sz="2000" i="1" dirty="0" smtClean="0">
                        <a:latin typeface="Cambria Math" panose="02040503050406030204" pitchFamily="18" charset="0"/>
                      </a:rPr>
                      <m:t>, </m:t>
                    </m:r>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 </m:t>
                    </m:r>
                    <m:r>
                      <m:rPr>
                        <m:nor/>
                      </m:rPr>
                      <a:rPr lang="fr-FR" sz="2000" i="0" dirty="0" smtClean="0">
                        <a:latin typeface="Cambria Math" panose="02040503050406030204" pitchFamily="18" charset="0"/>
                      </a:rPr>
                      <m:t>None</m:t>
                    </m:r>
                  </m:oMath>
                </a14:m>
                <a:endParaRPr lang="fr-FR" sz="2000" dirty="0"/>
              </a:p>
              <a:p>
                <a:r>
                  <a:rPr lang="fr-FR" sz="2000" dirty="0"/>
                  <a:t>	…</a:t>
                </a:r>
              </a:p>
            </p:txBody>
          </p:sp>
        </mc:Choice>
        <mc:Fallback xmlns="">
          <p:sp>
            <p:nvSpPr>
              <p:cNvPr id="3" name="ZoneTexte 2">
                <a:extLst>
                  <a:ext uri="{FF2B5EF4-FFF2-40B4-BE49-F238E27FC236}">
                    <a16:creationId xmlns:a16="http://schemas.microsoft.com/office/drawing/2014/main" id="{5139A12B-BA94-3163-0DF8-877FA6191922}"/>
                  </a:ext>
                </a:extLst>
              </p:cNvPr>
              <p:cNvSpPr txBox="1">
                <a:spLocks noRot="1" noChangeAspect="1" noMove="1" noResize="1" noEditPoints="1" noAdjustHandles="1" noChangeArrowheads="1" noChangeShapeType="1" noTextEdit="1"/>
              </p:cNvSpPr>
              <p:nvPr/>
            </p:nvSpPr>
            <p:spPr>
              <a:xfrm>
                <a:off x="844826" y="1431230"/>
                <a:ext cx="10525539" cy="3970318"/>
              </a:xfrm>
              <a:prstGeom prst="rect">
                <a:avLst/>
              </a:prstGeom>
              <a:blipFill>
                <a:blip r:embed="rId3"/>
                <a:stretch>
                  <a:fillRect l="-843" t="-1274" b="-1592"/>
                </a:stretch>
              </a:blipFill>
            </p:spPr>
            <p:txBody>
              <a:bodyPr/>
              <a:lstStyle/>
              <a:p>
                <a:r>
                  <a:rPr lang="fr-FR">
                    <a:noFill/>
                  </a:rPr>
                  <a:t> </a:t>
                </a:r>
              </a:p>
            </p:txBody>
          </p:sp>
        </mc:Fallback>
      </mc:AlternateContent>
    </p:spTree>
    <p:extLst>
      <p:ext uri="{BB962C8B-B14F-4D97-AF65-F5344CB8AC3E}">
        <p14:creationId xmlns:p14="http://schemas.microsoft.com/office/powerpoint/2010/main" val="11826465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1B08E-4471-E765-E072-52FDBE6D7B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31218C3-B864-6A7E-BE6A-C874FC57D56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F86985B6-82FF-F796-6DC1-DA78E5F5BCB9}"/>
                  </a:ext>
                </a:extLst>
              </p:cNvPr>
              <p:cNvSpPr txBox="1"/>
              <p:nvPr/>
            </p:nvSpPr>
            <p:spPr>
              <a:xfrm>
                <a:off x="844826" y="1431230"/>
                <a:ext cx="10525539" cy="4278094"/>
              </a:xfrm>
              <a:prstGeom prst="rect">
                <a:avLst/>
              </a:prstGeom>
              <a:noFill/>
            </p:spPr>
            <p:txBody>
              <a:bodyPr wrap="square" rtlCol="0">
                <a:spAutoFit/>
              </a:bodyPr>
              <a:lstStyle/>
              <a:p>
                <a:r>
                  <a:rPr lang="fr-FR" sz="2400" b="1" dirty="0"/>
                  <a:t>Cas simple : pseudo-code (suite)</a:t>
                </a:r>
              </a:p>
              <a:p>
                <a:endParaRPr lang="fr-FR" sz="2400" dirty="0"/>
              </a:p>
              <a:p>
                <a:endParaRPr lang="fr-FR" sz="2400" dirty="0"/>
              </a:p>
              <a:p>
                <a:r>
                  <a:rPr lang="fr-FR" sz="2000" dirty="0"/>
                  <a:t>SINON SI </a:t>
                </a:r>
                <a14:m>
                  <m:oMath xmlns:m="http://schemas.openxmlformats.org/officeDocument/2006/math">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==1</m:t>
                    </m:r>
                  </m:oMath>
                </a14:m>
                <a:r>
                  <a:rPr lang="fr-FR" sz="2000" dirty="0"/>
                  <a:t> ALORS</a:t>
                </a:r>
              </a:p>
              <a:p>
                <a:r>
                  <a:rPr lang="fr-FR" sz="2000" dirty="0"/>
                  <a:t>	</a:t>
                </a:r>
                <a14:m>
                  <m:oMath xmlns:m="http://schemas.openxmlformats.org/officeDocument/2006/math">
                    <m:r>
                      <a:rPr lang="fr-FR" sz="2000" i="1" dirty="0" smtClean="0">
                        <a:latin typeface="Cambria Math" panose="02040503050406030204" pitchFamily="18" charset="0"/>
                      </a:rPr>
                      <m:t>𝑣𝑎𝑙𝑒𝑢𝑟𝑀𝑎𝑥𝑖</m:t>
                    </m:r>
                    <m:r>
                      <a:rPr lang="fr-FR" sz="2000" i="1" dirty="0" smtClean="0">
                        <a:latin typeface="Cambria Math" panose="02040503050406030204" pitchFamily="18" charset="0"/>
                        <a:ea typeface="Cambria Math" panose="02040503050406030204" pitchFamily="18" charset="0"/>
                      </a:rPr>
                      <m:t>←</m:t>
                    </m:r>
                    <m:r>
                      <a:rPr lang="fr-FR" sz="2000" b="0" i="1" dirty="0" smtClean="0">
                        <a:latin typeface="Cambria Math" panose="02040503050406030204" pitchFamily="18" charset="0"/>
                      </a:rPr>
                      <m:t>−∞</m:t>
                    </m:r>
                  </m:oMath>
                </a14:m>
                <a:r>
                  <a:rPr lang="fr-FR" sz="2000" dirty="0"/>
                  <a:t> </a:t>
                </a:r>
              </a:p>
              <a:p>
                <a:r>
                  <a:rPr lang="fr-FR" sz="2000" dirty="0"/>
                  <a:t>	</a:t>
                </a:r>
                <a14:m>
                  <m:oMath xmlns:m="http://schemas.openxmlformats.org/officeDocument/2006/math">
                    <m:r>
                      <a:rPr lang="fr-FR" sz="2000" i="1" dirty="0" smtClean="0">
                        <a:latin typeface="Cambria Math" panose="02040503050406030204" pitchFamily="18" charset="0"/>
                      </a:rPr>
                      <m:t>𝑐𝑜𝑢𝑝𝑀𝑎𝑥𝑖</m:t>
                    </m:r>
                    <m:r>
                      <a:rPr lang="fr-FR" sz="2000" i="1" dirty="0">
                        <a:latin typeface="Cambria Math" panose="02040503050406030204" pitchFamily="18" charset="0"/>
                        <a:ea typeface="Cambria Math" panose="02040503050406030204" pitchFamily="18" charset="0"/>
                      </a:rPr>
                      <m:t>←</m:t>
                    </m:r>
                    <m:r>
                      <m:rPr>
                        <m:nor/>
                      </m:rPr>
                      <a:rPr lang="fr-FR" sz="2000" b="0" i="0" dirty="0" smtClean="0">
                        <a:latin typeface="Cambria Math" panose="02040503050406030204" pitchFamily="18" charset="0"/>
                        <a:ea typeface="Cambria Math" panose="02040503050406030204" pitchFamily="18" charset="0"/>
                      </a:rPr>
                      <m:t>None</m:t>
                    </m:r>
                    <m:r>
                      <a:rPr lang="fr-FR" sz="2000" i="1" dirty="0">
                        <a:latin typeface="Cambria Math" panose="02040503050406030204" pitchFamily="18" charset="0"/>
                      </a:rPr>
                      <m:t> </m:t>
                    </m:r>
                  </m:oMath>
                </a14:m>
                <a:endParaRPr lang="fr-FR" sz="2000" dirty="0"/>
              </a:p>
              <a:p>
                <a:r>
                  <a:rPr lang="fr-FR" sz="2000" dirty="0"/>
                  <a:t>	POUR TOUT </a:t>
                </a:r>
                <a14:m>
                  <m:oMath xmlns:m="http://schemas.openxmlformats.org/officeDocument/2006/math">
                    <m:r>
                      <a:rPr lang="fr-FR" sz="2000" i="1" dirty="0" smtClean="0">
                        <a:latin typeface="Cambria Math" panose="02040503050406030204" pitchFamily="18" charset="0"/>
                      </a:rPr>
                      <m:t>𝑐𝑜𝑢𝑝</m:t>
                    </m:r>
                  </m:oMath>
                </a14:m>
                <a:r>
                  <a:rPr lang="fr-FR" sz="2000" dirty="0"/>
                  <a:t> possible par </a:t>
                </a:r>
                <a14:m>
                  <m:oMath xmlns:m="http://schemas.openxmlformats.org/officeDocument/2006/math">
                    <m:r>
                      <a:rPr lang="fr-FR" sz="2000" b="0" i="1" smtClean="0">
                        <a:latin typeface="Cambria Math" panose="02040503050406030204" pitchFamily="18" charset="0"/>
                      </a:rPr>
                      <m:t>𝑗𝑜𝑢𝑒𝑢𝑟</m:t>
                    </m:r>
                  </m:oMath>
                </a14:m>
                <a:r>
                  <a:rPr lang="fr-FR" sz="2000" dirty="0"/>
                  <a:t> depuis </a:t>
                </a:r>
                <a14:m>
                  <m:oMath xmlns:m="http://schemas.openxmlformats.org/officeDocument/2006/math">
                    <m:r>
                      <a:rPr lang="fr-FR" sz="2000" b="0" i="1" smtClean="0">
                        <a:latin typeface="Cambria Math" panose="02040503050406030204" pitchFamily="18" charset="0"/>
                      </a:rPr>
                      <m:t>𝑝𝑜𝑠𝑖𝑡𝑖𝑜𝑛</m:t>
                    </m:r>
                  </m:oMath>
                </a14:m>
                <a:r>
                  <a:rPr lang="fr-FR" sz="2000" dirty="0"/>
                  <a:t> FAIRE</a:t>
                </a:r>
              </a:p>
              <a:p>
                <a:r>
                  <a:rPr lang="fr-FR" sz="2000" dirty="0"/>
                  <a:t>		</a:t>
                </a:r>
                <a14:m>
                  <m:oMath xmlns:m="http://schemas.openxmlformats.org/officeDocument/2006/math">
                    <m:r>
                      <a:rPr lang="fr-FR" sz="2000" i="1" dirty="0" smtClean="0">
                        <a:latin typeface="Cambria Math" panose="02040503050406030204" pitchFamily="18" charset="0"/>
                      </a:rPr>
                      <m:t>𝑝𝑜𝑠𝑖𝑡𝑖𝑜𝑛𝑁𝑜𝑢𝑣𝑒𝑙𝑙𝑒</m:t>
                    </m:r>
                    <m:r>
                      <a:rPr lang="fr-FR" sz="2000" i="1" dirty="0" smtClean="0">
                        <a:latin typeface="Cambria Math" panose="02040503050406030204" pitchFamily="18" charset="0"/>
                        <a:ea typeface="Cambria Math" panose="02040503050406030204" pitchFamily="18" charset="0"/>
                      </a:rPr>
                      <m:t>←</m:t>
                    </m:r>
                    <m:r>
                      <m:rPr>
                        <m:nor/>
                      </m:rPr>
                      <a:rPr lang="fr-FR" sz="2000" i="0" dirty="0" err="1" smtClean="0">
                        <a:latin typeface="Cambria Math" panose="02040503050406030204" pitchFamily="18" charset="0"/>
                      </a:rPr>
                      <m:t>joueCoup</m:t>
                    </m:r>
                    <m:r>
                      <a:rPr lang="fr-FR" sz="2000" i="1" dirty="0" smtClean="0">
                        <a:latin typeface="Cambria Math" panose="02040503050406030204" pitchFamily="18" charset="0"/>
                      </a:rPr>
                      <m:t>(</m:t>
                    </m:r>
                    <m:r>
                      <a:rPr lang="fr-FR" sz="2000" i="1" dirty="0" smtClean="0">
                        <a:latin typeface="Cambria Math" panose="02040503050406030204" pitchFamily="18" charset="0"/>
                      </a:rPr>
                      <m:t>𝑗𝑒𝑢</m:t>
                    </m:r>
                    <m:r>
                      <a:rPr lang="fr-FR" sz="2000" i="1" dirty="0" smtClean="0">
                        <a:latin typeface="Cambria Math" panose="02040503050406030204" pitchFamily="18" charset="0"/>
                      </a:rPr>
                      <m:t>, </m:t>
                    </m:r>
                    <m:r>
                      <a:rPr lang="fr-FR" sz="2000" i="1" dirty="0" smtClean="0">
                        <a:latin typeface="Cambria Math" panose="02040503050406030204" pitchFamily="18" charset="0"/>
                      </a:rPr>
                      <m:t>𝑝𝑜𝑠𝑖𝑡𝑖𝑜𝑛</m:t>
                    </m:r>
                    <m:r>
                      <a:rPr lang="fr-FR" sz="2000" i="1" dirty="0" smtClean="0">
                        <a:latin typeface="Cambria Math" panose="02040503050406030204" pitchFamily="18" charset="0"/>
                      </a:rPr>
                      <m:t>, </m:t>
                    </m:r>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 </m:t>
                    </m:r>
                    <m:r>
                      <a:rPr lang="fr-FR" sz="2000" i="1" dirty="0" smtClean="0">
                        <a:latin typeface="Cambria Math" panose="02040503050406030204" pitchFamily="18" charset="0"/>
                      </a:rPr>
                      <m:t>𝑐𝑜𝑢𝑝</m:t>
                    </m:r>
                    <m:r>
                      <a:rPr lang="fr-FR" sz="2000" i="1" dirty="0" smtClean="0">
                        <a:latin typeface="Cambria Math" panose="02040503050406030204" pitchFamily="18" charset="0"/>
                      </a:rPr>
                      <m:t>)</m:t>
                    </m:r>
                  </m:oMath>
                </a14:m>
                <a:endParaRPr lang="fr-FR" sz="2000" dirty="0"/>
              </a:p>
              <a:p>
                <a:r>
                  <a:rPr lang="fr-FR" sz="2000" dirty="0"/>
                  <a:t>		</a:t>
                </a:r>
                <a14:m>
                  <m:oMath xmlns:m="http://schemas.openxmlformats.org/officeDocument/2006/math">
                    <m:r>
                      <a:rPr lang="fr-FR" sz="2000" i="1" dirty="0" smtClean="0">
                        <a:latin typeface="Cambria Math" panose="02040503050406030204" pitchFamily="18" charset="0"/>
                      </a:rPr>
                      <m:t>𝑣𝑎𝑙𝑒𝑢𝑟</m:t>
                    </m:r>
                    <m:r>
                      <a:rPr lang="fr-FR" sz="2000" i="1" dirty="0" smtClean="0">
                        <a:latin typeface="Cambria Math" panose="02040503050406030204" pitchFamily="18" charset="0"/>
                      </a:rPr>
                      <m:t>, </m:t>
                    </m:r>
                    <m:r>
                      <a:rPr lang="fr-FR" sz="2000" i="1" dirty="0" smtClean="0">
                        <a:latin typeface="Cambria Math" panose="02040503050406030204" pitchFamily="18" charset="0"/>
                      </a:rPr>
                      <m:t>𝑐𝑜𝑢𝑝</m:t>
                    </m:r>
                    <m:r>
                      <a:rPr lang="fr-FR" sz="2000" i="1" dirty="0" smtClean="0">
                        <a:latin typeface="Cambria Math" panose="02040503050406030204" pitchFamily="18" charset="0"/>
                        <a:ea typeface="Cambria Math" panose="02040503050406030204" pitchFamily="18" charset="0"/>
                      </a:rPr>
                      <m:t>←</m:t>
                    </m:r>
                    <m:r>
                      <m:rPr>
                        <m:nor/>
                      </m:rPr>
                      <a:rPr lang="fr-FR" sz="2000" i="0" dirty="0" err="1">
                        <a:latin typeface="Cambria Math" panose="02040503050406030204" pitchFamily="18" charset="0"/>
                      </a:rPr>
                      <m:t>minMax</m:t>
                    </m:r>
                    <m:r>
                      <a:rPr lang="fr-FR" sz="2000" i="1" dirty="0">
                        <a:latin typeface="Cambria Math" panose="02040503050406030204" pitchFamily="18" charset="0"/>
                      </a:rPr>
                      <m:t>(</m:t>
                    </m:r>
                    <m:r>
                      <a:rPr lang="fr-FR" sz="2000" i="1" dirty="0">
                        <a:latin typeface="Cambria Math" panose="02040503050406030204" pitchFamily="18" charset="0"/>
                      </a:rPr>
                      <m:t>𝑗𝑒𝑢</m:t>
                    </m:r>
                    <m:r>
                      <a:rPr lang="fr-FR" sz="2000" i="1" dirty="0">
                        <a:latin typeface="Cambria Math" panose="02040503050406030204" pitchFamily="18" charset="0"/>
                      </a:rPr>
                      <m:t>, </m:t>
                    </m:r>
                    <m:r>
                      <a:rPr lang="fr-FR" sz="2000" i="1" dirty="0" err="1" smtClean="0">
                        <a:latin typeface="Cambria Math" panose="02040503050406030204" pitchFamily="18" charset="0"/>
                      </a:rPr>
                      <m:t>𝑝𝑜𝑠𝑖𝑡𝑖𝑜𝑛𝑁𝑜𝑢𝑣𝑒𝑙𝑙𝑒</m:t>
                    </m:r>
                    <m:r>
                      <a:rPr lang="fr-FR" sz="2000" i="1" dirty="0" smtClean="0">
                        <a:latin typeface="Cambria Math" panose="02040503050406030204" pitchFamily="18" charset="0"/>
                      </a:rPr>
                      <m:t>, </m:t>
                    </m:r>
                    <m:r>
                      <a:rPr lang="fr-FR" sz="2000" i="1" dirty="0" smtClean="0">
                        <a:latin typeface="Cambria Math" panose="02040503050406030204" pitchFamily="18" charset="0"/>
                      </a:rPr>
                      <m:t>𝑎𝑑𝑣𝑒𝑟𝑠𝑎𝑖𝑟𝑒</m:t>
                    </m:r>
                    <m:r>
                      <a:rPr lang="fr-FR" sz="2000" i="1" dirty="0" smtClean="0">
                        <a:latin typeface="Cambria Math" panose="02040503050406030204" pitchFamily="18" charset="0"/>
                      </a:rPr>
                      <m:t>)</m:t>
                    </m:r>
                  </m:oMath>
                </a14:m>
                <a:endParaRPr lang="fr-FR" sz="2000" dirty="0"/>
              </a:p>
              <a:p>
                <a:r>
                  <a:rPr lang="fr-FR" sz="2000" dirty="0"/>
                  <a:t>		SI </a:t>
                </a:r>
                <a14:m>
                  <m:oMath xmlns:m="http://schemas.openxmlformats.org/officeDocument/2006/math">
                    <m:r>
                      <a:rPr lang="fr-FR" sz="2000" i="1" dirty="0" smtClean="0">
                        <a:latin typeface="Cambria Math" panose="02040503050406030204" pitchFamily="18" charset="0"/>
                      </a:rPr>
                      <m:t>𝑣𝑎𝑙𝑒𝑢𝑟</m:t>
                    </m:r>
                    <m:r>
                      <a:rPr lang="fr-FR" sz="2000" i="1" dirty="0" smtClean="0">
                        <a:latin typeface="Cambria Math" panose="02040503050406030204" pitchFamily="18" charset="0"/>
                      </a:rPr>
                      <m:t>&gt;</m:t>
                    </m:r>
                    <m:r>
                      <a:rPr lang="fr-FR" sz="2000" i="1" dirty="0">
                        <a:latin typeface="Cambria Math" panose="02040503050406030204" pitchFamily="18" charset="0"/>
                      </a:rPr>
                      <m:t>𝑣𝑎𝑙𝑒𝑢𝑟𝑀𝑎𝑥𝑖</m:t>
                    </m:r>
                  </m:oMath>
                </a14:m>
                <a:r>
                  <a:rPr lang="fr-FR" sz="2000" dirty="0"/>
                  <a:t> ALORS</a:t>
                </a:r>
              </a:p>
              <a:p>
                <a:r>
                  <a:rPr lang="fr-FR" sz="2000" dirty="0"/>
                  <a:t>			</a:t>
                </a:r>
                <a14:m>
                  <m:oMath xmlns:m="http://schemas.openxmlformats.org/officeDocument/2006/math">
                    <m:r>
                      <a:rPr lang="fr-FR" sz="2000" i="1" dirty="0" smtClean="0">
                        <a:latin typeface="Cambria Math" panose="02040503050406030204" pitchFamily="18" charset="0"/>
                      </a:rPr>
                      <m:t>𝑣𝑎𝑙𝑒𝑢𝑟𝑀𝑎𝑥𝑖</m:t>
                    </m:r>
                    <m:r>
                      <a:rPr lang="fr-FR" sz="2000" i="1" dirty="0" smtClean="0">
                        <a:latin typeface="Cambria Math" panose="02040503050406030204" pitchFamily="18" charset="0"/>
                        <a:ea typeface="Cambria Math" panose="02040503050406030204" pitchFamily="18" charset="0"/>
                      </a:rPr>
                      <m:t>←</m:t>
                    </m:r>
                    <m:r>
                      <a:rPr lang="fr-FR" sz="2000" i="1" dirty="0" smtClean="0">
                        <a:latin typeface="Cambria Math" panose="02040503050406030204" pitchFamily="18" charset="0"/>
                      </a:rPr>
                      <m:t>𝑣𝑎𝑙𝑒𝑢𝑟</m:t>
                    </m:r>
                  </m:oMath>
                </a14:m>
                <a:endParaRPr lang="fr-FR" sz="2000" dirty="0"/>
              </a:p>
              <a:p>
                <a:r>
                  <a:rPr lang="fr-FR" sz="2000" dirty="0"/>
                  <a:t>			</a:t>
                </a:r>
                <a14:m>
                  <m:oMath xmlns:m="http://schemas.openxmlformats.org/officeDocument/2006/math">
                    <m:r>
                      <a:rPr lang="fr-FR" sz="2000" i="1" dirty="0" smtClean="0">
                        <a:latin typeface="Cambria Math" panose="02040503050406030204" pitchFamily="18" charset="0"/>
                      </a:rPr>
                      <m:t>𝑐𝑜𝑢𝑝𝑀𝑎𝑥𝑖</m:t>
                    </m:r>
                    <m:r>
                      <a:rPr lang="fr-FR" sz="2000" i="1" dirty="0" smtClean="0">
                        <a:latin typeface="Cambria Math" panose="02040503050406030204" pitchFamily="18" charset="0"/>
                        <a:ea typeface="Cambria Math" panose="02040503050406030204" pitchFamily="18" charset="0"/>
                      </a:rPr>
                      <m:t>←</m:t>
                    </m:r>
                    <m:r>
                      <a:rPr lang="fr-FR" sz="2000" i="1" dirty="0" smtClean="0">
                        <a:latin typeface="Cambria Math" panose="02040503050406030204" pitchFamily="18" charset="0"/>
                      </a:rPr>
                      <m:t>𝑐𝑜𝑢𝑝</m:t>
                    </m:r>
                  </m:oMath>
                </a14:m>
                <a:endParaRPr lang="fr-FR" sz="2000" dirty="0"/>
              </a:p>
              <a:p>
                <a:r>
                  <a:rPr lang="fr-FR" sz="2000" dirty="0"/>
                  <a:t>	RETOURNER </a:t>
                </a:r>
                <a14:m>
                  <m:oMath xmlns:m="http://schemas.openxmlformats.org/officeDocument/2006/math">
                    <m:r>
                      <a:rPr lang="fr-FR" sz="2000" i="1" dirty="0" smtClean="0">
                        <a:latin typeface="Cambria Math" panose="02040503050406030204" pitchFamily="18" charset="0"/>
                      </a:rPr>
                      <m:t>𝑣𝑎𝑙𝑒𝑢𝑟𝑀𝑎𝑥𝑖</m:t>
                    </m:r>
                    <m:r>
                      <a:rPr lang="fr-FR" sz="2000" i="1" dirty="0" smtClean="0">
                        <a:latin typeface="Cambria Math" panose="02040503050406030204" pitchFamily="18" charset="0"/>
                      </a:rPr>
                      <m:t>, </m:t>
                    </m:r>
                    <m:r>
                      <a:rPr lang="fr-FR" sz="2000" i="1" dirty="0">
                        <a:latin typeface="Cambria Math" panose="02040503050406030204" pitchFamily="18" charset="0"/>
                      </a:rPr>
                      <m:t>𝑐𝑜𝑢𝑝𝑀𝑎𝑥𝑖</m:t>
                    </m:r>
                  </m:oMath>
                </a14:m>
                <a:endParaRPr lang="fr-FR" sz="2000" dirty="0"/>
              </a:p>
            </p:txBody>
          </p:sp>
        </mc:Choice>
        <mc:Fallback xmlns="">
          <p:sp>
            <p:nvSpPr>
              <p:cNvPr id="3" name="ZoneTexte 2">
                <a:extLst>
                  <a:ext uri="{FF2B5EF4-FFF2-40B4-BE49-F238E27FC236}">
                    <a16:creationId xmlns:a16="http://schemas.microsoft.com/office/drawing/2014/main" id="{F86985B6-82FF-F796-6DC1-DA78E5F5BCB9}"/>
                  </a:ext>
                </a:extLst>
              </p:cNvPr>
              <p:cNvSpPr txBox="1">
                <a:spLocks noRot="1" noChangeAspect="1" noMove="1" noResize="1" noEditPoints="1" noAdjustHandles="1" noChangeArrowheads="1" noChangeShapeType="1" noTextEdit="1"/>
              </p:cNvSpPr>
              <p:nvPr/>
            </p:nvSpPr>
            <p:spPr>
              <a:xfrm>
                <a:off x="844826" y="1431230"/>
                <a:ext cx="10525539" cy="4278094"/>
              </a:xfrm>
              <a:prstGeom prst="rect">
                <a:avLst/>
              </a:prstGeom>
              <a:blipFill>
                <a:blip r:embed="rId3"/>
                <a:stretch>
                  <a:fillRect l="-843" t="-1183" b="-1479"/>
                </a:stretch>
              </a:blipFill>
            </p:spPr>
            <p:txBody>
              <a:bodyPr/>
              <a:lstStyle/>
              <a:p>
                <a:r>
                  <a:rPr lang="fr-FR">
                    <a:noFill/>
                  </a:rPr>
                  <a:t> </a:t>
                </a:r>
              </a:p>
            </p:txBody>
          </p:sp>
        </mc:Fallback>
      </mc:AlternateContent>
    </p:spTree>
    <p:extLst>
      <p:ext uri="{BB962C8B-B14F-4D97-AF65-F5344CB8AC3E}">
        <p14:creationId xmlns:p14="http://schemas.microsoft.com/office/powerpoint/2010/main" val="1022110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0E9E3-DD16-0544-7581-4A21C8E8DDD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26AE123-A837-366C-1EB9-F8B54ABF6C2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9CE6D300-E6E1-5ABD-43B1-0AE5BDD0F189}"/>
                  </a:ext>
                </a:extLst>
              </p:cNvPr>
              <p:cNvSpPr txBox="1"/>
              <p:nvPr/>
            </p:nvSpPr>
            <p:spPr>
              <a:xfrm>
                <a:off x="844826" y="1431230"/>
                <a:ext cx="10525539" cy="4278094"/>
              </a:xfrm>
              <a:prstGeom prst="rect">
                <a:avLst/>
              </a:prstGeom>
              <a:noFill/>
            </p:spPr>
            <p:txBody>
              <a:bodyPr wrap="square" rtlCol="0">
                <a:spAutoFit/>
              </a:bodyPr>
              <a:lstStyle/>
              <a:p>
                <a:r>
                  <a:rPr lang="fr-FR" sz="2400" b="1" dirty="0"/>
                  <a:t>Cas simple : pseudo-code (suite)</a:t>
                </a:r>
              </a:p>
              <a:p>
                <a:endParaRPr lang="fr-FR" sz="2400" dirty="0"/>
              </a:p>
              <a:p>
                <a:endParaRPr lang="fr-FR" sz="2400" dirty="0"/>
              </a:p>
              <a:p>
                <a:r>
                  <a:rPr lang="fr-FR" sz="2000" dirty="0"/>
                  <a:t>SINON SI </a:t>
                </a:r>
                <a14:m>
                  <m:oMath xmlns:m="http://schemas.openxmlformats.org/officeDocument/2006/math">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==2</m:t>
                    </m:r>
                  </m:oMath>
                </a14:m>
                <a:r>
                  <a:rPr lang="fr-FR" sz="2000" dirty="0"/>
                  <a:t> ALORS</a:t>
                </a:r>
              </a:p>
              <a:p>
                <a:r>
                  <a:rPr lang="fr-FR" sz="2000" dirty="0"/>
                  <a:t>	</a:t>
                </a:r>
                <a14:m>
                  <m:oMath xmlns:m="http://schemas.openxmlformats.org/officeDocument/2006/math">
                    <m:r>
                      <a:rPr lang="fr-FR" sz="2000" i="1" dirty="0" smtClean="0">
                        <a:latin typeface="Cambria Math" panose="02040503050406030204" pitchFamily="18" charset="0"/>
                      </a:rPr>
                      <m:t>𝑣𝑎𝑙𝑒𝑢𝑟𝑀</m:t>
                    </m:r>
                    <m:r>
                      <a:rPr lang="fr-FR" sz="2000" b="0" i="1" dirty="0" smtClean="0">
                        <a:latin typeface="Cambria Math" panose="02040503050406030204" pitchFamily="18" charset="0"/>
                      </a:rPr>
                      <m:t>𝑖𝑛</m:t>
                    </m:r>
                    <m:r>
                      <a:rPr lang="fr-FR" sz="2000" i="1" dirty="0" smtClean="0">
                        <a:latin typeface="Cambria Math" panose="02040503050406030204" pitchFamily="18" charset="0"/>
                      </a:rPr>
                      <m:t>𝑖</m:t>
                    </m:r>
                    <m:r>
                      <a:rPr lang="fr-FR" sz="2000" i="1" dirty="0" smtClean="0">
                        <a:latin typeface="Cambria Math" panose="02040503050406030204" pitchFamily="18" charset="0"/>
                        <a:ea typeface="Cambria Math" panose="02040503050406030204" pitchFamily="18" charset="0"/>
                      </a:rPr>
                      <m:t>←</m:t>
                    </m:r>
                    <m:r>
                      <a:rPr lang="fr-FR" sz="2000" b="0" i="1" dirty="0" smtClean="0">
                        <a:latin typeface="Cambria Math" panose="02040503050406030204" pitchFamily="18" charset="0"/>
                        <a:ea typeface="Cambria Math" panose="02040503050406030204" pitchFamily="18" charset="0"/>
                      </a:rPr>
                      <m:t>+</m:t>
                    </m:r>
                    <m:r>
                      <a:rPr lang="fr-FR" sz="2000" b="0" i="1" dirty="0" smtClean="0">
                        <a:latin typeface="Cambria Math" panose="02040503050406030204" pitchFamily="18" charset="0"/>
                      </a:rPr>
                      <m:t>∞</m:t>
                    </m:r>
                  </m:oMath>
                </a14:m>
                <a:r>
                  <a:rPr lang="fr-FR" sz="2000" dirty="0"/>
                  <a:t> </a:t>
                </a:r>
              </a:p>
              <a:p>
                <a:r>
                  <a:rPr lang="fr-FR" sz="2000" dirty="0"/>
                  <a:t>	</a:t>
                </a:r>
                <a14:m>
                  <m:oMath xmlns:m="http://schemas.openxmlformats.org/officeDocument/2006/math">
                    <m:r>
                      <a:rPr lang="fr-FR" sz="2000" i="1" dirty="0" smtClean="0">
                        <a:latin typeface="Cambria Math" panose="02040503050406030204" pitchFamily="18" charset="0"/>
                      </a:rPr>
                      <m:t>𝑐𝑜𝑢𝑝𝑀</m:t>
                    </m:r>
                    <m:r>
                      <a:rPr lang="fr-FR" sz="2000" b="0" i="1" dirty="0" smtClean="0">
                        <a:latin typeface="Cambria Math" panose="02040503050406030204" pitchFamily="18" charset="0"/>
                      </a:rPr>
                      <m:t>𝑖𝑛</m:t>
                    </m:r>
                    <m:r>
                      <a:rPr lang="fr-FR" sz="2000" i="1" dirty="0" smtClean="0">
                        <a:latin typeface="Cambria Math" panose="02040503050406030204" pitchFamily="18" charset="0"/>
                      </a:rPr>
                      <m:t>𝑖</m:t>
                    </m:r>
                    <m:r>
                      <a:rPr lang="fr-FR" sz="2000" i="1" dirty="0">
                        <a:latin typeface="Cambria Math" panose="02040503050406030204" pitchFamily="18" charset="0"/>
                        <a:ea typeface="Cambria Math" panose="02040503050406030204" pitchFamily="18" charset="0"/>
                      </a:rPr>
                      <m:t>←</m:t>
                    </m:r>
                    <m:r>
                      <m:rPr>
                        <m:nor/>
                      </m:rPr>
                      <a:rPr lang="fr-FR" sz="2000" b="0" i="0" dirty="0" smtClean="0">
                        <a:latin typeface="Cambria Math" panose="02040503050406030204" pitchFamily="18" charset="0"/>
                        <a:ea typeface="Cambria Math" panose="02040503050406030204" pitchFamily="18" charset="0"/>
                      </a:rPr>
                      <m:t>None</m:t>
                    </m:r>
                    <m:r>
                      <a:rPr lang="fr-FR" sz="2000" i="1" dirty="0">
                        <a:latin typeface="Cambria Math" panose="02040503050406030204" pitchFamily="18" charset="0"/>
                      </a:rPr>
                      <m:t> </m:t>
                    </m:r>
                  </m:oMath>
                </a14:m>
                <a:endParaRPr lang="fr-FR" sz="2000" dirty="0"/>
              </a:p>
              <a:p>
                <a:r>
                  <a:rPr lang="fr-FR" sz="2000" dirty="0"/>
                  <a:t>	POUR TOUT </a:t>
                </a:r>
                <a14:m>
                  <m:oMath xmlns:m="http://schemas.openxmlformats.org/officeDocument/2006/math">
                    <m:r>
                      <a:rPr lang="fr-FR" sz="2000" i="1" dirty="0" smtClean="0">
                        <a:latin typeface="Cambria Math" panose="02040503050406030204" pitchFamily="18" charset="0"/>
                      </a:rPr>
                      <m:t>𝑐𝑜𝑢𝑝</m:t>
                    </m:r>
                  </m:oMath>
                </a14:m>
                <a:r>
                  <a:rPr lang="fr-FR" sz="2000" dirty="0"/>
                  <a:t> possible par </a:t>
                </a:r>
                <a14:m>
                  <m:oMath xmlns:m="http://schemas.openxmlformats.org/officeDocument/2006/math">
                    <m:r>
                      <a:rPr lang="fr-FR" sz="2000" b="0" i="1" smtClean="0">
                        <a:latin typeface="Cambria Math" panose="02040503050406030204" pitchFamily="18" charset="0"/>
                      </a:rPr>
                      <m:t>𝑗𝑜𝑢𝑒𝑢𝑟</m:t>
                    </m:r>
                  </m:oMath>
                </a14:m>
                <a:r>
                  <a:rPr lang="fr-FR" sz="2000" dirty="0"/>
                  <a:t> depuis </a:t>
                </a:r>
                <a14:m>
                  <m:oMath xmlns:m="http://schemas.openxmlformats.org/officeDocument/2006/math">
                    <m:r>
                      <a:rPr lang="fr-FR" sz="2000" b="0" i="1" smtClean="0">
                        <a:latin typeface="Cambria Math" panose="02040503050406030204" pitchFamily="18" charset="0"/>
                      </a:rPr>
                      <m:t>𝑝𝑜𝑠𝑖𝑡𝑖𝑜𝑛</m:t>
                    </m:r>
                  </m:oMath>
                </a14:m>
                <a:r>
                  <a:rPr lang="fr-FR" sz="2000" dirty="0"/>
                  <a:t> FAIRE</a:t>
                </a:r>
              </a:p>
              <a:p>
                <a:r>
                  <a:rPr lang="fr-FR" sz="2000" dirty="0"/>
                  <a:t>		</a:t>
                </a:r>
                <a14:m>
                  <m:oMath xmlns:m="http://schemas.openxmlformats.org/officeDocument/2006/math">
                    <m:r>
                      <a:rPr lang="fr-FR" sz="2000" i="1" dirty="0" smtClean="0">
                        <a:latin typeface="Cambria Math" panose="02040503050406030204" pitchFamily="18" charset="0"/>
                      </a:rPr>
                      <m:t>𝑝𝑜𝑠𝑖𝑡𝑖𝑜𝑛𝑁𝑜𝑢𝑣𝑒𝑙𝑙𝑒</m:t>
                    </m:r>
                    <m:r>
                      <a:rPr lang="fr-FR" sz="2000" i="1" dirty="0" smtClean="0">
                        <a:latin typeface="Cambria Math" panose="02040503050406030204" pitchFamily="18" charset="0"/>
                        <a:ea typeface="Cambria Math" panose="02040503050406030204" pitchFamily="18" charset="0"/>
                      </a:rPr>
                      <m:t>←</m:t>
                    </m:r>
                    <m:r>
                      <m:rPr>
                        <m:nor/>
                      </m:rPr>
                      <a:rPr lang="fr-FR" sz="2000" i="0" dirty="0" err="1" smtClean="0">
                        <a:latin typeface="Cambria Math" panose="02040503050406030204" pitchFamily="18" charset="0"/>
                      </a:rPr>
                      <m:t>joueCoup</m:t>
                    </m:r>
                    <m:r>
                      <a:rPr lang="fr-FR" sz="2000" i="1" dirty="0" smtClean="0">
                        <a:latin typeface="Cambria Math" panose="02040503050406030204" pitchFamily="18" charset="0"/>
                      </a:rPr>
                      <m:t>(</m:t>
                    </m:r>
                    <m:r>
                      <a:rPr lang="fr-FR" sz="2000" i="1" dirty="0" smtClean="0">
                        <a:latin typeface="Cambria Math" panose="02040503050406030204" pitchFamily="18" charset="0"/>
                      </a:rPr>
                      <m:t>𝑗𝑒𝑢</m:t>
                    </m:r>
                    <m:r>
                      <a:rPr lang="fr-FR" sz="2000" i="1" dirty="0" smtClean="0">
                        <a:latin typeface="Cambria Math" panose="02040503050406030204" pitchFamily="18" charset="0"/>
                      </a:rPr>
                      <m:t>, </m:t>
                    </m:r>
                    <m:r>
                      <a:rPr lang="fr-FR" sz="2000" i="1" dirty="0" smtClean="0">
                        <a:latin typeface="Cambria Math" panose="02040503050406030204" pitchFamily="18" charset="0"/>
                      </a:rPr>
                      <m:t>𝑝𝑜𝑠𝑖𝑡𝑖𝑜𝑛</m:t>
                    </m:r>
                    <m:r>
                      <a:rPr lang="fr-FR" sz="2000" i="1" dirty="0" smtClean="0">
                        <a:latin typeface="Cambria Math" panose="02040503050406030204" pitchFamily="18" charset="0"/>
                      </a:rPr>
                      <m:t>, </m:t>
                    </m:r>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 </m:t>
                    </m:r>
                    <m:r>
                      <a:rPr lang="fr-FR" sz="2000" i="1" dirty="0" smtClean="0">
                        <a:latin typeface="Cambria Math" panose="02040503050406030204" pitchFamily="18" charset="0"/>
                      </a:rPr>
                      <m:t>𝑐𝑜𝑢𝑝</m:t>
                    </m:r>
                    <m:r>
                      <a:rPr lang="fr-FR" sz="2000" i="1" dirty="0" smtClean="0">
                        <a:latin typeface="Cambria Math" panose="02040503050406030204" pitchFamily="18" charset="0"/>
                      </a:rPr>
                      <m:t>)</m:t>
                    </m:r>
                  </m:oMath>
                </a14:m>
                <a:endParaRPr lang="fr-FR" sz="2000" dirty="0"/>
              </a:p>
              <a:p>
                <a:r>
                  <a:rPr lang="fr-FR" sz="2000" dirty="0"/>
                  <a:t>		</a:t>
                </a:r>
                <a14:m>
                  <m:oMath xmlns:m="http://schemas.openxmlformats.org/officeDocument/2006/math">
                    <m:r>
                      <a:rPr lang="fr-FR" sz="2000" i="1" dirty="0" smtClean="0">
                        <a:latin typeface="Cambria Math" panose="02040503050406030204" pitchFamily="18" charset="0"/>
                      </a:rPr>
                      <m:t>𝑣𝑎𝑙𝑒𝑢𝑟</m:t>
                    </m:r>
                    <m:r>
                      <a:rPr lang="fr-FR" sz="2000" i="1" dirty="0" smtClean="0">
                        <a:latin typeface="Cambria Math" panose="02040503050406030204" pitchFamily="18" charset="0"/>
                      </a:rPr>
                      <m:t>, </m:t>
                    </m:r>
                    <m:r>
                      <a:rPr lang="fr-FR" sz="2000" i="1" dirty="0" smtClean="0">
                        <a:latin typeface="Cambria Math" panose="02040503050406030204" pitchFamily="18" charset="0"/>
                      </a:rPr>
                      <m:t>𝑐𝑜𝑢𝑝</m:t>
                    </m:r>
                    <m:r>
                      <a:rPr lang="fr-FR" sz="2000" i="1" dirty="0" smtClean="0">
                        <a:latin typeface="Cambria Math" panose="02040503050406030204" pitchFamily="18" charset="0"/>
                        <a:ea typeface="Cambria Math" panose="02040503050406030204" pitchFamily="18" charset="0"/>
                      </a:rPr>
                      <m:t>←</m:t>
                    </m:r>
                    <m:r>
                      <m:rPr>
                        <m:nor/>
                      </m:rPr>
                      <a:rPr lang="fr-FR" sz="2000" i="0" dirty="0" err="1">
                        <a:latin typeface="Cambria Math" panose="02040503050406030204" pitchFamily="18" charset="0"/>
                      </a:rPr>
                      <m:t>minMax</m:t>
                    </m:r>
                    <m:r>
                      <a:rPr lang="fr-FR" sz="2000" i="1" dirty="0">
                        <a:latin typeface="Cambria Math" panose="02040503050406030204" pitchFamily="18" charset="0"/>
                      </a:rPr>
                      <m:t>(</m:t>
                    </m:r>
                    <m:r>
                      <a:rPr lang="fr-FR" sz="2000" i="1" dirty="0">
                        <a:latin typeface="Cambria Math" panose="02040503050406030204" pitchFamily="18" charset="0"/>
                      </a:rPr>
                      <m:t>𝑗𝑒𝑢</m:t>
                    </m:r>
                    <m:r>
                      <a:rPr lang="fr-FR" sz="2000" i="1" dirty="0">
                        <a:latin typeface="Cambria Math" panose="02040503050406030204" pitchFamily="18" charset="0"/>
                      </a:rPr>
                      <m:t>, </m:t>
                    </m:r>
                    <m:r>
                      <a:rPr lang="fr-FR" sz="2000" i="1" dirty="0" err="1" smtClean="0">
                        <a:latin typeface="Cambria Math" panose="02040503050406030204" pitchFamily="18" charset="0"/>
                      </a:rPr>
                      <m:t>𝑝𝑜𝑠𝑖𝑡𝑖𝑜𝑛𝑁𝑜𝑢𝑣𝑒𝑙𝑙𝑒</m:t>
                    </m:r>
                    <m:r>
                      <a:rPr lang="fr-FR" sz="2000" i="1" dirty="0" smtClean="0">
                        <a:latin typeface="Cambria Math" panose="02040503050406030204" pitchFamily="18" charset="0"/>
                      </a:rPr>
                      <m:t>, </m:t>
                    </m:r>
                    <m:r>
                      <a:rPr lang="fr-FR" sz="2000" i="1" dirty="0" smtClean="0">
                        <a:latin typeface="Cambria Math" panose="02040503050406030204" pitchFamily="18" charset="0"/>
                      </a:rPr>
                      <m:t>𝑎𝑑𝑣𝑒𝑟𝑠𝑎𝑖𝑟𝑒</m:t>
                    </m:r>
                    <m:r>
                      <a:rPr lang="fr-FR" sz="2000" i="1" dirty="0" smtClean="0">
                        <a:latin typeface="Cambria Math" panose="02040503050406030204" pitchFamily="18" charset="0"/>
                      </a:rPr>
                      <m:t>)</m:t>
                    </m:r>
                  </m:oMath>
                </a14:m>
                <a:endParaRPr lang="fr-FR" sz="2000" dirty="0"/>
              </a:p>
              <a:p>
                <a:r>
                  <a:rPr lang="fr-FR" sz="2000" dirty="0"/>
                  <a:t>		SI </a:t>
                </a:r>
                <a14:m>
                  <m:oMath xmlns:m="http://schemas.openxmlformats.org/officeDocument/2006/math">
                    <m:r>
                      <a:rPr lang="fr-FR" sz="2000" i="1" dirty="0" smtClean="0">
                        <a:latin typeface="Cambria Math" panose="02040503050406030204" pitchFamily="18" charset="0"/>
                      </a:rPr>
                      <m:t>𝑣𝑎𝑙𝑒𝑢𝑟</m:t>
                    </m:r>
                    <m:r>
                      <a:rPr lang="fr-FR" sz="2000" b="0" i="1" dirty="0" smtClean="0">
                        <a:latin typeface="Cambria Math" panose="02040503050406030204" pitchFamily="18" charset="0"/>
                      </a:rPr>
                      <m:t>&lt;</m:t>
                    </m:r>
                    <m:r>
                      <a:rPr lang="fr-FR" sz="2000" i="1" dirty="0">
                        <a:latin typeface="Cambria Math" panose="02040503050406030204" pitchFamily="18" charset="0"/>
                      </a:rPr>
                      <m:t>𝑣𝑎𝑙𝑒𝑢𝑟𝑀</m:t>
                    </m:r>
                    <m:r>
                      <a:rPr lang="fr-FR" sz="2000" b="0" i="1" dirty="0" smtClean="0">
                        <a:latin typeface="Cambria Math" panose="02040503050406030204" pitchFamily="18" charset="0"/>
                      </a:rPr>
                      <m:t>𝑖𝑛</m:t>
                    </m:r>
                    <m:r>
                      <a:rPr lang="fr-FR" sz="2000" i="1" dirty="0">
                        <a:latin typeface="Cambria Math" panose="02040503050406030204" pitchFamily="18" charset="0"/>
                      </a:rPr>
                      <m:t>𝑖</m:t>
                    </m:r>
                  </m:oMath>
                </a14:m>
                <a:r>
                  <a:rPr lang="fr-FR" sz="2000" dirty="0"/>
                  <a:t> ALORS</a:t>
                </a:r>
              </a:p>
              <a:p>
                <a:r>
                  <a:rPr lang="fr-FR" sz="2000" dirty="0"/>
                  <a:t>			</a:t>
                </a:r>
                <a14:m>
                  <m:oMath xmlns:m="http://schemas.openxmlformats.org/officeDocument/2006/math">
                    <m:r>
                      <a:rPr lang="fr-FR" sz="2000" i="1" dirty="0" smtClean="0">
                        <a:latin typeface="Cambria Math" panose="02040503050406030204" pitchFamily="18" charset="0"/>
                      </a:rPr>
                      <m:t>𝑣𝑎𝑙𝑒𝑢𝑟𝑀</m:t>
                    </m:r>
                    <m:r>
                      <a:rPr lang="fr-FR" sz="2000" b="0" i="1" dirty="0" smtClean="0">
                        <a:latin typeface="Cambria Math" panose="02040503050406030204" pitchFamily="18" charset="0"/>
                      </a:rPr>
                      <m:t>𝑖𝑛</m:t>
                    </m:r>
                    <m:r>
                      <a:rPr lang="fr-FR" sz="2000" i="1" dirty="0" smtClean="0">
                        <a:latin typeface="Cambria Math" panose="02040503050406030204" pitchFamily="18" charset="0"/>
                      </a:rPr>
                      <m:t>𝑖</m:t>
                    </m:r>
                    <m:r>
                      <a:rPr lang="fr-FR" sz="2000" i="1" dirty="0" smtClean="0">
                        <a:latin typeface="Cambria Math" panose="02040503050406030204" pitchFamily="18" charset="0"/>
                        <a:ea typeface="Cambria Math" panose="02040503050406030204" pitchFamily="18" charset="0"/>
                      </a:rPr>
                      <m:t>←</m:t>
                    </m:r>
                    <m:r>
                      <a:rPr lang="fr-FR" sz="2000" i="1" dirty="0" smtClean="0">
                        <a:latin typeface="Cambria Math" panose="02040503050406030204" pitchFamily="18" charset="0"/>
                      </a:rPr>
                      <m:t>𝑣𝑎𝑙𝑒𝑢𝑟</m:t>
                    </m:r>
                  </m:oMath>
                </a14:m>
                <a:endParaRPr lang="fr-FR" sz="2000" dirty="0"/>
              </a:p>
              <a:p>
                <a:r>
                  <a:rPr lang="fr-FR" sz="2000" dirty="0"/>
                  <a:t>			</a:t>
                </a:r>
                <a14:m>
                  <m:oMath xmlns:m="http://schemas.openxmlformats.org/officeDocument/2006/math">
                    <m:r>
                      <a:rPr lang="fr-FR" sz="2000" i="1" dirty="0" smtClean="0">
                        <a:latin typeface="Cambria Math" panose="02040503050406030204" pitchFamily="18" charset="0"/>
                      </a:rPr>
                      <m:t>𝑐𝑜𝑢𝑝𝑀</m:t>
                    </m:r>
                    <m:r>
                      <a:rPr lang="fr-FR" sz="2000" b="0" i="1" dirty="0" smtClean="0">
                        <a:latin typeface="Cambria Math" panose="02040503050406030204" pitchFamily="18" charset="0"/>
                      </a:rPr>
                      <m:t>𝑖𝑛</m:t>
                    </m:r>
                    <m:r>
                      <a:rPr lang="fr-FR" sz="2000" i="1" dirty="0" smtClean="0">
                        <a:latin typeface="Cambria Math" panose="02040503050406030204" pitchFamily="18" charset="0"/>
                      </a:rPr>
                      <m:t>𝑖</m:t>
                    </m:r>
                    <m:r>
                      <a:rPr lang="fr-FR" sz="2000" i="1" dirty="0" smtClean="0">
                        <a:latin typeface="Cambria Math" panose="02040503050406030204" pitchFamily="18" charset="0"/>
                        <a:ea typeface="Cambria Math" panose="02040503050406030204" pitchFamily="18" charset="0"/>
                      </a:rPr>
                      <m:t>←</m:t>
                    </m:r>
                    <m:r>
                      <a:rPr lang="fr-FR" sz="2000" i="1" dirty="0" smtClean="0">
                        <a:latin typeface="Cambria Math" panose="02040503050406030204" pitchFamily="18" charset="0"/>
                      </a:rPr>
                      <m:t>𝑐𝑜𝑢𝑝</m:t>
                    </m:r>
                  </m:oMath>
                </a14:m>
                <a:endParaRPr lang="fr-FR" sz="2000" dirty="0"/>
              </a:p>
              <a:p>
                <a:r>
                  <a:rPr lang="fr-FR" sz="2000" dirty="0"/>
                  <a:t>	RETOURNER </a:t>
                </a:r>
                <a14:m>
                  <m:oMath xmlns:m="http://schemas.openxmlformats.org/officeDocument/2006/math">
                    <m:r>
                      <a:rPr lang="fr-FR" sz="2000" i="1" dirty="0" smtClean="0">
                        <a:latin typeface="Cambria Math" panose="02040503050406030204" pitchFamily="18" charset="0"/>
                      </a:rPr>
                      <m:t>𝑣𝑎𝑙𝑒𝑢𝑟𝑀</m:t>
                    </m:r>
                    <m:r>
                      <a:rPr lang="fr-FR" sz="2000" b="0" i="1" dirty="0" smtClean="0">
                        <a:latin typeface="Cambria Math" panose="02040503050406030204" pitchFamily="18" charset="0"/>
                      </a:rPr>
                      <m:t>𝑖𝑛</m:t>
                    </m:r>
                    <m:r>
                      <a:rPr lang="fr-FR" sz="2000" i="1" dirty="0" smtClean="0">
                        <a:latin typeface="Cambria Math" panose="02040503050406030204" pitchFamily="18" charset="0"/>
                      </a:rPr>
                      <m:t>𝑖</m:t>
                    </m:r>
                    <m:r>
                      <a:rPr lang="fr-FR" sz="2000" i="1" dirty="0" smtClean="0">
                        <a:latin typeface="Cambria Math" panose="02040503050406030204" pitchFamily="18" charset="0"/>
                      </a:rPr>
                      <m:t>, </m:t>
                    </m:r>
                    <m:r>
                      <a:rPr lang="fr-FR" sz="2000" i="1" dirty="0">
                        <a:latin typeface="Cambria Math" panose="02040503050406030204" pitchFamily="18" charset="0"/>
                      </a:rPr>
                      <m:t>𝑐𝑜𝑢𝑝𝑀</m:t>
                    </m:r>
                    <m:r>
                      <a:rPr lang="fr-FR" sz="2000" b="0" i="1" dirty="0" smtClean="0">
                        <a:latin typeface="Cambria Math" panose="02040503050406030204" pitchFamily="18" charset="0"/>
                      </a:rPr>
                      <m:t>𝑖𝑛</m:t>
                    </m:r>
                    <m:r>
                      <a:rPr lang="fr-FR" sz="2000" i="1" dirty="0">
                        <a:latin typeface="Cambria Math" panose="02040503050406030204" pitchFamily="18" charset="0"/>
                      </a:rPr>
                      <m:t>𝑖</m:t>
                    </m:r>
                  </m:oMath>
                </a14:m>
                <a:endParaRPr lang="fr-FR" sz="2000" dirty="0"/>
              </a:p>
            </p:txBody>
          </p:sp>
        </mc:Choice>
        <mc:Fallback xmlns="">
          <p:sp>
            <p:nvSpPr>
              <p:cNvPr id="3" name="ZoneTexte 2">
                <a:extLst>
                  <a:ext uri="{FF2B5EF4-FFF2-40B4-BE49-F238E27FC236}">
                    <a16:creationId xmlns:a16="http://schemas.microsoft.com/office/drawing/2014/main" id="{9CE6D300-E6E1-5ABD-43B1-0AE5BDD0F189}"/>
                  </a:ext>
                </a:extLst>
              </p:cNvPr>
              <p:cNvSpPr txBox="1">
                <a:spLocks noRot="1" noChangeAspect="1" noMove="1" noResize="1" noEditPoints="1" noAdjustHandles="1" noChangeArrowheads="1" noChangeShapeType="1" noTextEdit="1"/>
              </p:cNvSpPr>
              <p:nvPr/>
            </p:nvSpPr>
            <p:spPr>
              <a:xfrm>
                <a:off x="844826" y="1431230"/>
                <a:ext cx="10525539" cy="4278094"/>
              </a:xfrm>
              <a:prstGeom prst="rect">
                <a:avLst/>
              </a:prstGeom>
              <a:blipFill>
                <a:blip r:embed="rId2"/>
                <a:stretch>
                  <a:fillRect l="-843" t="-1183" b="-1479"/>
                </a:stretch>
              </a:blipFill>
            </p:spPr>
            <p:txBody>
              <a:bodyPr/>
              <a:lstStyle/>
              <a:p>
                <a:r>
                  <a:rPr lang="fr-FR">
                    <a:noFill/>
                  </a:rPr>
                  <a:t> </a:t>
                </a:r>
              </a:p>
            </p:txBody>
          </p:sp>
        </mc:Fallback>
      </mc:AlternateContent>
    </p:spTree>
    <p:extLst>
      <p:ext uri="{BB962C8B-B14F-4D97-AF65-F5344CB8AC3E}">
        <p14:creationId xmlns:p14="http://schemas.microsoft.com/office/powerpoint/2010/main" val="890678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3A734-5A2B-72AC-7E9A-F2971718200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7260305-2A2D-338D-E806-44372982A910}"/>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468B9C1A-C81D-9248-E009-5FE298C47E6F}"/>
                  </a:ext>
                </a:extLst>
              </p:cNvPr>
              <p:cNvSpPr txBox="1"/>
              <p:nvPr/>
            </p:nvSpPr>
            <p:spPr>
              <a:xfrm>
                <a:off x="844826" y="1431230"/>
                <a:ext cx="10525539" cy="3416320"/>
              </a:xfrm>
              <a:prstGeom prst="rect">
                <a:avLst/>
              </a:prstGeom>
              <a:noFill/>
            </p:spPr>
            <p:txBody>
              <a:bodyPr wrap="square" rtlCol="0">
                <a:spAutoFit/>
              </a:bodyPr>
              <a:lstStyle/>
              <a:p>
                <a:r>
                  <a:rPr lang="fr-FR" sz="2400" b="1" dirty="0"/>
                  <a:t>Remarques sur le pseudo-code</a:t>
                </a:r>
              </a:p>
              <a:p>
                <a:endParaRPr lang="fr-FR" sz="2400" dirty="0"/>
              </a:p>
              <a:p>
                <a:pPr marL="342900" indent="-342900">
                  <a:buFont typeface="Arial" panose="020B0604020202020204" pitchFamily="34" charset="0"/>
                  <a:buChar char="•"/>
                </a:pPr>
                <a:r>
                  <a:rPr lang="fr-FR" sz="2400" dirty="0"/>
                  <a:t>L’objectif de cette fonction est de déterminer le coup optimal pour le premier joueur mais pas d’effectuer concrètement un enchaînement de coups.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Les appels récursifs ne devront donc pas modifier la position courante du jeu.</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C’est pour cela que la fonction « </a:t>
                </a:r>
                <a14:m>
                  <m:oMath xmlns:m="http://schemas.openxmlformats.org/officeDocument/2006/math">
                    <m:r>
                      <m:rPr>
                        <m:nor/>
                      </m:rPr>
                      <a:rPr lang="fr-FR" sz="2400" dirty="0">
                        <a:latin typeface="Cambria Math" panose="02040503050406030204" pitchFamily="18" charset="0"/>
                      </a:rPr>
                      <m:t>joueCoup</m:t>
                    </m:r>
                    <m:r>
                      <a:rPr lang="fr-FR" sz="2400" i="1" dirty="0">
                        <a:latin typeface="Cambria Math" panose="02040503050406030204" pitchFamily="18" charset="0"/>
                      </a:rPr>
                      <m:t>(</m:t>
                    </m:r>
                    <m:r>
                      <a:rPr lang="fr-FR" sz="2400" i="1" dirty="0">
                        <a:latin typeface="Cambria Math" panose="02040503050406030204" pitchFamily="18" charset="0"/>
                      </a:rPr>
                      <m:t>𝑗𝑒𝑢</m:t>
                    </m:r>
                    <m:r>
                      <a:rPr lang="fr-FR" sz="2400" i="1" dirty="0">
                        <a:latin typeface="Cambria Math" panose="02040503050406030204" pitchFamily="18" charset="0"/>
                      </a:rPr>
                      <m:t>, </m:t>
                    </m:r>
                    <m:r>
                      <a:rPr lang="fr-FR" sz="2400" i="1" dirty="0">
                        <a:latin typeface="Cambria Math" panose="02040503050406030204" pitchFamily="18" charset="0"/>
                      </a:rPr>
                      <m:t>𝑝𝑜𝑠𝑖𝑡𝑖𝑜𝑛</m:t>
                    </m:r>
                    <m:r>
                      <a:rPr lang="fr-FR" sz="2400" i="1" dirty="0">
                        <a:latin typeface="Cambria Math" panose="02040503050406030204" pitchFamily="18" charset="0"/>
                      </a:rPr>
                      <m:t>, </m:t>
                    </m:r>
                    <m:r>
                      <a:rPr lang="fr-FR" sz="2400" i="1" dirty="0">
                        <a:latin typeface="Cambria Math" panose="02040503050406030204" pitchFamily="18" charset="0"/>
                      </a:rPr>
                      <m:t>𝑗𝑜𝑢𝑒𝑢𝑟</m:t>
                    </m:r>
                    <m:r>
                      <a:rPr lang="fr-FR" sz="2400" i="1" dirty="0">
                        <a:latin typeface="Cambria Math" panose="02040503050406030204" pitchFamily="18" charset="0"/>
                      </a:rPr>
                      <m:t>, </m:t>
                    </m:r>
                    <m:r>
                      <a:rPr lang="fr-FR" sz="2400" i="1" dirty="0">
                        <a:latin typeface="Cambria Math" panose="02040503050406030204" pitchFamily="18" charset="0"/>
                      </a:rPr>
                      <m:t>𝑐𝑜𝑢𝑝</m:t>
                    </m:r>
                    <m:r>
                      <a:rPr lang="fr-FR" sz="2400" i="1" dirty="0">
                        <a:latin typeface="Cambria Math" panose="02040503050406030204" pitchFamily="18" charset="0"/>
                      </a:rPr>
                      <m:t>)</m:t>
                    </m:r>
                  </m:oMath>
                </a14:m>
                <a:r>
                  <a:rPr lang="fr-FR" sz="2400" dirty="0"/>
                  <a:t> » devra retourner la nouvelle position sans altérer celle passée en paramètre.</a:t>
                </a:r>
              </a:p>
            </p:txBody>
          </p:sp>
        </mc:Choice>
        <mc:Fallback xmlns="">
          <p:sp>
            <p:nvSpPr>
              <p:cNvPr id="3" name="ZoneTexte 2">
                <a:extLst>
                  <a:ext uri="{FF2B5EF4-FFF2-40B4-BE49-F238E27FC236}">
                    <a16:creationId xmlns:a16="http://schemas.microsoft.com/office/drawing/2014/main" id="{468B9C1A-C81D-9248-E009-5FE298C47E6F}"/>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2"/>
                <a:stretch>
                  <a:fillRect l="-843" t="-1481" r="-1446" b="-3333"/>
                </a:stretch>
              </a:blipFill>
            </p:spPr>
            <p:txBody>
              <a:bodyPr/>
              <a:lstStyle/>
              <a:p>
                <a:r>
                  <a:rPr lang="fr-FR">
                    <a:noFill/>
                  </a:rPr>
                  <a:t> </a:t>
                </a:r>
              </a:p>
            </p:txBody>
          </p:sp>
        </mc:Fallback>
      </mc:AlternateContent>
      <p:pic>
        <p:nvPicPr>
          <p:cNvPr id="5" name="Graphique 4" descr="Pion avec un remplissage uni">
            <a:extLst>
              <a:ext uri="{FF2B5EF4-FFF2-40B4-BE49-F238E27FC236}">
                <a16:creationId xmlns:a16="http://schemas.microsoft.com/office/drawing/2014/main" id="{F31656BB-9113-6D7D-B480-EE14DE8E08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082250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F3464-52A5-9771-BF87-C0C05C8547F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C2F1AD-718F-9CF5-767B-217074FE8677}"/>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4D221839-F8BE-2C39-5E9B-8269CD86D598}"/>
                  </a:ext>
                </a:extLst>
              </p:cNvPr>
              <p:cNvSpPr txBox="1"/>
              <p:nvPr/>
            </p:nvSpPr>
            <p:spPr>
              <a:xfrm>
                <a:off x="844826" y="1431230"/>
                <a:ext cx="10525539" cy="3416320"/>
              </a:xfrm>
              <a:prstGeom prst="rect">
                <a:avLst/>
              </a:prstGeom>
              <a:noFill/>
            </p:spPr>
            <p:txBody>
              <a:bodyPr wrap="square" rtlCol="0">
                <a:spAutoFit/>
              </a:bodyPr>
              <a:lstStyle/>
              <a:p>
                <a:r>
                  <a:rPr lang="fr-FR" sz="2400" b="1" dirty="0"/>
                  <a:t>Remarques sur le pseudo-code (suite)</a:t>
                </a:r>
              </a:p>
              <a:p>
                <a:endParaRPr lang="fr-FR" sz="2400" dirty="0"/>
              </a:p>
              <a:p>
                <a:pPr marL="342900" indent="-342900">
                  <a:buFont typeface="Arial" panose="020B0604020202020204" pitchFamily="34" charset="0"/>
                  <a:buChar char="•"/>
                </a:pPr>
                <a:r>
                  <a:rPr lang="fr-FR" sz="2400" dirty="0"/>
                  <a:t>Alternativement, on pourra réellement effectuer le coup et restaurer la position courante juste après l’appel récursif.</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Selon les implémentations, </a:t>
                </a:r>
                <a14:m>
                  <m:oMath xmlns:m="http://schemas.openxmlformats.org/officeDocument/2006/math">
                    <m:r>
                      <a:rPr lang="fr-FR" sz="2400" b="0" i="1" smtClean="0">
                        <a:latin typeface="Cambria Math" panose="02040503050406030204" pitchFamily="18" charset="0"/>
                      </a:rPr>
                      <m:t>𝑗𝑒𝑢</m:t>
                    </m:r>
                    <m:r>
                      <a:rPr lang="fr-FR" sz="2400" b="0" i="1" smtClean="0">
                        <a:latin typeface="Cambria Math" panose="02040503050406030204" pitchFamily="18" charset="0"/>
                      </a:rPr>
                      <m:t>,</m:t>
                    </m:r>
                    <m:r>
                      <a:rPr lang="fr-FR" sz="2400" b="0" i="1" smtClean="0">
                        <a:latin typeface="Cambria Math" panose="02040503050406030204" pitchFamily="18" charset="0"/>
                      </a:rPr>
                      <m:t>𝑝𝑜𝑠𝑖𝑡𝑖𝑜𝑛</m:t>
                    </m:r>
                    <m:r>
                      <a:rPr lang="fr-FR" sz="2400" b="0" i="1" smtClean="0">
                        <a:latin typeface="Cambria Math" panose="02040503050406030204" pitchFamily="18" charset="0"/>
                      </a:rPr>
                      <m:t>,</m:t>
                    </m:r>
                    <m:r>
                      <a:rPr lang="fr-FR" sz="2400" b="0" i="1" smtClean="0">
                        <a:latin typeface="Cambria Math" panose="02040503050406030204" pitchFamily="18" charset="0"/>
                      </a:rPr>
                      <m:t>𝑗𝑜𝑢𝑒𝑢𝑟</m:t>
                    </m:r>
                    <m:r>
                      <a:rPr lang="fr-FR" sz="2400" b="0" i="1" smtClean="0">
                        <a:latin typeface="Cambria Math" panose="02040503050406030204" pitchFamily="18" charset="0"/>
                      </a:rPr>
                      <m:t>,</m:t>
                    </m:r>
                    <m:r>
                      <a:rPr lang="fr-FR" sz="2400" b="0" i="1" smtClean="0">
                        <a:latin typeface="Cambria Math" panose="02040503050406030204" pitchFamily="18" charset="0"/>
                      </a:rPr>
                      <m:t>𝑐𝑜𝑢𝑝</m:t>
                    </m:r>
                  </m:oMath>
                </a14:m>
                <a:r>
                  <a:rPr lang="fr-FR" sz="2400" dirty="0"/>
                  <a:t> pourront être regroupés au sein d’une même classe, dédiée au fonctionnement logique du jeu.</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Une autre classe s’occupera alors de la recherche des coups optimaux.</a:t>
                </a:r>
              </a:p>
            </p:txBody>
          </p:sp>
        </mc:Choice>
        <mc:Fallback xmlns="">
          <p:sp>
            <p:nvSpPr>
              <p:cNvPr id="3" name="ZoneTexte 2">
                <a:extLst>
                  <a:ext uri="{FF2B5EF4-FFF2-40B4-BE49-F238E27FC236}">
                    <a16:creationId xmlns:a16="http://schemas.microsoft.com/office/drawing/2014/main" id="{4D221839-F8BE-2C39-5E9B-8269CD86D598}"/>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2"/>
                <a:stretch>
                  <a:fillRect l="-843" t="-1481" r="-1205" b="-3333"/>
                </a:stretch>
              </a:blipFill>
            </p:spPr>
            <p:txBody>
              <a:bodyPr/>
              <a:lstStyle/>
              <a:p>
                <a:r>
                  <a:rPr lang="fr-FR">
                    <a:noFill/>
                  </a:rPr>
                  <a:t> </a:t>
                </a:r>
              </a:p>
            </p:txBody>
          </p:sp>
        </mc:Fallback>
      </mc:AlternateContent>
      <p:pic>
        <p:nvPicPr>
          <p:cNvPr id="5" name="Graphique 4" descr="Classe avec un remplissage uni">
            <a:extLst>
              <a:ext uri="{FF2B5EF4-FFF2-40B4-BE49-F238E27FC236}">
                <a16:creationId xmlns:a16="http://schemas.microsoft.com/office/drawing/2014/main" id="{01D3B4BB-9204-3BBB-DCF9-3ED7E2BB66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7104401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3C6A5-2FF6-A5F9-4EED-2ACCB595F16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2F4961B-8E17-C612-F5C8-9A4E6E88B6B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19B9A747-9120-B9DB-FE00-135DDC385C9C}"/>
                  </a:ext>
                </a:extLst>
              </p:cNvPr>
              <p:cNvSpPr txBox="1"/>
              <p:nvPr/>
            </p:nvSpPr>
            <p:spPr>
              <a:xfrm>
                <a:off x="844826" y="1431230"/>
                <a:ext cx="10525539" cy="3046988"/>
              </a:xfrm>
              <a:prstGeom prst="rect">
                <a:avLst/>
              </a:prstGeom>
              <a:noFill/>
            </p:spPr>
            <p:txBody>
              <a:bodyPr wrap="square" rtlCol="0">
                <a:spAutoFit/>
              </a:bodyPr>
              <a:lstStyle/>
              <a:p>
                <a:r>
                  <a:rPr lang="fr-FR" sz="2400" b="1" dirty="0"/>
                  <a:t>Limites du cas simple</a:t>
                </a:r>
              </a:p>
              <a:p>
                <a:endParaRPr lang="fr-FR" sz="2400" dirty="0"/>
              </a:p>
              <a:p>
                <a:pPr marL="342900" indent="-342900">
                  <a:buFont typeface="Arial" panose="020B0604020202020204" pitchFamily="34" charset="0"/>
                  <a:buChar char="•"/>
                </a:pPr>
                <a:r>
                  <a:rPr lang="fr-FR" sz="2400" dirty="0"/>
                  <a:t>Parcourir l’arborescence de jeu jusqu’aux feuilles ne peut se faire que pour des jeux simples, où le nombre de sommets reste limité.</a:t>
                </a:r>
              </a:p>
              <a:p>
                <a:endParaRPr lang="fr-FR" sz="2400" dirty="0"/>
              </a:p>
              <a:p>
                <a:endParaRPr lang="fr-FR" sz="2400" dirty="0"/>
              </a:p>
              <a:p>
                <a:pPr marL="342900" indent="-342900">
                  <a:buFont typeface="Arial" panose="020B0604020202020204" pitchFamily="34" charset="0"/>
                  <a:buChar char="•"/>
                </a:pPr>
                <a:r>
                  <a:rPr lang="fr-FR" sz="2400" dirty="0"/>
                  <a:t>C’est par exemple faisable pour le Tic-tac-toe où le nombre de positions différentes est de </a:t>
                </a:r>
                <a14:m>
                  <m:oMath xmlns:m="http://schemas.openxmlformats.org/officeDocument/2006/math">
                    <m:r>
                      <a:rPr lang="fr-FR" sz="2400" b="0" i="1" smtClean="0">
                        <a:latin typeface="Cambria Math" panose="02040503050406030204" pitchFamily="18" charset="0"/>
                      </a:rPr>
                      <m:t>5478</m:t>
                    </m:r>
                  </m:oMath>
                </a14:m>
                <a:r>
                  <a:rPr lang="fr-FR" sz="2400" dirty="0"/>
                  <a:t>.</a:t>
                </a:r>
              </a:p>
            </p:txBody>
          </p:sp>
        </mc:Choice>
        <mc:Fallback xmlns="">
          <p:sp>
            <p:nvSpPr>
              <p:cNvPr id="3" name="ZoneTexte 2">
                <a:extLst>
                  <a:ext uri="{FF2B5EF4-FFF2-40B4-BE49-F238E27FC236}">
                    <a16:creationId xmlns:a16="http://schemas.microsoft.com/office/drawing/2014/main" id="{19B9A747-9120-B9DB-FE00-135DDC385C9C}"/>
                  </a:ext>
                </a:extLst>
              </p:cNvPr>
              <p:cNvSpPr txBox="1">
                <a:spLocks noRot="1" noChangeAspect="1" noMove="1" noResize="1" noEditPoints="1" noAdjustHandles="1" noChangeArrowheads="1" noChangeShapeType="1" noTextEdit="1"/>
              </p:cNvSpPr>
              <p:nvPr/>
            </p:nvSpPr>
            <p:spPr>
              <a:xfrm>
                <a:off x="844826" y="1431230"/>
                <a:ext cx="10525539" cy="3046988"/>
              </a:xfrm>
              <a:prstGeom prst="rect">
                <a:avLst/>
              </a:prstGeom>
              <a:blipFill>
                <a:blip r:embed="rId3"/>
                <a:stretch>
                  <a:fillRect l="-843" t="-1660" b="-3320"/>
                </a:stretch>
              </a:blipFill>
            </p:spPr>
            <p:txBody>
              <a:bodyPr/>
              <a:lstStyle/>
              <a:p>
                <a:r>
                  <a:rPr lang="fr-FR">
                    <a:noFill/>
                  </a:rPr>
                  <a:t> </a:t>
                </a:r>
              </a:p>
            </p:txBody>
          </p:sp>
        </mc:Fallback>
      </mc:AlternateContent>
      <p:pic>
        <p:nvPicPr>
          <p:cNvPr id="5" name="Graphique 4" descr="Tic Tac Toe avec un remplissage uni">
            <a:extLst>
              <a:ext uri="{FF2B5EF4-FFF2-40B4-BE49-F238E27FC236}">
                <a16:creationId xmlns:a16="http://schemas.microsoft.com/office/drawing/2014/main" id="{9BC62816-AE0B-DCBE-9436-C06C90C0C1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5945858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6C618-F995-9A31-10BE-D6F2B7356C8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E647906-E7A9-8963-5245-A6D641AB7081}"/>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6F741628-34AF-6F7F-7793-FE096F684275}"/>
                  </a:ext>
                </a:extLst>
              </p:cNvPr>
              <p:cNvSpPr txBox="1"/>
              <p:nvPr/>
            </p:nvSpPr>
            <p:spPr>
              <a:xfrm>
                <a:off x="844826" y="1431230"/>
                <a:ext cx="10525539" cy="3416320"/>
              </a:xfrm>
              <a:prstGeom prst="rect">
                <a:avLst/>
              </a:prstGeom>
              <a:noFill/>
            </p:spPr>
            <p:txBody>
              <a:bodyPr wrap="square" rtlCol="0">
                <a:spAutoFit/>
              </a:bodyPr>
              <a:lstStyle/>
              <a:p>
                <a:r>
                  <a:rPr lang="fr-FR" sz="2400" b="1" dirty="0"/>
                  <a:t>Limites du cas simple (suite)</a:t>
                </a:r>
              </a:p>
              <a:p>
                <a:endParaRPr lang="fr-FR" sz="2400" dirty="0"/>
              </a:p>
              <a:p>
                <a:pPr marL="342900" indent="-342900">
                  <a:buFont typeface="Arial" panose="020B0604020202020204" pitchFamily="34" charset="0"/>
                  <a:buChar char="•"/>
                </a:pPr>
                <a:r>
                  <a:rPr lang="fr-FR" sz="2400" dirty="0"/>
                  <a:t>Pour les échecs c’est beaucoup plus compliqué, car on estime qu’il y a environ </a:t>
                </a:r>
                <a14:m>
                  <m:oMath xmlns:m="http://schemas.openxmlformats.org/officeDocument/2006/math">
                    <m:sSup>
                      <m:sSupPr>
                        <m:ctrlPr>
                          <a:rPr lang="fr-FR" sz="2400" b="0" i="1" smtClean="0">
                            <a:latin typeface="Cambria Math" panose="02040503050406030204" pitchFamily="18" charset="0"/>
                          </a:rPr>
                        </m:ctrlPr>
                      </m:sSupPr>
                      <m:e>
                        <m:r>
                          <a:rPr lang="fr-FR" sz="2400" b="0" i="1" smtClean="0">
                            <a:latin typeface="Cambria Math" panose="02040503050406030204" pitchFamily="18" charset="0"/>
                          </a:rPr>
                          <m:t>10</m:t>
                        </m:r>
                      </m:e>
                      <m:sup>
                        <m:r>
                          <a:rPr lang="fr-FR" sz="2400" b="0" i="1" smtClean="0">
                            <a:latin typeface="Cambria Math" panose="02040503050406030204" pitchFamily="18" charset="0"/>
                          </a:rPr>
                          <m:t>120</m:t>
                        </m:r>
                      </m:sup>
                    </m:sSup>
                  </m:oMath>
                </a14:m>
                <a:r>
                  <a:rPr lang="fr-FR" sz="2400" b="0" dirty="0"/>
                  <a:t> parties différentes ce qui fait beaucoup plus que d’atomes dans l’univers.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Quand au jeu de Go une estimation du nombre de parties différentes est </a:t>
                </a:r>
                <a14:m>
                  <m:oMath xmlns:m="http://schemas.openxmlformats.org/officeDocument/2006/math">
                    <m:sSup>
                      <m:sSupPr>
                        <m:ctrlPr>
                          <a:rPr lang="fr-FR" sz="2400" i="1" smtClean="0">
                            <a:latin typeface="Cambria Math" panose="02040503050406030204" pitchFamily="18" charset="0"/>
                          </a:rPr>
                        </m:ctrlPr>
                      </m:sSupPr>
                      <m:e>
                        <m:r>
                          <a:rPr lang="fr-FR" sz="2400" b="0" i="1" smtClean="0">
                            <a:latin typeface="Cambria Math" panose="02040503050406030204" pitchFamily="18" charset="0"/>
                          </a:rPr>
                          <m:t>10</m:t>
                        </m:r>
                      </m:e>
                      <m:sup>
                        <m:r>
                          <a:rPr lang="fr-FR" sz="2400" b="0" i="1" smtClean="0">
                            <a:latin typeface="Cambria Math" panose="02040503050406030204" pitchFamily="18" charset="0"/>
                          </a:rPr>
                          <m:t>600</m:t>
                        </m:r>
                      </m:sup>
                    </m:sSup>
                  </m:oMath>
                </a14:m>
                <a:r>
                  <a:rPr lang="fr-FR" sz="2400" dirty="0"/>
                  <a: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Pour ces jeux il est donc impossible de parcourir les arborescences de jeu dans leur totalité.</a:t>
                </a:r>
              </a:p>
            </p:txBody>
          </p:sp>
        </mc:Choice>
        <mc:Fallback xmlns="">
          <p:sp>
            <p:nvSpPr>
              <p:cNvPr id="3" name="ZoneTexte 2">
                <a:extLst>
                  <a:ext uri="{FF2B5EF4-FFF2-40B4-BE49-F238E27FC236}">
                    <a16:creationId xmlns:a16="http://schemas.microsoft.com/office/drawing/2014/main" id="{6F741628-34AF-6F7F-7793-FE096F684275}"/>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3"/>
                <a:stretch>
                  <a:fillRect l="-843" t="-1481" b="-3333"/>
                </a:stretch>
              </a:blipFill>
            </p:spPr>
            <p:txBody>
              <a:bodyPr/>
              <a:lstStyle/>
              <a:p>
                <a:r>
                  <a:rPr lang="fr-FR">
                    <a:noFill/>
                  </a:rPr>
                  <a:t> </a:t>
                </a:r>
              </a:p>
            </p:txBody>
          </p:sp>
        </mc:Fallback>
      </mc:AlternateContent>
      <p:pic>
        <p:nvPicPr>
          <p:cNvPr id="5" name="Graphique 4" descr="Atome avec un remplissage uni">
            <a:extLst>
              <a:ext uri="{FF2B5EF4-FFF2-40B4-BE49-F238E27FC236}">
                <a16:creationId xmlns:a16="http://schemas.microsoft.com/office/drawing/2014/main" id="{7EA245A1-1A4F-8020-B269-2C386CC968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91465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F07D1-EE1F-6DA0-9F7B-D6D46F2E3B2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5681BEC-EA13-1BEC-5CEA-4F1A4AB104A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D0DFA78F-6D51-E99D-BBBB-8B3F39D2F72B}"/>
              </a:ext>
            </a:extLst>
          </p:cNvPr>
          <p:cNvSpPr txBox="1"/>
          <p:nvPr/>
        </p:nvSpPr>
        <p:spPr>
          <a:xfrm>
            <a:off x="844826" y="1431230"/>
            <a:ext cx="10525539" cy="3416320"/>
          </a:xfrm>
          <a:prstGeom prst="rect">
            <a:avLst/>
          </a:prstGeom>
          <a:noFill/>
        </p:spPr>
        <p:txBody>
          <a:bodyPr wrap="square" rtlCol="0">
            <a:spAutoFit/>
          </a:bodyPr>
          <a:lstStyle/>
          <a:p>
            <a:r>
              <a:rPr lang="fr-FR" sz="2400" b="1" dirty="0"/>
              <a:t>Cas général : principe</a:t>
            </a:r>
          </a:p>
          <a:p>
            <a:endParaRPr lang="fr-FR" sz="2400" dirty="0"/>
          </a:p>
          <a:p>
            <a:pPr marL="342900" indent="-342900">
              <a:buFont typeface="Arial" panose="020B0604020202020204" pitchFamily="34" charset="0"/>
              <a:buChar char="•"/>
            </a:pPr>
            <a:r>
              <a:rPr lang="fr-FR" sz="2400" dirty="0"/>
              <a:t>L’idée de base est la même que pour le cas simple, à savoir envisager successivement plusieurs coups des deux joueurs et estimer la situation en résultant.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Mais au lieu d’arrêter uniquement le parcours de l’arborescence aux feuilles, on se fixera un niveau de profondeur, </a:t>
            </a:r>
            <a:r>
              <a:rPr lang="fr-FR" sz="2400" i="1" dirty="0"/>
              <a:t>i.e.</a:t>
            </a:r>
            <a:r>
              <a:rPr lang="fr-FR" sz="2400" dirty="0"/>
              <a:t> un nombre de coups successifs maximum que l’on prendra en compte.</a:t>
            </a:r>
          </a:p>
        </p:txBody>
      </p:sp>
      <p:pic>
        <p:nvPicPr>
          <p:cNvPr id="5" name="Graphique 4" descr="Masque de baignade avec un remplissage uni">
            <a:extLst>
              <a:ext uri="{FF2B5EF4-FFF2-40B4-BE49-F238E27FC236}">
                <a16:creationId xmlns:a16="http://schemas.microsoft.com/office/drawing/2014/main" id="{DD240381-A6F3-061B-1470-360CBC6408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6807280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41730-1F84-F101-7F6C-ADF55E05163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E6D653-C077-F230-0764-20C55006E96C}"/>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100738F6-A4E6-F7F3-593A-02466DCF0BB4}"/>
              </a:ext>
            </a:extLst>
          </p:cNvPr>
          <p:cNvSpPr txBox="1"/>
          <p:nvPr/>
        </p:nvSpPr>
        <p:spPr>
          <a:xfrm>
            <a:off x="844826" y="1431230"/>
            <a:ext cx="10525539" cy="3416320"/>
          </a:xfrm>
          <a:prstGeom prst="rect">
            <a:avLst/>
          </a:prstGeom>
          <a:noFill/>
        </p:spPr>
        <p:txBody>
          <a:bodyPr wrap="square" rtlCol="0">
            <a:spAutoFit/>
          </a:bodyPr>
          <a:lstStyle/>
          <a:p>
            <a:r>
              <a:rPr lang="fr-FR" sz="2400" b="1" dirty="0"/>
              <a:t>Cas général : principe (suite)</a:t>
            </a:r>
          </a:p>
          <a:p>
            <a:endParaRPr lang="fr-FR" sz="2400" dirty="0"/>
          </a:p>
          <a:p>
            <a:pPr marL="342900" indent="-342900">
              <a:buFont typeface="Arial" panose="020B0604020202020204" pitchFamily="34" charset="0"/>
              <a:buChar char="•"/>
            </a:pPr>
            <a:r>
              <a:rPr lang="fr-FR" sz="2400" dirty="0"/>
              <a:t>On aura donc deux éventualités pour arrêter les parcours :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Arriver sur une feuille avant la profondeur maximale : dans cette situation on retournera l’utilité de la feuille en question comme dans le cas simple.</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Atteindre la profondeur maximale sans rencontrer de feuille : il faudra alors estimer la qualité du sommet en question et la retourner.</a:t>
            </a:r>
          </a:p>
        </p:txBody>
      </p:sp>
      <p:pic>
        <p:nvPicPr>
          <p:cNvPr id="5" name="Graphique 4" descr="Feuille d’érable avec un remplissage uni">
            <a:extLst>
              <a:ext uri="{FF2B5EF4-FFF2-40B4-BE49-F238E27FC236}">
                <a16:creationId xmlns:a16="http://schemas.microsoft.com/office/drawing/2014/main" id="{C75CDFD8-0563-B171-8901-1FCF2FBA55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5662835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4F35B-49F0-C7DD-C19A-9BE783B323E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475297-9C88-9765-F9DB-E3FCFC9DDA4C}"/>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B8F6E1E1-B2E0-481C-0955-A5DEB9A17F82}"/>
              </a:ext>
            </a:extLst>
          </p:cNvPr>
          <p:cNvSpPr txBox="1"/>
          <p:nvPr/>
        </p:nvSpPr>
        <p:spPr>
          <a:xfrm>
            <a:off x="844826" y="1431230"/>
            <a:ext cx="10525539" cy="3416320"/>
          </a:xfrm>
          <a:prstGeom prst="rect">
            <a:avLst/>
          </a:prstGeom>
          <a:noFill/>
        </p:spPr>
        <p:txBody>
          <a:bodyPr wrap="square" rtlCol="0">
            <a:spAutoFit/>
          </a:bodyPr>
          <a:lstStyle/>
          <a:p>
            <a:r>
              <a:rPr lang="fr-FR" sz="2400" b="1" dirty="0"/>
              <a:t>Cas général : principe (suite)</a:t>
            </a:r>
          </a:p>
          <a:p>
            <a:endParaRPr lang="fr-FR" sz="2400" dirty="0"/>
          </a:p>
          <a:p>
            <a:pPr marL="342900" indent="-342900">
              <a:buFont typeface="Arial" panose="020B0604020202020204" pitchFamily="34" charset="0"/>
              <a:buChar char="•"/>
            </a:pPr>
            <a:r>
              <a:rPr lang="fr-FR" sz="2400" dirty="0"/>
              <a:t>La remontée des informations se fera ensuite comme dans le cas simple, avec une alternance de sommets “maximum“ et de sommets “minimum“.</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L’efficacité de l’algorithme dépendra très fortement de la fonction d’évaluation des sommets qui ne sont pas des feuilles.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Il s’agira d’une </a:t>
            </a:r>
            <a:r>
              <a:rPr lang="fr-FR" sz="2400" b="1" dirty="0"/>
              <a:t>heuristique</a:t>
            </a:r>
            <a:r>
              <a:rPr lang="fr-FR" sz="2400" dirty="0"/>
              <a:t>.</a:t>
            </a:r>
          </a:p>
        </p:txBody>
      </p:sp>
      <p:pic>
        <p:nvPicPr>
          <p:cNvPr id="5" name="Graphique 4" descr="Graphique en radar avec un remplissage uni">
            <a:extLst>
              <a:ext uri="{FF2B5EF4-FFF2-40B4-BE49-F238E27FC236}">
                <a16:creationId xmlns:a16="http://schemas.microsoft.com/office/drawing/2014/main" id="{84644AC2-E185-BCD3-F7AC-892887133C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9148368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009D6-E2BF-7F29-34FC-77378EAFF2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6A9D062-43BC-40D2-071D-D5C7F6C288E4}"/>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1190FB16-38F3-FF1F-E322-3565DFD3FAC4}"/>
              </a:ext>
            </a:extLst>
          </p:cNvPr>
          <p:cNvSpPr txBox="1"/>
          <p:nvPr/>
        </p:nvSpPr>
        <p:spPr>
          <a:xfrm>
            <a:off x="844826" y="1431230"/>
            <a:ext cx="10525539" cy="4524315"/>
          </a:xfrm>
          <a:prstGeom prst="rect">
            <a:avLst/>
          </a:prstGeom>
          <a:noFill/>
        </p:spPr>
        <p:txBody>
          <a:bodyPr wrap="square" rtlCol="0">
            <a:spAutoFit/>
          </a:bodyPr>
          <a:lstStyle/>
          <a:p>
            <a:r>
              <a:rPr lang="fr-FR" sz="2400" b="1" dirty="0"/>
              <a:t>Cas général : heuristique d’évaluation</a:t>
            </a:r>
          </a:p>
          <a:p>
            <a:endParaRPr lang="fr-FR" sz="2400" dirty="0"/>
          </a:p>
          <a:p>
            <a:pPr marL="342900" indent="-342900">
              <a:buFont typeface="Arial" panose="020B0604020202020204" pitchFamily="34" charset="0"/>
              <a:buChar char="•"/>
            </a:pPr>
            <a:r>
              <a:rPr lang="fr-FR" sz="2400" dirty="0"/>
              <a:t>Son but est donc d’estimer la qualité des sommets non finaux, </a:t>
            </a:r>
            <a:r>
              <a:rPr lang="fr-FR" sz="2400" i="1" dirty="0"/>
              <a:t>i.e.</a:t>
            </a:r>
            <a:r>
              <a:rPr lang="fr-FR" sz="2400" dirty="0"/>
              <a:t> qui ne sont pas des feuilles de l’arborescence.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Ses qualités requises devront être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La </a:t>
            </a:r>
            <a:r>
              <a:rPr lang="fr-FR" sz="2400" b="1" dirty="0"/>
              <a:t>rapidité</a:t>
            </a:r>
            <a:r>
              <a:rPr lang="fr-FR" sz="2400" dirty="0"/>
              <a:t> : on cherche en effet à déterminer un coup optimal dans un délai raisonnable.</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La </a:t>
            </a:r>
            <a:r>
              <a:rPr lang="fr-FR" sz="2400" b="1" dirty="0"/>
              <a:t>pertinence</a:t>
            </a:r>
            <a:r>
              <a:rPr lang="fr-FR" sz="2400" dirty="0"/>
              <a:t> : la valeur calculée devra être fortement corrélée aux chances finales de victoire.</a:t>
            </a:r>
          </a:p>
        </p:txBody>
      </p:sp>
    </p:spTree>
    <p:extLst>
      <p:ext uri="{BB962C8B-B14F-4D97-AF65-F5344CB8AC3E}">
        <p14:creationId xmlns:p14="http://schemas.microsoft.com/office/powerpoint/2010/main" val="36130189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7B6C1-E923-5A41-12F7-3742D952D50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4B5B6FF-5956-EBDA-18D9-3719900A1510}"/>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91802781-E751-6DDF-CD34-C5C5AA4FC300}"/>
                  </a:ext>
                </a:extLst>
              </p:cNvPr>
              <p:cNvSpPr txBox="1"/>
              <p:nvPr/>
            </p:nvSpPr>
            <p:spPr>
              <a:xfrm>
                <a:off x="844826" y="1431230"/>
                <a:ext cx="10525539" cy="3785652"/>
              </a:xfrm>
              <a:prstGeom prst="rect">
                <a:avLst/>
              </a:prstGeom>
              <a:noFill/>
            </p:spPr>
            <p:txBody>
              <a:bodyPr wrap="square" rtlCol="0">
                <a:spAutoFit/>
              </a:bodyPr>
              <a:lstStyle/>
              <a:p>
                <a:r>
                  <a:rPr lang="fr-FR" sz="2400" b="1" dirty="0"/>
                  <a:t>Cas général : heuristique d’évaluation (suite)</a:t>
                </a:r>
              </a:p>
              <a:p>
                <a:endParaRPr lang="fr-FR" sz="2400" dirty="0"/>
              </a:p>
              <a:p>
                <a:pPr marL="342900" indent="-342900">
                  <a:buFont typeface="Arial" panose="020B0604020202020204" pitchFamily="34" charset="0"/>
                  <a:buChar char="•"/>
                </a:pPr>
                <a:r>
                  <a:rPr lang="fr-FR" sz="2400" dirty="0"/>
                  <a:t>Mettre au point une bonne heuristique est une </a:t>
                </a:r>
                <a:r>
                  <a:rPr lang="fr-FR" sz="2400" b="1" dirty="0"/>
                  <a:t>question difficile </a:t>
                </a:r>
                <a:r>
                  <a:rPr lang="fr-FR" sz="2400" dirty="0"/>
                  <a:t>et dépend bien évidemment des règles du jeu.</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Elle sera en général positive pour les situations favorables au premier joueur et négative pour celles favorables au second joueur.</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Pour prendre le dessus sur l’heuristique, les utilités des feuilles dans un jeu dont les issues sont victoire, défaite ou match nul seront </a:t>
                </a:r>
                <a14:m>
                  <m:oMath xmlns:m="http://schemas.openxmlformats.org/officeDocument/2006/math">
                    <m:r>
                      <a:rPr lang="fr-FR" sz="2400" b="0" i="1" smtClean="0">
                        <a:latin typeface="Cambria Math" panose="02040503050406030204" pitchFamily="18" charset="0"/>
                      </a:rPr>
                      <m:t>+∞,−∞,0</m:t>
                    </m:r>
                  </m:oMath>
                </a14:m>
                <a:r>
                  <a:rPr lang="fr-FR" sz="2400" dirty="0"/>
                  <a:t>.</a:t>
                </a:r>
              </a:p>
            </p:txBody>
          </p:sp>
        </mc:Choice>
        <mc:Fallback xmlns="">
          <p:sp>
            <p:nvSpPr>
              <p:cNvPr id="3" name="ZoneTexte 2">
                <a:extLst>
                  <a:ext uri="{FF2B5EF4-FFF2-40B4-BE49-F238E27FC236}">
                    <a16:creationId xmlns:a16="http://schemas.microsoft.com/office/drawing/2014/main" id="{91802781-E751-6DDF-CD34-C5C5AA4FC300}"/>
                  </a:ext>
                </a:extLst>
              </p:cNvPr>
              <p:cNvSpPr txBox="1">
                <a:spLocks noRot="1" noChangeAspect="1" noMove="1" noResize="1" noEditPoints="1" noAdjustHandles="1" noChangeArrowheads="1" noChangeShapeType="1" noTextEdit="1"/>
              </p:cNvSpPr>
              <p:nvPr/>
            </p:nvSpPr>
            <p:spPr>
              <a:xfrm>
                <a:off x="844826" y="1431230"/>
                <a:ext cx="10525539" cy="3785652"/>
              </a:xfrm>
              <a:prstGeom prst="rect">
                <a:avLst/>
              </a:prstGeom>
              <a:blipFill>
                <a:blip r:embed="rId2"/>
                <a:stretch>
                  <a:fillRect l="-843" t="-1338" r="-964" b="-3010"/>
                </a:stretch>
              </a:blipFill>
            </p:spPr>
            <p:txBody>
              <a:bodyPr/>
              <a:lstStyle/>
              <a:p>
                <a:r>
                  <a:rPr lang="fr-FR">
                    <a:noFill/>
                  </a:rPr>
                  <a:t> </a:t>
                </a:r>
              </a:p>
            </p:txBody>
          </p:sp>
        </mc:Fallback>
      </mc:AlternateContent>
    </p:spTree>
    <p:extLst>
      <p:ext uri="{BB962C8B-B14F-4D97-AF65-F5344CB8AC3E}">
        <p14:creationId xmlns:p14="http://schemas.microsoft.com/office/powerpoint/2010/main" val="18993748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CA942-29AF-F081-EE59-DB99337A94F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2820B6D-9C1C-A58B-B7B9-55DEDF502380}"/>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734D2B48-7A6B-FB47-B5E3-82C3D89CA269}"/>
                  </a:ext>
                </a:extLst>
              </p:cNvPr>
              <p:cNvSpPr txBox="1"/>
              <p:nvPr/>
            </p:nvSpPr>
            <p:spPr>
              <a:xfrm>
                <a:off x="844826" y="1431230"/>
                <a:ext cx="10525539" cy="3046988"/>
              </a:xfrm>
              <a:prstGeom prst="rect">
                <a:avLst/>
              </a:prstGeom>
              <a:noFill/>
            </p:spPr>
            <p:txBody>
              <a:bodyPr wrap="square" rtlCol="0">
                <a:spAutoFit/>
              </a:bodyPr>
              <a:lstStyle/>
              <a:p>
                <a:r>
                  <a:rPr lang="fr-FR" sz="2400" b="1" dirty="0"/>
                  <a:t>Cas général : heuristique d’évaluation (suite)</a:t>
                </a:r>
              </a:p>
              <a:p>
                <a:endParaRPr lang="fr-FR" sz="2400" dirty="0"/>
              </a:p>
              <a:p>
                <a:pPr marL="342900" indent="-342900">
                  <a:buFont typeface="Arial" panose="020B0604020202020204" pitchFamily="34" charset="0"/>
                  <a:buChar char="•"/>
                </a:pPr>
                <a:r>
                  <a:rPr lang="fr-FR" sz="2400" dirty="0"/>
                  <a:t>Aux échecs on pourra par exemple attribuer un poids </a:t>
                </a:r>
                <a14:m>
                  <m:oMath xmlns:m="http://schemas.openxmlformats.org/officeDocument/2006/math">
                    <m:sSub>
                      <m:sSubPr>
                        <m:ctrlPr>
                          <a:rPr lang="fr-FR" sz="2400" b="0" i="1" smtClean="0">
                            <a:latin typeface="Cambria Math" panose="02040503050406030204" pitchFamily="18" charset="0"/>
                          </a:rPr>
                        </m:ctrlPr>
                      </m:sSubPr>
                      <m:e>
                        <m:r>
                          <a:rPr lang="fr-FR" sz="2400" b="0" i="1" smtClean="0">
                            <a:latin typeface="Cambria Math" panose="02040503050406030204" pitchFamily="18" charset="0"/>
                          </a:rPr>
                          <m:t>𝑤</m:t>
                        </m:r>
                      </m:e>
                      <m:sub>
                        <m:r>
                          <a:rPr lang="fr-FR" sz="2400" b="0" i="1" smtClean="0">
                            <a:latin typeface="Cambria Math" panose="02040503050406030204" pitchFamily="18" charset="0"/>
                          </a:rPr>
                          <m:t>𝑖</m:t>
                        </m:r>
                      </m:sub>
                    </m:sSub>
                  </m:oMath>
                </a14:m>
                <a:r>
                  <a:rPr lang="fr-FR" sz="2400" dirty="0"/>
                  <a:t> pour chaque type de pièce (</a:t>
                </a:r>
                <a:r>
                  <a:rPr lang="fr-FR" sz="2400" i="1" dirty="0"/>
                  <a:t>e.g.</a:t>
                </a:r>
                <a:r>
                  <a:rPr lang="fr-FR" sz="2400" dirty="0"/>
                  <a:t> </a:t>
                </a:r>
                <a14:m>
                  <m:oMath xmlns:m="http://schemas.openxmlformats.org/officeDocument/2006/math">
                    <m:r>
                      <a:rPr lang="fr-FR" sz="2400" b="0" i="1" smtClean="0">
                        <a:latin typeface="Cambria Math" panose="02040503050406030204" pitchFamily="18" charset="0"/>
                      </a:rPr>
                      <m:t>20</m:t>
                    </m:r>
                  </m:oMath>
                </a14:m>
                <a:r>
                  <a:rPr lang="fr-FR" sz="2400" dirty="0"/>
                  <a:t> pour une reine, </a:t>
                </a:r>
                <a14:m>
                  <m:oMath xmlns:m="http://schemas.openxmlformats.org/officeDocument/2006/math">
                    <m:r>
                      <a:rPr lang="fr-FR" sz="2400" b="0" i="1" smtClean="0">
                        <a:latin typeface="Cambria Math" panose="02040503050406030204" pitchFamily="18" charset="0"/>
                      </a:rPr>
                      <m:t>15</m:t>
                    </m:r>
                  </m:oMath>
                </a14:m>
                <a:r>
                  <a:rPr lang="fr-FR" sz="2400" dirty="0"/>
                  <a:t> pour un cavalier, </a:t>
                </a:r>
                <a14:m>
                  <m:oMath xmlns:m="http://schemas.openxmlformats.org/officeDocument/2006/math">
                    <m:r>
                      <a:rPr lang="fr-FR" sz="2400" b="0" i="1" smtClean="0">
                        <a:latin typeface="Cambria Math" panose="02040503050406030204" pitchFamily="18" charset="0"/>
                      </a:rPr>
                      <m:t>10</m:t>
                    </m:r>
                  </m:oMath>
                </a14:m>
                <a:r>
                  <a:rPr lang="fr-FR" sz="2400" dirty="0"/>
                  <a:t> pour une tour ou un fou, etc.), et définir </a:t>
                </a:r>
                <a14:m>
                  <m:oMath xmlns:m="http://schemas.openxmlformats.org/officeDocument/2006/math">
                    <m:sSub>
                      <m:sSubPr>
                        <m:ctrlPr>
                          <a:rPr lang="fr-FR" sz="2400" b="0" i="1" smtClean="0">
                            <a:latin typeface="Cambria Math" panose="02040503050406030204" pitchFamily="18" charset="0"/>
                          </a:rPr>
                        </m:ctrlPr>
                      </m:sSubPr>
                      <m:e>
                        <m:r>
                          <a:rPr lang="fr-FR" sz="2400" b="0" i="1" smtClean="0">
                            <a:latin typeface="Cambria Math" panose="02040503050406030204" pitchFamily="18" charset="0"/>
                          </a:rPr>
                          <m:t>𝑓</m:t>
                        </m:r>
                      </m:e>
                      <m:sub>
                        <m:r>
                          <a:rPr lang="fr-FR" sz="2400" b="0" i="1" smtClean="0">
                            <a:latin typeface="Cambria Math" panose="02040503050406030204" pitchFamily="18" charset="0"/>
                          </a:rPr>
                          <m:t>𝑖</m:t>
                        </m:r>
                      </m:sub>
                    </m:sSub>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𝑝𝑜𝑠𝑖𝑡𝑖𝑜𝑛</m:t>
                        </m:r>
                      </m:e>
                    </m:d>
                  </m:oMath>
                </a14:m>
                <a:r>
                  <a:rPr lang="fr-FR" sz="2400" dirty="0"/>
                  <a:t> comme étant la différence du nombre de pièces du type </a:t>
                </a:r>
                <a14:m>
                  <m:oMath xmlns:m="http://schemas.openxmlformats.org/officeDocument/2006/math">
                    <m:r>
                      <a:rPr lang="fr-FR" sz="2400" b="0" i="1" smtClean="0">
                        <a:latin typeface="Cambria Math" panose="02040503050406030204" pitchFamily="18" charset="0"/>
                      </a:rPr>
                      <m:t>𝑖</m:t>
                    </m:r>
                  </m:oMath>
                </a14:m>
                <a:r>
                  <a:rPr lang="fr-FR" sz="2400" dirty="0"/>
                  <a:t> entre le premier joueur et le second dans </a:t>
                </a:r>
                <a14:m>
                  <m:oMath xmlns:m="http://schemas.openxmlformats.org/officeDocument/2006/math">
                    <m:r>
                      <a:rPr lang="fr-FR" sz="2400" b="0" i="1" smtClean="0">
                        <a:latin typeface="Cambria Math" panose="02040503050406030204" pitchFamily="18" charset="0"/>
                      </a:rPr>
                      <m:t>𝑝𝑜𝑠𝑖𝑡𝑖𝑜𝑛</m:t>
                    </m:r>
                  </m:oMath>
                </a14:m>
                <a:r>
                  <a:rPr lang="fr-FR" sz="2400" dirty="0"/>
                  <a: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L’heuristique d’une </a:t>
                </a:r>
                <a14:m>
                  <m:oMath xmlns:m="http://schemas.openxmlformats.org/officeDocument/2006/math">
                    <m:r>
                      <a:rPr lang="fr-FR" sz="2400" b="0" i="1" smtClean="0">
                        <a:latin typeface="Cambria Math" panose="02040503050406030204" pitchFamily="18" charset="0"/>
                      </a:rPr>
                      <m:t>𝑝𝑜𝑠𝑖𝑡𝑖𝑜𝑛</m:t>
                    </m:r>
                  </m:oMath>
                </a14:m>
                <a:r>
                  <a:rPr lang="fr-FR" sz="2400" dirty="0"/>
                  <a:t> sera alors de la forme </a:t>
                </a:r>
              </a:p>
            </p:txBody>
          </p:sp>
        </mc:Choice>
        <mc:Fallback xmlns="">
          <p:sp>
            <p:nvSpPr>
              <p:cNvPr id="3" name="ZoneTexte 2">
                <a:extLst>
                  <a:ext uri="{FF2B5EF4-FFF2-40B4-BE49-F238E27FC236}">
                    <a16:creationId xmlns:a16="http://schemas.microsoft.com/office/drawing/2014/main" id="{734D2B48-7A6B-FB47-B5E3-82C3D89CA269}"/>
                  </a:ext>
                </a:extLst>
              </p:cNvPr>
              <p:cNvSpPr txBox="1">
                <a:spLocks noRot="1" noChangeAspect="1" noMove="1" noResize="1" noEditPoints="1" noAdjustHandles="1" noChangeArrowheads="1" noChangeShapeType="1" noTextEdit="1"/>
              </p:cNvSpPr>
              <p:nvPr/>
            </p:nvSpPr>
            <p:spPr>
              <a:xfrm>
                <a:off x="844826" y="1431230"/>
                <a:ext cx="10525539" cy="3046988"/>
              </a:xfrm>
              <a:prstGeom prst="rect">
                <a:avLst/>
              </a:prstGeom>
              <a:blipFill>
                <a:blip r:embed="rId3"/>
                <a:stretch>
                  <a:fillRect l="-843" t="-1660" r="-361" b="-332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08966C39-B9F5-96A2-2A0D-F6E1315F87DB}"/>
                  </a:ext>
                </a:extLst>
              </p:cNvPr>
              <p:cNvSpPr txBox="1"/>
              <p:nvPr/>
            </p:nvSpPr>
            <p:spPr>
              <a:xfrm>
                <a:off x="383822" y="4533449"/>
                <a:ext cx="11785600" cy="135787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m:rPr>
                          <m:nor/>
                        </m:rPr>
                        <a:rPr lang="fr-FR" sz="2400" smtClean="0">
                          <a:latin typeface="Cambria Math" panose="02040503050406030204" pitchFamily="18" charset="0"/>
                        </a:rPr>
                        <m:t>heuristique</m:t>
                      </m:r>
                      <m:d>
                        <m:dPr>
                          <m:ctrlPr>
                            <a:rPr lang="fr-FR" sz="2400" i="1">
                              <a:latin typeface="Cambria Math" panose="02040503050406030204" pitchFamily="18" charset="0"/>
                            </a:rPr>
                          </m:ctrlPr>
                        </m:dPr>
                        <m:e>
                          <m:r>
                            <a:rPr lang="fr-FR" sz="2400" i="1">
                              <a:latin typeface="Cambria Math" panose="02040503050406030204" pitchFamily="18" charset="0"/>
                            </a:rPr>
                            <m:t>𝑝𝑜𝑠𝑖𝑡𝑖𝑜𝑛</m:t>
                          </m:r>
                        </m:e>
                      </m:d>
                      <m:r>
                        <m:rPr>
                          <m:aln/>
                        </m:rPr>
                        <a:rPr lang="fr-FR" sz="2400" i="1">
                          <a:latin typeface="Cambria Math" panose="02040503050406030204" pitchFamily="18" charset="0"/>
                        </a:rPr>
                        <m:t>=</m:t>
                      </m:r>
                      <m:nary>
                        <m:naryPr>
                          <m:chr m:val="∑"/>
                          <m:supHide m:val="on"/>
                          <m:ctrlPr>
                            <a:rPr lang="fr-FR" sz="2400" i="1">
                              <a:latin typeface="Cambria Math" panose="02040503050406030204" pitchFamily="18" charset="0"/>
                            </a:rPr>
                          </m:ctrlPr>
                        </m:naryPr>
                        <m:sub>
                          <m:r>
                            <m:rPr>
                              <m:brk m:alnAt="7"/>
                            </m:rPr>
                            <a:rPr lang="fr-FR" sz="2400" i="1">
                              <a:latin typeface="Cambria Math" panose="02040503050406030204" pitchFamily="18" charset="0"/>
                            </a:rPr>
                            <m:t>𝑖</m:t>
                          </m:r>
                        </m:sub>
                        <m:sup/>
                        <m:e>
                          <m:sSub>
                            <m:sSubPr>
                              <m:ctrlPr>
                                <a:rPr lang="fr-FR" sz="2400" i="1">
                                  <a:latin typeface="Cambria Math" panose="02040503050406030204" pitchFamily="18" charset="0"/>
                                </a:rPr>
                              </m:ctrlPr>
                            </m:sSubPr>
                            <m:e>
                              <m:r>
                                <a:rPr lang="fr-FR" sz="2400" i="1">
                                  <a:latin typeface="Cambria Math" panose="02040503050406030204" pitchFamily="18" charset="0"/>
                                </a:rPr>
                                <m:t>𝑤</m:t>
                              </m:r>
                            </m:e>
                            <m:sub>
                              <m:r>
                                <a:rPr lang="fr-FR" sz="2400" i="1">
                                  <a:latin typeface="Cambria Math" panose="02040503050406030204" pitchFamily="18" charset="0"/>
                                </a:rPr>
                                <m:t>𝑖</m:t>
                              </m:r>
                            </m:sub>
                          </m:sSub>
                          <m:sSub>
                            <m:sSubPr>
                              <m:ctrlPr>
                                <a:rPr lang="fr-FR" sz="2400" i="1">
                                  <a:latin typeface="Cambria Math" panose="02040503050406030204" pitchFamily="18" charset="0"/>
                                </a:rPr>
                              </m:ctrlPr>
                            </m:sSubPr>
                            <m:e>
                              <m:r>
                                <a:rPr lang="fr-FR" sz="2400" i="1">
                                  <a:latin typeface="Cambria Math" panose="02040503050406030204" pitchFamily="18" charset="0"/>
                                </a:rPr>
                                <m:t>𝑓</m:t>
                              </m:r>
                            </m:e>
                            <m:sub>
                              <m:r>
                                <a:rPr lang="fr-FR" sz="2400" i="1">
                                  <a:latin typeface="Cambria Math" panose="02040503050406030204" pitchFamily="18" charset="0"/>
                                </a:rPr>
                                <m:t>𝑖</m:t>
                              </m:r>
                            </m:sub>
                          </m:sSub>
                          <m:d>
                            <m:dPr>
                              <m:ctrlPr>
                                <a:rPr lang="fr-FR" sz="2400" i="1">
                                  <a:latin typeface="Cambria Math" panose="02040503050406030204" pitchFamily="18" charset="0"/>
                                </a:rPr>
                              </m:ctrlPr>
                            </m:dPr>
                            <m:e>
                              <m:r>
                                <a:rPr lang="fr-FR" sz="2400" i="1">
                                  <a:latin typeface="Cambria Math" panose="02040503050406030204" pitchFamily="18" charset="0"/>
                                </a:rPr>
                                <m:t>𝑝𝑜𝑠𝑖𝑡𝑖𝑜𝑛</m:t>
                              </m:r>
                            </m:e>
                          </m:d>
                        </m:e>
                      </m:nary>
                    </m:oMath>
                    <m:oMath xmlns:m="http://schemas.openxmlformats.org/officeDocument/2006/math">
                      <m:r>
                        <m:rPr>
                          <m:aln/>
                        </m:rPr>
                        <a:rPr lang="fr-FR" sz="2400" i="1">
                          <a:latin typeface="Cambria Math" panose="02040503050406030204" pitchFamily="18" charset="0"/>
                        </a:rPr>
                        <m:t>=</m:t>
                      </m:r>
                      <m:sSub>
                        <m:sSubPr>
                          <m:ctrlPr>
                            <a:rPr lang="fr-FR" sz="2400" i="1">
                              <a:latin typeface="Cambria Math" panose="02040503050406030204" pitchFamily="18" charset="0"/>
                            </a:rPr>
                          </m:ctrlPr>
                        </m:sSubPr>
                        <m:e>
                          <m:r>
                            <a:rPr lang="fr-FR" sz="2400" i="1">
                              <a:latin typeface="Cambria Math" panose="02040503050406030204" pitchFamily="18" charset="0"/>
                            </a:rPr>
                            <m:t>𝑤</m:t>
                          </m:r>
                        </m:e>
                        <m:sub>
                          <m:r>
                            <a:rPr lang="fr-FR" sz="2400" i="1">
                              <a:latin typeface="Cambria Math" panose="02040503050406030204" pitchFamily="18" charset="0"/>
                            </a:rPr>
                            <m:t>1</m:t>
                          </m:r>
                        </m:sub>
                      </m:sSub>
                      <m:sSub>
                        <m:sSubPr>
                          <m:ctrlPr>
                            <a:rPr lang="fr-FR" sz="2400" i="1">
                              <a:latin typeface="Cambria Math" panose="02040503050406030204" pitchFamily="18" charset="0"/>
                            </a:rPr>
                          </m:ctrlPr>
                        </m:sSubPr>
                        <m:e>
                          <m:r>
                            <a:rPr lang="fr-FR" sz="2400" i="1">
                              <a:latin typeface="Cambria Math" panose="02040503050406030204" pitchFamily="18" charset="0"/>
                            </a:rPr>
                            <m:t>𝑓</m:t>
                          </m:r>
                        </m:e>
                        <m:sub>
                          <m:r>
                            <a:rPr lang="fr-FR" sz="2400" i="1">
                              <a:latin typeface="Cambria Math" panose="02040503050406030204" pitchFamily="18" charset="0"/>
                            </a:rPr>
                            <m:t>1</m:t>
                          </m:r>
                        </m:sub>
                      </m:sSub>
                      <m:d>
                        <m:dPr>
                          <m:ctrlPr>
                            <a:rPr lang="fr-FR" sz="2400" i="1">
                              <a:latin typeface="Cambria Math" panose="02040503050406030204" pitchFamily="18" charset="0"/>
                            </a:rPr>
                          </m:ctrlPr>
                        </m:dPr>
                        <m:e>
                          <m:r>
                            <a:rPr lang="fr-FR" sz="2400" i="1">
                              <a:latin typeface="Cambria Math" panose="02040503050406030204" pitchFamily="18" charset="0"/>
                            </a:rPr>
                            <m:t>𝑝𝑜𝑠𝑖𝑡𝑖𝑜𝑛</m:t>
                          </m:r>
                        </m:e>
                      </m:d>
                      <m:r>
                        <a:rPr lang="fr-FR" sz="2400" i="1">
                          <a:latin typeface="Cambria Math" panose="02040503050406030204" pitchFamily="18" charset="0"/>
                        </a:rPr>
                        <m:t>+</m:t>
                      </m:r>
                      <m:sSub>
                        <m:sSubPr>
                          <m:ctrlPr>
                            <a:rPr lang="fr-FR" sz="2400" i="1">
                              <a:latin typeface="Cambria Math" panose="02040503050406030204" pitchFamily="18" charset="0"/>
                            </a:rPr>
                          </m:ctrlPr>
                        </m:sSubPr>
                        <m:e>
                          <m:r>
                            <a:rPr lang="fr-FR" sz="2400" i="1">
                              <a:latin typeface="Cambria Math" panose="02040503050406030204" pitchFamily="18" charset="0"/>
                            </a:rPr>
                            <m:t>𝑤</m:t>
                          </m:r>
                        </m:e>
                        <m:sub>
                          <m:r>
                            <a:rPr lang="fr-FR" sz="2400" i="1">
                              <a:latin typeface="Cambria Math" panose="02040503050406030204" pitchFamily="18" charset="0"/>
                            </a:rPr>
                            <m:t>2</m:t>
                          </m:r>
                        </m:sub>
                      </m:sSub>
                      <m:sSub>
                        <m:sSubPr>
                          <m:ctrlPr>
                            <a:rPr lang="fr-FR" sz="2400" i="1">
                              <a:latin typeface="Cambria Math" panose="02040503050406030204" pitchFamily="18" charset="0"/>
                            </a:rPr>
                          </m:ctrlPr>
                        </m:sSubPr>
                        <m:e>
                          <m:r>
                            <a:rPr lang="fr-FR" sz="2400" i="1">
                              <a:latin typeface="Cambria Math" panose="02040503050406030204" pitchFamily="18" charset="0"/>
                            </a:rPr>
                            <m:t>𝑓</m:t>
                          </m:r>
                        </m:e>
                        <m:sub>
                          <m:r>
                            <a:rPr lang="fr-FR" sz="2400" i="1">
                              <a:latin typeface="Cambria Math" panose="02040503050406030204" pitchFamily="18" charset="0"/>
                            </a:rPr>
                            <m:t>2</m:t>
                          </m:r>
                        </m:sub>
                      </m:sSub>
                      <m:d>
                        <m:dPr>
                          <m:ctrlPr>
                            <a:rPr lang="fr-FR" sz="2400" i="1">
                              <a:latin typeface="Cambria Math" panose="02040503050406030204" pitchFamily="18" charset="0"/>
                            </a:rPr>
                          </m:ctrlPr>
                        </m:dPr>
                        <m:e>
                          <m:r>
                            <a:rPr lang="fr-FR" sz="2400" i="1">
                              <a:latin typeface="Cambria Math" panose="02040503050406030204" pitchFamily="18" charset="0"/>
                            </a:rPr>
                            <m:t>𝑝𝑜𝑠𝑖𝑡𝑖𝑜𝑛</m:t>
                          </m:r>
                        </m:e>
                      </m:d>
                      <m:r>
                        <a:rPr lang="fr-FR" sz="2400" b="0" i="1" smtClean="0">
                          <a:latin typeface="Cambria Math" panose="02040503050406030204" pitchFamily="18" charset="0"/>
                        </a:rPr>
                        <m:t>+</m:t>
                      </m:r>
                      <m:r>
                        <a:rPr lang="fr-FR" sz="2400" i="1" smtClean="0">
                          <a:latin typeface="Cambria Math" panose="02040503050406030204" pitchFamily="18" charset="0"/>
                        </a:rPr>
                        <m:t>…</m:t>
                      </m:r>
                    </m:oMath>
                  </m:oMathPara>
                </a14:m>
                <a:endParaRPr lang="fr-FR" sz="2400" dirty="0"/>
              </a:p>
            </p:txBody>
          </p:sp>
        </mc:Choice>
        <mc:Fallback xmlns="">
          <p:sp>
            <p:nvSpPr>
              <p:cNvPr id="4" name="ZoneTexte 3">
                <a:extLst>
                  <a:ext uri="{FF2B5EF4-FFF2-40B4-BE49-F238E27FC236}">
                    <a16:creationId xmlns:a16="http://schemas.microsoft.com/office/drawing/2014/main" id="{08966C39-B9F5-96A2-2A0D-F6E1315F87DB}"/>
                  </a:ext>
                </a:extLst>
              </p:cNvPr>
              <p:cNvSpPr txBox="1">
                <a:spLocks noRot="1" noChangeAspect="1" noMove="1" noResize="1" noEditPoints="1" noAdjustHandles="1" noChangeArrowheads="1" noChangeShapeType="1" noTextEdit="1"/>
              </p:cNvSpPr>
              <p:nvPr/>
            </p:nvSpPr>
            <p:spPr>
              <a:xfrm>
                <a:off x="383822" y="4533449"/>
                <a:ext cx="11785600" cy="1357872"/>
              </a:xfrm>
              <a:prstGeom prst="rect">
                <a:avLst/>
              </a:prstGeom>
              <a:blipFill>
                <a:blip r:embed="rId4"/>
                <a:stretch>
                  <a:fillRect t="-96262" b="-105607"/>
                </a:stretch>
              </a:blipFill>
            </p:spPr>
            <p:txBody>
              <a:bodyPr/>
              <a:lstStyle/>
              <a:p>
                <a:r>
                  <a:rPr lang="fr-FR">
                    <a:noFill/>
                  </a:rPr>
                  <a:t> </a:t>
                </a:r>
              </a:p>
            </p:txBody>
          </p:sp>
        </mc:Fallback>
      </mc:AlternateContent>
    </p:spTree>
    <p:extLst>
      <p:ext uri="{BB962C8B-B14F-4D97-AF65-F5344CB8AC3E}">
        <p14:creationId xmlns:p14="http://schemas.microsoft.com/office/powerpoint/2010/main" val="6003212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391F2-B516-FD71-2861-C60D090BDDB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4FA79B-641B-1880-8624-99A0AD59F2CA}"/>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9BBB72B1-16B1-1A4F-356B-02A6A4F282ED}"/>
                  </a:ext>
                </a:extLst>
              </p:cNvPr>
              <p:cNvSpPr txBox="1"/>
              <p:nvPr/>
            </p:nvSpPr>
            <p:spPr>
              <a:xfrm>
                <a:off x="844826" y="1431230"/>
                <a:ext cx="10525539" cy="3785652"/>
              </a:xfrm>
              <a:prstGeom prst="rect">
                <a:avLst/>
              </a:prstGeom>
              <a:noFill/>
            </p:spPr>
            <p:txBody>
              <a:bodyPr wrap="square" rtlCol="0">
                <a:spAutoFit/>
              </a:bodyPr>
              <a:lstStyle/>
              <a:p>
                <a:r>
                  <a:rPr lang="fr-FR" sz="2400" b="1" dirty="0"/>
                  <a:t>Cas général : heuristique d’évaluation (suite)</a:t>
                </a:r>
              </a:p>
              <a:p>
                <a:endParaRPr lang="fr-FR" sz="2400" dirty="0"/>
              </a:p>
              <a:p>
                <a:pPr marL="342900" indent="-342900">
                  <a:buFont typeface="Arial" panose="020B0604020202020204" pitchFamily="34" charset="0"/>
                  <a:buChar char="•"/>
                </a:pPr>
                <a:r>
                  <a:rPr lang="fr-FR" sz="2400" dirty="0"/>
                  <a:t>Dans des jeux d’alignement du style Puissance 4 ou Gomoku, on pourra de la même façon calculer une somme pondérée mais au lieu de prendre en compte des types de pièces on considèrera des alignements partiels ouverts de </a:t>
                </a:r>
                <a14:m>
                  <m:oMath xmlns:m="http://schemas.openxmlformats.org/officeDocument/2006/math">
                    <m:r>
                      <a:rPr lang="fr-FR" sz="2400" b="0" i="1" smtClean="0">
                        <a:latin typeface="Cambria Math" panose="02040503050406030204" pitchFamily="18" charset="0"/>
                      </a:rPr>
                      <m:t>2,3</m:t>
                    </m:r>
                  </m:oMath>
                </a14:m>
                <a:r>
                  <a:rPr lang="fr-FR" sz="2400" dirty="0"/>
                  <a:t> (ou plus selon le jeu) pions.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La formule sera alors de la même forme, en définissant </a:t>
                </a:r>
                <a14:m>
                  <m:oMath xmlns:m="http://schemas.openxmlformats.org/officeDocument/2006/math">
                    <m:sSub>
                      <m:sSubPr>
                        <m:ctrlPr>
                          <a:rPr lang="fr-FR" sz="2400" b="0" i="1" smtClean="0">
                            <a:latin typeface="Cambria Math" panose="02040503050406030204" pitchFamily="18" charset="0"/>
                          </a:rPr>
                        </m:ctrlPr>
                      </m:sSubPr>
                      <m:e>
                        <m:r>
                          <a:rPr lang="fr-FR" sz="2400" b="0" i="1" smtClean="0">
                            <a:latin typeface="Cambria Math" panose="02040503050406030204" pitchFamily="18" charset="0"/>
                          </a:rPr>
                          <m:t>𝑓</m:t>
                        </m:r>
                      </m:e>
                      <m:sub>
                        <m:r>
                          <a:rPr lang="fr-FR" sz="2400" b="0" i="1" smtClean="0">
                            <a:latin typeface="Cambria Math" panose="02040503050406030204" pitchFamily="18" charset="0"/>
                          </a:rPr>
                          <m:t>𝑖</m:t>
                        </m:r>
                      </m:sub>
                    </m:sSub>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𝑝𝑜𝑠𝑖𝑡𝑖𝑜𝑛</m:t>
                        </m:r>
                      </m:e>
                    </m:d>
                  </m:oMath>
                </a14:m>
                <a:r>
                  <a:rPr lang="fr-FR" sz="2400" dirty="0"/>
                  <a:t> comme étant la différence du nombre d’alignements partiels de </a:t>
                </a:r>
                <a14:m>
                  <m:oMath xmlns:m="http://schemas.openxmlformats.org/officeDocument/2006/math">
                    <m:r>
                      <a:rPr lang="fr-FR" sz="2400" b="0" i="1" smtClean="0">
                        <a:latin typeface="Cambria Math" panose="02040503050406030204" pitchFamily="18" charset="0"/>
                      </a:rPr>
                      <m:t>𝑖</m:t>
                    </m:r>
                  </m:oMath>
                </a14:m>
                <a:r>
                  <a:rPr lang="fr-FR" sz="2400" dirty="0"/>
                  <a:t> pions entre les deux joueurs.</a:t>
                </a:r>
              </a:p>
            </p:txBody>
          </p:sp>
        </mc:Choice>
        <mc:Fallback xmlns="">
          <p:sp>
            <p:nvSpPr>
              <p:cNvPr id="3" name="ZoneTexte 2">
                <a:extLst>
                  <a:ext uri="{FF2B5EF4-FFF2-40B4-BE49-F238E27FC236}">
                    <a16:creationId xmlns:a16="http://schemas.microsoft.com/office/drawing/2014/main" id="{9BBB72B1-16B1-1A4F-356B-02A6A4F282ED}"/>
                  </a:ext>
                </a:extLst>
              </p:cNvPr>
              <p:cNvSpPr txBox="1">
                <a:spLocks noRot="1" noChangeAspect="1" noMove="1" noResize="1" noEditPoints="1" noAdjustHandles="1" noChangeArrowheads="1" noChangeShapeType="1" noTextEdit="1"/>
              </p:cNvSpPr>
              <p:nvPr/>
            </p:nvSpPr>
            <p:spPr>
              <a:xfrm>
                <a:off x="844826" y="1431230"/>
                <a:ext cx="10525539" cy="3785652"/>
              </a:xfrm>
              <a:prstGeom prst="rect">
                <a:avLst/>
              </a:prstGeom>
              <a:blipFill>
                <a:blip r:embed="rId3"/>
                <a:stretch>
                  <a:fillRect l="-843" t="-1338" b="-3010"/>
                </a:stretch>
              </a:blipFill>
            </p:spPr>
            <p:txBody>
              <a:bodyPr/>
              <a:lstStyle/>
              <a:p>
                <a:r>
                  <a:rPr lang="fr-FR">
                    <a:noFill/>
                  </a:rPr>
                  <a:t> </a:t>
                </a:r>
              </a:p>
            </p:txBody>
          </p:sp>
        </mc:Fallback>
      </mc:AlternateContent>
      <p:pic>
        <p:nvPicPr>
          <p:cNvPr id="5" name="Graphique 4" descr="Badge 4 avec un remplissage uni">
            <a:extLst>
              <a:ext uri="{FF2B5EF4-FFF2-40B4-BE49-F238E27FC236}">
                <a16:creationId xmlns:a16="http://schemas.microsoft.com/office/drawing/2014/main" id="{7A7766F2-72CF-B389-DF7E-1FB6C903D6A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4969465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39E52-D350-78A1-0EC1-7E6A821BA5F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C6ED07-F6C6-812F-16EC-E8F5C00CE3E3}"/>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76AB3529-FB53-01CA-4CCB-5C29729256ED}"/>
              </a:ext>
            </a:extLst>
          </p:cNvPr>
          <p:cNvSpPr txBox="1"/>
          <p:nvPr/>
        </p:nvSpPr>
        <p:spPr>
          <a:xfrm>
            <a:off x="844826" y="1431230"/>
            <a:ext cx="10525539" cy="3046988"/>
          </a:xfrm>
          <a:prstGeom prst="rect">
            <a:avLst/>
          </a:prstGeom>
          <a:noFill/>
        </p:spPr>
        <p:txBody>
          <a:bodyPr wrap="square" rtlCol="0">
            <a:spAutoFit/>
          </a:bodyPr>
          <a:lstStyle/>
          <a:p>
            <a:r>
              <a:rPr lang="fr-FR" sz="2400" b="1" dirty="0"/>
              <a:t>Cas général : heuristique d’évaluation (suite)</a:t>
            </a:r>
          </a:p>
          <a:p>
            <a:endParaRPr lang="fr-FR" sz="2400" dirty="0"/>
          </a:p>
          <a:p>
            <a:pPr marL="342900" indent="-342900">
              <a:buFont typeface="Arial" panose="020B0604020202020204" pitchFamily="34" charset="0"/>
              <a:buChar char="•"/>
            </a:pPr>
            <a:r>
              <a:rPr lang="fr-FR" sz="2400" dirty="0"/>
              <a:t>Dans un jeu comme Othello on pourra s’intéresser à simple différence du nombre de pions entre les deux joueurs.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On pourra là aussi apporter une pondération, en donnant de l’importance aux pions situés dans des angles ou sur les bords.</a:t>
            </a:r>
          </a:p>
        </p:txBody>
      </p:sp>
      <p:pic>
        <p:nvPicPr>
          <p:cNvPr id="5" name="Graphique 4" descr="Trigonométrie avec un remplissage uni">
            <a:extLst>
              <a:ext uri="{FF2B5EF4-FFF2-40B4-BE49-F238E27FC236}">
                <a16:creationId xmlns:a16="http://schemas.microsoft.com/office/drawing/2014/main" id="{CEA953F1-26AC-B4A6-0D1A-01FF4D3E03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1122615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EF156-EB69-7E26-CD1F-315FA1F1A27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5315AD2-DDF6-1E38-E709-6B4E71320CBF}"/>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2A4E29E6-B320-F887-781A-D58792BC0D28}"/>
              </a:ext>
            </a:extLst>
          </p:cNvPr>
          <p:cNvSpPr txBox="1"/>
          <p:nvPr/>
        </p:nvSpPr>
        <p:spPr>
          <a:xfrm>
            <a:off x="844826" y="1431230"/>
            <a:ext cx="10525539" cy="1938992"/>
          </a:xfrm>
          <a:prstGeom prst="rect">
            <a:avLst/>
          </a:prstGeom>
          <a:noFill/>
        </p:spPr>
        <p:txBody>
          <a:bodyPr wrap="square" rtlCol="0">
            <a:spAutoFit/>
          </a:bodyPr>
          <a:lstStyle/>
          <a:p>
            <a:r>
              <a:rPr lang="fr-FR" sz="2400" b="1" dirty="0"/>
              <a:t>Cas général : heuristique d’évaluation (suite)</a:t>
            </a:r>
          </a:p>
          <a:p>
            <a:endParaRPr lang="fr-FR" sz="2400" dirty="0"/>
          </a:p>
          <a:p>
            <a:pPr marL="342900" indent="-342900">
              <a:buFont typeface="Arial" panose="020B0604020202020204" pitchFamily="34" charset="0"/>
              <a:buChar char="•"/>
            </a:pPr>
            <a:r>
              <a:rPr lang="fr-FR" sz="2400" dirty="0"/>
              <a:t>Les valeurs précises de l’heuristique n’ont pas une grande importance, ce qui compte c’est que celle-ci soit monotone, </a:t>
            </a:r>
            <a:r>
              <a:rPr lang="fr-FR" sz="2400" i="1" dirty="0"/>
              <a:t>i.e.</a:t>
            </a:r>
            <a:r>
              <a:rPr lang="fr-FR" sz="2400" dirty="0"/>
              <a:t> qu’à une situation moins avantageuse qu’une autre soit attribuée une valeur plus petite.</a:t>
            </a:r>
          </a:p>
        </p:txBody>
      </p:sp>
      <p:pic>
        <p:nvPicPr>
          <p:cNvPr id="7" name="Image 6" descr="Une image contenant diagramme, ligne, conception&#10;&#10;Le contenu généré par l’IA peut être incorrect.">
            <a:extLst>
              <a:ext uri="{FF2B5EF4-FFF2-40B4-BE49-F238E27FC236}">
                <a16:creationId xmlns:a16="http://schemas.microsoft.com/office/drawing/2014/main" id="{4F002D02-76F6-0D88-B087-BAB70F3F8325}"/>
              </a:ext>
            </a:extLst>
          </p:cNvPr>
          <p:cNvPicPr>
            <a:picLocks noChangeAspect="1"/>
          </p:cNvPicPr>
          <p:nvPr/>
        </p:nvPicPr>
        <p:blipFill>
          <a:blip r:embed="rId2"/>
          <a:stretch>
            <a:fillRect/>
          </a:stretch>
        </p:blipFill>
        <p:spPr>
          <a:xfrm>
            <a:off x="8403957" y="3487779"/>
            <a:ext cx="2569269" cy="3060000"/>
          </a:xfrm>
          <a:prstGeom prst="rect">
            <a:avLst/>
          </a:prstGeom>
        </p:spPr>
      </p:pic>
      <p:sp>
        <p:nvSpPr>
          <p:cNvPr id="8" name="ZoneTexte 7">
            <a:extLst>
              <a:ext uri="{FF2B5EF4-FFF2-40B4-BE49-F238E27FC236}">
                <a16:creationId xmlns:a16="http://schemas.microsoft.com/office/drawing/2014/main" id="{D836EF16-3E52-C44B-672C-22DB8E35EFC6}"/>
              </a:ext>
            </a:extLst>
          </p:cNvPr>
          <p:cNvSpPr txBox="1"/>
          <p:nvPr/>
        </p:nvSpPr>
        <p:spPr>
          <a:xfrm>
            <a:off x="4811365" y="4368800"/>
            <a:ext cx="2569269" cy="1631216"/>
          </a:xfrm>
          <a:prstGeom prst="rect">
            <a:avLst/>
          </a:prstGeom>
          <a:noFill/>
        </p:spPr>
        <p:txBody>
          <a:bodyPr wrap="square" rtlCol="0">
            <a:spAutoFit/>
          </a:bodyPr>
          <a:lstStyle/>
          <a:p>
            <a:pPr algn="ctr"/>
            <a:r>
              <a:rPr lang="fr-FR" sz="2000" dirty="0"/>
              <a:t>Deux situations équivalentes malgré des valeurs de l’heuristique différentes</a:t>
            </a:r>
          </a:p>
        </p:txBody>
      </p:sp>
      <p:pic>
        <p:nvPicPr>
          <p:cNvPr id="10" name="Image 9" descr="Une image contenant diagramme, ligne, conception&#10;&#10;Le contenu généré par l’IA peut être incorrect.">
            <a:extLst>
              <a:ext uri="{FF2B5EF4-FFF2-40B4-BE49-F238E27FC236}">
                <a16:creationId xmlns:a16="http://schemas.microsoft.com/office/drawing/2014/main" id="{918D498F-F295-8C3D-0B14-5F1F8F6C8503}"/>
              </a:ext>
            </a:extLst>
          </p:cNvPr>
          <p:cNvPicPr>
            <a:picLocks noChangeAspect="1"/>
          </p:cNvPicPr>
          <p:nvPr/>
        </p:nvPicPr>
        <p:blipFill>
          <a:blip r:embed="rId3"/>
          <a:stretch>
            <a:fillRect/>
          </a:stretch>
        </p:blipFill>
        <p:spPr>
          <a:xfrm>
            <a:off x="1218774" y="3487779"/>
            <a:ext cx="2569269" cy="3060000"/>
          </a:xfrm>
          <a:prstGeom prst="rect">
            <a:avLst/>
          </a:prstGeom>
        </p:spPr>
      </p:pic>
    </p:spTree>
    <p:extLst>
      <p:ext uri="{BB962C8B-B14F-4D97-AF65-F5344CB8AC3E}">
        <p14:creationId xmlns:p14="http://schemas.microsoft.com/office/powerpoint/2010/main" val="2570970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FAE0E-5C69-F47C-2E9C-A685BEF9A62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D4F3BEE-9063-888C-B84A-879655EB6948}"/>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5D2B0544-05F3-88DC-97BE-D885C7D8E95B}"/>
                  </a:ext>
                </a:extLst>
              </p:cNvPr>
              <p:cNvSpPr txBox="1"/>
              <p:nvPr/>
            </p:nvSpPr>
            <p:spPr>
              <a:xfrm>
                <a:off x="844826" y="1431230"/>
                <a:ext cx="10525539" cy="3970318"/>
              </a:xfrm>
              <a:prstGeom prst="rect">
                <a:avLst/>
              </a:prstGeom>
              <a:noFill/>
            </p:spPr>
            <p:txBody>
              <a:bodyPr wrap="square" rtlCol="0">
                <a:spAutoFit/>
              </a:bodyPr>
              <a:lstStyle/>
              <a:p>
                <a:r>
                  <a:rPr lang="fr-FR" sz="2400" b="1" dirty="0"/>
                  <a:t>Cas général : pseudo-code</a:t>
                </a:r>
              </a:p>
              <a:p>
                <a:endParaRPr lang="fr-FR" sz="2400" dirty="0"/>
              </a:p>
              <a:p>
                <a:endParaRPr lang="fr-FR" sz="2400" dirty="0"/>
              </a:p>
              <a:p>
                <a:r>
                  <a:rPr lang="fr-FR" sz="2000" dirty="0"/>
                  <a:t>FONCTION </a:t>
                </a:r>
                <a14:m>
                  <m:oMath xmlns:m="http://schemas.openxmlformats.org/officeDocument/2006/math">
                    <m:r>
                      <m:rPr>
                        <m:nor/>
                      </m:rPr>
                      <a:rPr lang="fr-FR" sz="2000" i="0" dirty="0" smtClean="0">
                        <a:latin typeface="Cambria Math" panose="02040503050406030204" pitchFamily="18" charset="0"/>
                      </a:rPr>
                      <m:t>utilit</m:t>
                    </m:r>
                    <m:r>
                      <m:rPr>
                        <m:nor/>
                      </m:rPr>
                      <a:rPr lang="fr-FR" sz="2000" i="0" dirty="0" smtClean="0">
                        <a:latin typeface="Cambria Math" panose="02040503050406030204" pitchFamily="18" charset="0"/>
                      </a:rPr>
                      <m:t>é</m:t>
                    </m:r>
                    <m:r>
                      <a:rPr lang="fr-FR" sz="2000" i="1" dirty="0" smtClean="0">
                        <a:latin typeface="Cambria Math" panose="02040503050406030204" pitchFamily="18" charset="0"/>
                      </a:rPr>
                      <m:t>(</m:t>
                    </m:r>
                    <m:r>
                      <a:rPr lang="fr-FR" sz="2000" i="1" dirty="0">
                        <a:latin typeface="Cambria Math" panose="02040503050406030204" pitchFamily="18" charset="0"/>
                      </a:rPr>
                      <m:t>𝑗𝑒𝑢</m:t>
                    </m:r>
                    <m:r>
                      <a:rPr lang="fr-FR" sz="2000" i="1" dirty="0">
                        <a:latin typeface="Cambria Math" panose="02040503050406030204" pitchFamily="18" charset="0"/>
                      </a:rPr>
                      <m:t>, </m:t>
                    </m:r>
                    <m:r>
                      <a:rPr lang="fr-FR" sz="2000" i="1" dirty="0">
                        <a:latin typeface="Cambria Math" panose="02040503050406030204" pitchFamily="18" charset="0"/>
                      </a:rPr>
                      <m:t>𝑝𝑜𝑠𝑖𝑡𝑖𝑜𝑛</m:t>
                    </m:r>
                    <m:r>
                      <a:rPr lang="fr-FR" sz="2000" i="1" dirty="0">
                        <a:latin typeface="Cambria Math" panose="02040503050406030204" pitchFamily="18" charset="0"/>
                      </a:rPr>
                      <m:t>, </m:t>
                    </m:r>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m:t>
                    </m:r>
                  </m:oMath>
                </a14:m>
                <a:endParaRPr lang="fr-FR" sz="2000" dirty="0"/>
              </a:p>
              <a:p>
                <a:r>
                  <a:rPr lang="fr-FR" sz="2000" dirty="0"/>
                  <a:t>	# retourne l’utilité de </a:t>
                </a:r>
                <a14:m>
                  <m:oMath xmlns:m="http://schemas.openxmlformats.org/officeDocument/2006/math">
                    <m:r>
                      <a:rPr lang="fr-FR" sz="2000" i="1" dirty="0" smtClean="0">
                        <a:latin typeface="Cambria Math" panose="02040503050406030204" pitchFamily="18" charset="0"/>
                      </a:rPr>
                      <m:t>𝑝𝑜𝑠𝑖𝑡𝑖𝑜𝑛</m:t>
                    </m:r>
                  </m:oMath>
                </a14:m>
                <a:r>
                  <a:rPr lang="fr-FR" sz="2000" dirty="0"/>
                  <a:t> en se plaçant du point de vue du premier </a:t>
                </a:r>
              </a:p>
              <a:p>
                <a:r>
                  <a:rPr lang="fr-FR" sz="2000" dirty="0"/>
                  <a:t>	# joueur (même si c’est à son adversaire de jouer)</a:t>
                </a:r>
              </a:p>
              <a:p>
                <a:r>
                  <a:rPr lang="fr-FR" sz="2000" dirty="0"/>
                  <a:t>	# en pratique retourne </a:t>
                </a:r>
                <a14:m>
                  <m:oMath xmlns:m="http://schemas.openxmlformats.org/officeDocument/2006/math">
                    <m:r>
                      <a:rPr lang="fr-FR" sz="2000" b="0" i="1" smtClean="0">
                        <a:latin typeface="Cambria Math" panose="02040503050406030204" pitchFamily="18" charset="0"/>
                      </a:rPr>
                      <m:t>+∞,−∞,0</m:t>
                    </m:r>
                  </m:oMath>
                </a14:m>
                <a:r>
                  <a:rPr lang="fr-FR" sz="2000" dirty="0"/>
                  <a:t> selon une victoire, défaite ou match nul</a:t>
                </a:r>
              </a:p>
              <a:p>
                <a:endParaRPr lang="fr-FR" sz="2000" dirty="0"/>
              </a:p>
              <a:p>
                <a:endParaRPr lang="fr-FR" sz="2000" dirty="0"/>
              </a:p>
              <a:p>
                <a:r>
                  <a:rPr lang="fr-FR" sz="2000" dirty="0"/>
                  <a:t>FONCTION heuristique</a:t>
                </a:r>
                <a14:m>
                  <m:oMath xmlns:m="http://schemas.openxmlformats.org/officeDocument/2006/math">
                    <m:r>
                      <a:rPr lang="fr-FR" sz="2000" i="1" dirty="0">
                        <a:latin typeface="Cambria Math" panose="02040503050406030204" pitchFamily="18" charset="0"/>
                      </a:rPr>
                      <m:t>(</m:t>
                    </m:r>
                    <m:r>
                      <a:rPr lang="fr-FR" sz="2000" i="1" dirty="0">
                        <a:latin typeface="Cambria Math" panose="02040503050406030204" pitchFamily="18" charset="0"/>
                      </a:rPr>
                      <m:t>𝑗𝑒𝑢</m:t>
                    </m:r>
                    <m:r>
                      <a:rPr lang="fr-FR" sz="2000" i="1" dirty="0">
                        <a:latin typeface="Cambria Math" panose="02040503050406030204" pitchFamily="18" charset="0"/>
                      </a:rPr>
                      <m:t>, </m:t>
                    </m:r>
                    <m:r>
                      <a:rPr lang="fr-FR" sz="2000" i="1" dirty="0">
                        <a:latin typeface="Cambria Math" panose="02040503050406030204" pitchFamily="18" charset="0"/>
                      </a:rPr>
                      <m:t>𝑝𝑜𝑠𝑖𝑡𝑖𝑜𝑛</m:t>
                    </m:r>
                    <m:r>
                      <a:rPr lang="fr-FR" sz="2000" i="1" dirty="0">
                        <a:latin typeface="Cambria Math" panose="02040503050406030204" pitchFamily="18" charset="0"/>
                      </a:rPr>
                      <m:t>, </m:t>
                    </m:r>
                    <m:r>
                      <a:rPr lang="fr-FR" sz="2000" i="1" dirty="0">
                        <a:latin typeface="Cambria Math" panose="02040503050406030204" pitchFamily="18" charset="0"/>
                      </a:rPr>
                      <m:t>𝑗𝑜𝑢𝑒𝑢𝑟</m:t>
                    </m:r>
                    <m:r>
                      <a:rPr lang="fr-FR" sz="2000" i="1" dirty="0">
                        <a:latin typeface="Cambria Math" panose="02040503050406030204" pitchFamily="18" charset="0"/>
                      </a:rPr>
                      <m:t>)</m:t>
                    </m:r>
                  </m:oMath>
                </a14:m>
                <a:endParaRPr lang="fr-FR" sz="2000" dirty="0"/>
              </a:p>
              <a:p>
                <a:r>
                  <a:rPr lang="fr-FR" sz="2000" dirty="0"/>
                  <a:t>	# retourne l’heuristique d’évaluation de </a:t>
                </a:r>
                <a14:m>
                  <m:oMath xmlns:m="http://schemas.openxmlformats.org/officeDocument/2006/math">
                    <m:r>
                      <a:rPr lang="fr-FR" sz="2000" i="1" dirty="0">
                        <a:latin typeface="Cambria Math" panose="02040503050406030204" pitchFamily="18" charset="0"/>
                      </a:rPr>
                      <m:t>𝑝𝑜𝑠𝑖𝑡𝑖𝑜𝑛</m:t>
                    </m:r>
                  </m:oMath>
                </a14:m>
                <a:r>
                  <a:rPr lang="fr-FR" sz="2000" dirty="0"/>
                  <a:t> en se plaçant du point de</a:t>
                </a:r>
              </a:p>
              <a:p>
                <a:r>
                  <a:rPr lang="fr-FR" sz="2000" dirty="0"/>
                  <a:t>	# vue du premier joueur (même si c’est à son adversaire de jouer)</a:t>
                </a:r>
              </a:p>
            </p:txBody>
          </p:sp>
        </mc:Choice>
        <mc:Fallback xmlns="">
          <p:sp>
            <p:nvSpPr>
              <p:cNvPr id="4" name="ZoneTexte 3">
                <a:extLst>
                  <a:ext uri="{FF2B5EF4-FFF2-40B4-BE49-F238E27FC236}">
                    <a16:creationId xmlns:a16="http://schemas.microsoft.com/office/drawing/2014/main" id="{5D2B0544-05F3-88DC-97BE-D885C7D8E95B}"/>
                  </a:ext>
                </a:extLst>
              </p:cNvPr>
              <p:cNvSpPr txBox="1">
                <a:spLocks noRot="1" noChangeAspect="1" noMove="1" noResize="1" noEditPoints="1" noAdjustHandles="1" noChangeArrowheads="1" noChangeShapeType="1" noTextEdit="1"/>
              </p:cNvSpPr>
              <p:nvPr/>
            </p:nvSpPr>
            <p:spPr>
              <a:xfrm>
                <a:off x="844826" y="1431230"/>
                <a:ext cx="10525539" cy="3970318"/>
              </a:xfrm>
              <a:prstGeom prst="rect">
                <a:avLst/>
              </a:prstGeom>
              <a:blipFill>
                <a:blip r:embed="rId3"/>
                <a:stretch>
                  <a:fillRect l="-843" t="-1274" b="-1592"/>
                </a:stretch>
              </a:blipFill>
            </p:spPr>
            <p:txBody>
              <a:bodyPr/>
              <a:lstStyle/>
              <a:p>
                <a:r>
                  <a:rPr lang="fr-FR">
                    <a:noFill/>
                  </a:rPr>
                  <a:t> </a:t>
                </a:r>
              </a:p>
            </p:txBody>
          </p:sp>
        </mc:Fallback>
      </mc:AlternateContent>
    </p:spTree>
    <p:extLst>
      <p:ext uri="{BB962C8B-B14F-4D97-AF65-F5344CB8AC3E}">
        <p14:creationId xmlns:p14="http://schemas.microsoft.com/office/powerpoint/2010/main" val="31804698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2E09B-AE3C-19B0-F24D-9428435949A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C1A4BEA-4161-BC07-8F4B-0EA9E45F1EC7}"/>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EBE44ED1-054E-91F1-FFC2-CCD3E99C2E89}"/>
                  </a:ext>
                </a:extLst>
              </p:cNvPr>
              <p:cNvSpPr txBox="1"/>
              <p:nvPr/>
            </p:nvSpPr>
            <p:spPr>
              <a:xfrm>
                <a:off x="844826" y="1431230"/>
                <a:ext cx="10525539" cy="3108543"/>
              </a:xfrm>
              <a:prstGeom prst="rect">
                <a:avLst/>
              </a:prstGeom>
              <a:noFill/>
            </p:spPr>
            <p:txBody>
              <a:bodyPr wrap="square" rtlCol="0">
                <a:spAutoFit/>
              </a:bodyPr>
              <a:lstStyle/>
              <a:p>
                <a:r>
                  <a:rPr lang="fr-FR" sz="2400" b="1" dirty="0"/>
                  <a:t>Cas général : pseudo-code (suite)</a:t>
                </a:r>
              </a:p>
              <a:p>
                <a:endParaRPr lang="fr-FR" sz="2400" dirty="0"/>
              </a:p>
              <a:p>
                <a:endParaRPr lang="fr-FR" sz="2400" dirty="0"/>
              </a:p>
              <a:p>
                <a:r>
                  <a:rPr lang="fr-FR" sz="2000" dirty="0"/>
                  <a:t>FONCTION </a:t>
                </a:r>
                <a14:m>
                  <m:oMath xmlns:m="http://schemas.openxmlformats.org/officeDocument/2006/math">
                    <m:r>
                      <m:rPr>
                        <m:nor/>
                      </m:rPr>
                      <a:rPr lang="fr-FR" sz="2000" i="0" dirty="0" smtClean="0">
                        <a:latin typeface="Cambria Math" panose="02040503050406030204" pitchFamily="18" charset="0"/>
                      </a:rPr>
                      <m:t>min</m:t>
                    </m:r>
                    <m:r>
                      <m:rPr>
                        <m:nor/>
                      </m:rPr>
                      <a:rPr lang="fr-FR" sz="2000" i="0" dirty="0" err="1" smtClean="0">
                        <a:latin typeface="Cambria Math" panose="02040503050406030204" pitchFamily="18" charset="0"/>
                      </a:rPr>
                      <m:t>Max</m:t>
                    </m:r>
                    <m:r>
                      <a:rPr lang="fr-FR" sz="2000" i="1" dirty="0" smtClean="0">
                        <a:latin typeface="Cambria Math" panose="02040503050406030204" pitchFamily="18" charset="0"/>
                      </a:rPr>
                      <m:t>(</m:t>
                    </m:r>
                    <m:r>
                      <a:rPr lang="fr-FR" sz="2000" i="1" dirty="0" smtClean="0">
                        <a:latin typeface="Cambria Math" panose="02040503050406030204" pitchFamily="18" charset="0"/>
                      </a:rPr>
                      <m:t>𝑗𝑒𝑢</m:t>
                    </m:r>
                    <m:r>
                      <a:rPr lang="fr-FR" sz="2000" i="1" dirty="0" smtClean="0">
                        <a:latin typeface="Cambria Math" panose="02040503050406030204" pitchFamily="18" charset="0"/>
                      </a:rPr>
                      <m:t>, </m:t>
                    </m:r>
                    <m:r>
                      <a:rPr lang="fr-FR" sz="2000" i="1" dirty="0" smtClean="0">
                        <a:latin typeface="Cambria Math" panose="02040503050406030204" pitchFamily="18" charset="0"/>
                      </a:rPr>
                      <m:t>𝑝𝑜𝑠𝑖𝑡𝑖𝑜𝑛</m:t>
                    </m:r>
                    <m:r>
                      <a:rPr lang="fr-FR" sz="2000" i="1" dirty="0" smtClean="0">
                        <a:latin typeface="Cambria Math" panose="02040503050406030204" pitchFamily="18" charset="0"/>
                      </a:rPr>
                      <m:t>, </m:t>
                    </m:r>
                    <m:r>
                      <a:rPr lang="fr-FR" sz="2000" i="1" dirty="0" smtClean="0">
                        <a:latin typeface="Cambria Math" panose="02040503050406030204" pitchFamily="18" charset="0"/>
                      </a:rPr>
                      <m:t>𝑗𝑜𝑢𝑒𝑢𝑟</m:t>
                    </m:r>
                    <m:r>
                      <a:rPr lang="fr-FR" sz="2000" b="0" i="1" dirty="0" smtClean="0">
                        <a:latin typeface="Cambria Math" panose="02040503050406030204" pitchFamily="18" charset="0"/>
                      </a:rPr>
                      <m:t>,</m:t>
                    </m:r>
                    <m:r>
                      <a:rPr lang="fr-FR" sz="2000" b="0" i="1" dirty="0" smtClean="0">
                        <a:latin typeface="Cambria Math" panose="02040503050406030204" pitchFamily="18" charset="0"/>
                      </a:rPr>
                      <m:t>𝑝𝑟𝑜𝑓𝑜𝑛𝑑𝑒𝑢𝑟</m:t>
                    </m:r>
                    <m:r>
                      <a:rPr lang="fr-FR" sz="2000" i="1" dirty="0" smtClean="0">
                        <a:latin typeface="Cambria Math" panose="02040503050406030204" pitchFamily="18" charset="0"/>
                      </a:rPr>
                      <m:t>)</m:t>
                    </m:r>
                  </m:oMath>
                </a14:m>
                <a:endParaRPr lang="fr-FR" sz="2000" dirty="0"/>
              </a:p>
              <a:p>
                <a:r>
                  <a:rPr lang="fr-FR" sz="2000" dirty="0"/>
                  <a:t>	SI </a:t>
                </a:r>
                <a14:m>
                  <m:oMath xmlns:m="http://schemas.openxmlformats.org/officeDocument/2006/math">
                    <m:r>
                      <a:rPr lang="fr-FR" sz="2000" i="1" dirty="0" smtClean="0">
                        <a:latin typeface="Cambria Math" panose="02040503050406030204" pitchFamily="18" charset="0"/>
                      </a:rPr>
                      <m:t>𝑝𝑜𝑠𝑖𝑡𝑖𝑜𝑛</m:t>
                    </m:r>
                  </m:oMath>
                </a14:m>
                <a:r>
                  <a:rPr lang="fr-FR" sz="2000" dirty="0"/>
                  <a:t> est finale ALORS</a:t>
                </a:r>
              </a:p>
              <a:p>
                <a:r>
                  <a:rPr lang="fr-FR" sz="2000" dirty="0"/>
                  <a:t>		RETOURNER </a:t>
                </a:r>
                <a14:m>
                  <m:oMath xmlns:m="http://schemas.openxmlformats.org/officeDocument/2006/math">
                    <m:r>
                      <m:rPr>
                        <m:nor/>
                      </m:rPr>
                      <a:rPr lang="fr-FR" sz="2000" i="0" dirty="0" smtClean="0">
                        <a:latin typeface="Cambria Math" panose="02040503050406030204" pitchFamily="18" charset="0"/>
                      </a:rPr>
                      <m:t>utilit</m:t>
                    </m:r>
                    <m:r>
                      <m:rPr>
                        <m:nor/>
                      </m:rPr>
                      <a:rPr lang="fr-FR" sz="2000" i="0" dirty="0" smtClean="0">
                        <a:latin typeface="Cambria Math" panose="02040503050406030204" pitchFamily="18" charset="0"/>
                      </a:rPr>
                      <m:t>é</m:t>
                    </m:r>
                    <m:r>
                      <a:rPr lang="fr-FR" sz="2000" i="1" dirty="0" smtClean="0">
                        <a:latin typeface="Cambria Math" panose="02040503050406030204" pitchFamily="18" charset="0"/>
                      </a:rPr>
                      <m:t>(</m:t>
                    </m:r>
                    <m:r>
                      <a:rPr lang="fr-FR" sz="2000" i="1" dirty="0" smtClean="0">
                        <a:latin typeface="Cambria Math" panose="02040503050406030204" pitchFamily="18" charset="0"/>
                      </a:rPr>
                      <m:t>𝑗𝑒𝑢</m:t>
                    </m:r>
                    <m:r>
                      <a:rPr lang="fr-FR" sz="2000" i="1" dirty="0" smtClean="0">
                        <a:latin typeface="Cambria Math" panose="02040503050406030204" pitchFamily="18" charset="0"/>
                      </a:rPr>
                      <m:t>, </m:t>
                    </m:r>
                    <m:r>
                      <a:rPr lang="fr-FR" sz="2000" i="1" dirty="0" smtClean="0">
                        <a:latin typeface="Cambria Math" panose="02040503050406030204" pitchFamily="18" charset="0"/>
                      </a:rPr>
                      <m:t>𝑝𝑜𝑠𝑖𝑡𝑖𝑜𝑛</m:t>
                    </m:r>
                    <m:r>
                      <a:rPr lang="fr-FR" sz="2000" i="1" dirty="0" smtClean="0">
                        <a:latin typeface="Cambria Math" panose="02040503050406030204" pitchFamily="18" charset="0"/>
                      </a:rPr>
                      <m:t>, </m:t>
                    </m:r>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 </m:t>
                    </m:r>
                    <m:r>
                      <m:rPr>
                        <m:nor/>
                      </m:rPr>
                      <a:rPr lang="fr-FR" sz="2000" i="0" dirty="0" smtClean="0">
                        <a:latin typeface="Cambria Math" panose="02040503050406030204" pitchFamily="18" charset="0"/>
                      </a:rPr>
                      <m:t>None</m:t>
                    </m:r>
                  </m:oMath>
                </a14:m>
                <a:endParaRPr lang="fr-FR" sz="2000" dirty="0"/>
              </a:p>
              <a:p>
                <a:r>
                  <a:rPr lang="fr-FR" sz="2000" dirty="0"/>
                  <a:t>	SINON SI </a:t>
                </a:r>
                <a14:m>
                  <m:oMath xmlns:m="http://schemas.openxmlformats.org/officeDocument/2006/math">
                    <m:r>
                      <a:rPr lang="fr-FR" sz="2000" i="1" dirty="0" smtClean="0">
                        <a:latin typeface="Cambria Math" panose="02040503050406030204" pitchFamily="18" charset="0"/>
                      </a:rPr>
                      <m:t>𝑝𝑟𝑜𝑓𝑜𝑛𝑑𝑒𝑢</m:t>
                    </m:r>
                    <m:r>
                      <a:rPr lang="fr-FR" sz="2000" i="1" dirty="0">
                        <a:latin typeface="Cambria Math" panose="02040503050406030204" pitchFamily="18" charset="0"/>
                      </a:rPr>
                      <m:t>𝑟</m:t>
                    </m:r>
                    <m:r>
                      <a:rPr lang="fr-FR" sz="2000" b="0" i="1" dirty="0" smtClean="0">
                        <a:latin typeface="Cambria Math" panose="02040503050406030204" pitchFamily="18" charset="0"/>
                      </a:rPr>
                      <m:t>==0</m:t>
                    </m:r>
                  </m:oMath>
                </a14:m>
                <a:r>
                  <a:rPr lang="fr-FR" sz="2000" dirty="0"/>
                  <a:t> ALORS</a:t>
                </a:r>
              </a:p>
              <a:p>
                <a:r>
                  <a:rPr lang="fr-FR" sz="2000" dirty="0"/>
                  <a:t>		RETOURNER heuristique</a:t>
                </a:r>
                <a14:m>
                  <m:oMath xmlns:m="http://schemas.openxmlformats.org/officeDocument/2006/math">
                    <m:r>
                      <a:rPr lang="fr-FR" sz="2000" i="1" dirty="0">
                        <a:latin typeface="Cambria Math" panose="02040503050406030204" pitchFamily="18" charset="0"/>
                      </a:rPr>
                      <m:t>(</m:t>
                    </m:r>
                    <m:r>
                      <a:rPr lang="fr-FR" sz="2000" i="1" dirty="0">
                        <a:latin typeface="Cambria Math" panose="02040503050406030204" pitchFamily="18" charset="0"/>
                      </a:rPr>
                      <m:t>𝑗𝑒𝑢</m:t>
                    </m:r>
                    <m:r>
                      <a:rPr lang="fr-FR" sz="2000" i="1" dirty="0">
                        <a:latin typeface="Cambria Math" panose="02040503050406030204" pitchFamily="18" charset="0"/>
                      </a:rPr>
                      <m:t>, </m:t>
                    </m:r>
                    <m:r>
                      <a:rPr lang="fr-FR" sz="2000" i="1" dirty="0">
                        <a:latin typeface="Cambria Math" panose="02040503050406030204" pitchFamily="18" charset="0"/>
                      </a:rPr>
                      <m:t>𝑝𝑜𝑠𝑖𝑡𝑖𝑜𝑛</m:t>
                    </m:r>
                    <m:r>
                      <a:rPr lang="fr-FR" sz="2000" i="1" dirty="0">
                        <a:latin typeface="Cambria Math" panose="02040503050406030204" pitchFamily="18" charset="0"/>
                      </a:rPr>
                      <m:t>, </m:t>
                    </m:r>
                    <m:r>
                      <a:rPr lang="fr-FR" sz="2000" i="1" dirty="0">
                        <a:latin typeface="Cambria Math" panose="02040503050406030204" pitchFamily="18" charset="0"/>
                      </a:rPr>
                      <m:t>𝑗𝑜𝑢𝑒𝑢𝑟</m:t>
                    </m:r>
                    <m:r>
                      <a:rPr lang="fr-FR" sz="2000" i="1" dirty="0">
                        <a:latin typeface="Cambria Math" panose="02040503050406030204" pitchFamily="18" charset="0"/>
                      </a:rPr>
                      <m:t>)</m:t>
                    </m:r>
                  </m:oMath>
                </a14:m>
                <a:endParaRPr lang="fr-FR" sz="2000" dirty="0"/>
              </a:p>
              <a:p>
                <a:endParaRPr lang="fr-FR" sz="2400" dirty="0"/>
              </a:p>
            </p:txBody>
          </p:sp>
        </mc:Choice>
        <mc:Fallback xmlns="">
          <p:sp>
            <p:nvSpPr>
              <p:cNvPr id="4" name="ZoneTexte 3">
                <a:extLst>
                  <a:ext uri="{FF2B5EF4-FFF2-40B4-BE49-F238E27FC236}">
                    <a16:creationId xmlns:a16="http://schemas.microsoft.com/office/drawing/2014/main" id="{EBE44ED1-054E-91F1-FFC2-CCD3E99C2E89}"/>
                  </a:ext>
                </a:extLst>
              </p:cNvPr>
              <p:cNvSpPr txBox="1">
                <a:spLocks noRot="1" noChangeAspect="1" noMove="1" noResize="1" noEditPoints="1" noAdjustHandles="1" noChangeArrowheads="1" noChangeShapeType="1" noTextEdit="1"/>
              </p:cNvSpPr>
              <p:nvPr/>
            </p:nvSpPr>
            <p:spPr>
              <a:xfrm>
                <a:off x="844826" y="1431230"/>
                <a:ext cx="10525539" cy="3108543"/>
              </a:xfrm>
              <a:prstGeom prst="rect">
                <a:avLst/>
              </a:prstGeom>
              <a:blipFill>
                <a:blip r:embed="rId2"/>
                <a:stretch>
                  <a:fillRect l="-843" t="-1626"/>
                </a:stretch>
              </a:blipFill>
            </p:spPr>
            <p:txBody>
              <a:bodyPr/>
              <a:lstStyle/>
              <a:p>
                <a:r>
                  <a:rPr lang="fr-FR">
                    <a:noFill/>
                  </a:rPr>
                  <a:t> </a:t>
                </a:r>
              </a:p>
            </p:txBody>
          </p:sp>
        </mc:Fallback>
      </mc:AlternateContent>
    </p:spTree>
    <p:extLst>
      <p:ext uri="{BB962C8B-B14F-4D97-AF65-F5344CB8AC3E}">
        <p14:creationId xmlns:p14="http://schemas.microsoft.com/office/powerpoint/2010/main" val="40326879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AD2E-D199-D53E-05F3-773713B60C1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BC1EE92-4BD3-3A7A-074C-1F469D7A3F17}"/>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BFB66F6F-5DF1-7C9D-E74D-614DECD3A850}"/>
                  </a:ext>
                </a:extLst>
              </p:cNvPr>
              <p:cNvSpPr txBox="1"/>
              <p:nvPr/>
            </p:nvSpPr>
            <p:spPr>
              <a:xfrm>
                <a:off x="844826" y="1431230"/>
                <a:ext cx="11189130" cy="4278094"/>
              </a:xfrm>
              <a:prstGeom prst="rect">
                <a:avLst/>
              </a:prstGeom>
              <a:noFill/>
            </p:spPr>
            <p:txBody>
              <a:bodyPr wrap="square" rtlCol="0">
                <a:spAutoFit/>
              </a:bodyPr>
              <a:lstStyle/>
              <a:p>
                <a:r>
                  <a:rPr lang="fr-FR" sz="2400" b="1" dirty="0"/>
                  <a:t>Cas général : pseudo-code (suite)</a:t>
                </a:r>
              </a:p>
              <a:p>
                <a:endParaRPr lang="fr-FR" sz="2400" dirty="0"/>
              </a:p>
              <a:p>
                <a:endParaRPr lang="fr-FR" sz="2400" dirty="0"/>
              </a:p>
              <a:p>
                <a:r>
                  <a:rPr lang="fr-FR" sz="2000" dirty="0"/>
                  <a:t>SINON SI </a:t>
                </a:r>
                <a14:m>
                  <m:oMath xmlns:m="http://schemas.openxmlformats.org/officeDocument/2006/math">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==1</m:t>
                    </m:r>
                  </m:oMath>
                </a14:m>
                <a:r>
                  <a:rPr lang="fr-FR" sz="2000" dirty="0"/>
                  <a:t> ALORS</a:t>
                </a:r>
              </a:p>
              <a:p>
                <a:r>
                  <a:rPr lang="fr-FR" sz="2000" dirty="0"/>
                  <a:t>	</a:t>
                </a:r>
                <a14:m>
                  <m:oMath xmlns:m="http://schemas.openxmlformats.org/officeDocument/2006/math">
                    <m:r>
                      <a:rPr lang="fr-FR" sz="2000" i="1" dirty="0" smtClean="0">
                        <a:latin typeface="Cambria Math" panose="02040503050406030204" pitchFamily="18" charset="0"/>
                      </a:rPr>
                      <m:t>𝑣𝑎𝑙𝑒𝑢𝑟𝑀𝑎𝑥𝑖</m:t>
                    </m:r>
                    <m:r>
                      <a:rPr lang="fr-FR" sz="2000" i="1" dirty="0" smtClean="0">
                        <a:latin typeface="Cambria Math" panose="02040503050406030204" pitchFamily="18" charset="0"/>
                        <a:ea typeface="Cambria Math" panose="02040503050406030204" pitchFamily="18" charset="0"/>
                      </a:rPr>
                      <m:t>←</m:t>
                    </m:r>
                    <m:r>
                      <a:rPr lang="fr-FR" sz="2000" b="0" i="1" dirty="0" smtClean="0">
                        <a:latin typeface="Cambria Math" panose="02040503050406030204" pitchFamily="18" charset="0"/>
                      </a:rPr>
                      <m:t>−∞</m:t>
                    </m:r>
                  </m:oMath>
                </a14:m>
                <a:r>
                  <a:rPr lang="fr-FR" sz="2000" dirty="0"/>
                  <a:t> </a:t>
                </a:r>
              </a:p>
              <a:p>
                <a:r>
                  <a:rPr lang="fr-FR" sz="2000" dirty="0"/>
                  <a:t>	</a:t>
                </a:r>
                <a14:m>
                  <m:oMath xmlns:m="http://schemas.openxmlformats.org/officeDocument/2006/math">
                    <m:r>
                      <a:rPr lang="fr-FR" sz="2000" i="1" dirty="0" smtClean="0">
                        <a:latin typeface="Cambria Math" panose="02040503050406030204" pitchFamily="18" charset="0"/>
                      </a:rPr>
                      <m:t>𝑐𝑜𝑢𝑝𝑀𝑎𝑥𝑖</m:t>
                    </m:r>
                    <m:r>
                      <a:rPr lang="fr-FR" sz="2000" i="1" dirty="0">
                        <a:latin typeface="Cambria Math" panose="02040503050406030204" pitchFamily="18" charset="0"/>
                        <a:ea typeface="Cambria Math" panose="02040503050406030204" pitchFamily="18" charset="0"/>
                      </a:rPr>
                      <m:t>←</m:t>
                    </m:r>
                    <m:r>
                      <m:rPr>
                        <m:nor/>
                      </m:rPr>
                      <a:rPr lang="fr-FR" sz="2000" b="0" i="0" dirty="0" smtClean="0">
                        <a:latin typeface="Cambria Math" panose="02040503050406030204" pitchFamily="18" charset="0"/>
                        <a:ea typeface="Cambria Math" panose="02040503050406030204" pitchFamily="18" charset="0"/>
                      </a:rPr>
                      <m:t>None</m:t>
                    </m:r>
                    <m:r>
                      <a:rPr lang="fr-FR" sz="2000" i="1" dirty="0">
                        <a:latin typeface="Cambria Math" panose="02040503050406030204" pitchFamily="18" charset="0"/>
                      </a:rPr>
                      <m:t> </m:t>
                    </m:r>
                  </m:oMath>
                </a14:m>
                <a:endParaRPr lang="fr-FR" sz="2000" dirty="0"/>
              </a:p>
              <a:p>
                <a:r>
                  <a:rPr lang="fr-FR" sz="2000" dirty="0"/>
                  <a:t>	POUR TOUT </a:t>
                </a:r>
                <a14:m>
                  <m:oMath xmlns:m="http://schemas.openxmlformats.org/officeDocument/2006/math">
                    <m:r>
                      <a:rPr lang="fr-FR" sz="2000" i="1" dirty="0" smtClean="0">
                        <a:latin typeface="Cambria Math" panose="02040503050406030204" pitchFamily="18" charset="0"/>
                      </a:rPr>
                      <m:t>𝑐𝑜𝑢𝑝</m:t>
                    </m:r>
                  </m:oMath>
                </a14:m>
                <a:r>
                  <a:rPr lang="fr-FR" sz="2000" dirty="0"/>
                  <a:t> possible par </a:t>
                </a:r>
                <a14:m>
                  <m:oMath xmlns:m="http://schemas.openxmlformats.org/officeDocument/2006/math">
                    <m:r>
                      <a:rPr lang="fr-FR" sz="2000" b="0" i="1" smtClean="0">
                        <a:latin typeface="Cambria Math" panose="02040503050406030204" pitchFamily="18" charset="0"/>
                      </a:rPr>
                      <m:t>𝑗𝑜𝑢𝑒𝑢𝑟</m:t>
                    </m:r>
                  </m:oMath>
                </a14:m>
                <a:r>
                  <a:rPr lang="fr-FR" sz="2000" dirty="0"/>
                  <a:t> depuis </a:t>
                </a:r>
                <a14:m>
                  <m:oMath xmlns:m="http://schemas.openxmlformats.org/officeDocument/2006/math">
                    <m:r>
                      <a:rPr lang="fr-FR" sz="2000" b="0" i="1" smtClean="0">
                        <a:latin typeface="Cambria Math" panose="02040503050406030204" pitchFamily="18" charset="0"/>
                      </a:rPr>
                      <m:t>𝑝𝑜𝑠𝑖𝑡𝑖𝑜𝑛</m:t>
                    </m:r>
                  </m:oMath>
                </a14:m>
                <a:r>
                  <a:rPr lang="fr-FR" sz="2000" dirty="0"/>
                  <a:t> FAIRE</a:t>
                </a:r>
              </a:p>
              <a:p>
                <a:r>
                  <a:rPr lang="fr-FR" sz="2000" dirty="0"/>
                  <a:t>		</a:t>
                </a:r>
                <a14:m>
                  <m:oMath xmlns:m="http://schemas.openxmlformats.org/officeDocument/2006/math">
                    <m:r>
                      <a:rPr lang="fr-FR" sz="2000" i="1" dirty="0" smtClean="0">
                        <a:latin typeface="Cambria Math" panose="02040503050406030204" pitchFamily="18" charset="0"/>
                      </a:rPr>
                      <m:t>𝑝𝑜𝑠𝑖𝑡𝑖𝑜𝑛𝑁𝑜𝑢𝑣𝑒𝑙𝑙𝑒</m:t>
                    </m:r>
                    <m:r>
                      <a:rPr lang="fr-FR" sz="2000" i="1" dirty="0" smtClean="0">
                        <a:latin typeface="Cambria Math" panose="02040503050406030204" pitchFamily="18" charset="0"/>
                        <a:ea typeface="Cambria Math" panose="02040503050406030204" pitchFamily="18" charset="0"/>
                      </a:rPr>
                      <m:t>←</m:t>
                    </m:r>
                    <m:r>
                      <m:rPr>
                        <m:nor/>
                      </m:rPr>
                      <a:rPr lang="fr-FR" sz="2000" i="0" dirty="0" err="1" smtClean="0">
                        <a:latin typeface="Cambria Math" panose="02040503050406030204" pitchFamily="18" charset="0"/>
                      </a:rPr>
                      <m:t>joueCoup</m:t>
                    </m:r>
                    <m:r>
                      <a:rPr lang="fr-FR" sz="2000" i="1" dirty="0" smtClean="0">
                        <a:latin typeface="Cambria Math" panose="02040503050406030204" pitchFamily="18" charset="0"/>
                      </a:rPr>
                      <m:t>(</m:t>
                    </m:r>
                    <m:r>
                      <a:rPr lang="fr-FR" sz="2000" i="1" dirty="0" smtClean="0">
                        <a:latin typeface="Cambria Math" panose="02040503050406030204" pitchFamily="18" charset="0"/>
                      </a:rPr>
                      <m:t>𝑗𝑒𝑢</m:t>
                    </m:r>
                    <m:r>
                      <a:rPr lang="fr-FR" sz="2000" i="1" dirty="0" smtClean="0">
                        <a:latin typeface="Cambria Math" panose="02040503050406030204" pitchFamily="18" charset="0"/>
                      </a:rPr>
                      <m:t>, </m:t>
                    </m:r>
                    <m:r>
                      <a:rPr lang="fr-FR" sz="2000" i="1" dirty="0" smtClean="0">
                        <a:latin typeface="Cambria Math" panose="02040503050406030204" pitchFamily="18" charset="0"/>
                      </a:rPr>
                      <m:t>𝑝𝑜𝑠𝑖𝑡𝑖𝑜𝑛</m:t>
                    </m:r>
                    <m:r>
                      <a:rPr lang="fr-FR" sz="2000" i="1" dirty="0" smtClean="0">
                        <a:latin typeface="Cambria Math" panose="02040503050406030204" pitchFamily="18" charset="0"/>
                      </a:rPr>
                      <m:t>, </m:t>
                    </m:r>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 </m:t>
                    </m:r>
                    <m:r>
                      <a:rPr lang="fr-FR" sz="2000" i="1" dirty="0" smtClean="0">
                        <a:latin typeface="Cambria Math" panose="02040503050406030204" pitchFamily="18" charset="0"/>
                      </a:rPr>
                      <m:t>𝑐𝑜𝑢𝑝</m:t>
                    </m:r>
                    <m:r>
                      <a:rPr lang="fr-FR" sz="2000" i="1" dirty="0" smtClean="0">
                        <a:latin typeface="Cambria Math" panose="02040503050406030204" pitchFamily="18" charset="0"/>
                      </a:rPr>
                      <m:t>)</m:t>
                    </m:r>
                  </m:oMath>
                </a14:m>
                <a:endParaRPr lang="fr-FR" sz="2000" dirty="0"/>
              </a:p>
              <a:p>
                <a:r>
                  <a:rPr lang="fr-FR" sz="2000" dirty="0"/>
                  <a:t>		</a:t>
                </a:r>
                <a14:m>
                  <m:oMath xmlns:m="http://schemas.openxmlformats.org/officeDocument/2006/math">
                    <m:r>
                      <a:rPr lang="fr-FR" sz="2000" i="1" dirty="0" smtClean="0">
                        <a:latin typeface="Cambria Math" panose="02040503050406030204" pitchFamily="18" charset="0"/>
                      </a:rPr>
                      <m:t>𝑣𝑎𝑙𝑒𝑢𝑟</m:t>
                    </m:r>
                    <m:r>
                      <a:rPr lang="fr-FR" sz="2000" i="1" dirty="0" smtClean="0">
                        <a:latin typeface="Cambria Math" panose="02040503050406030204" pitchFamily="18" charset="0"/>
                      </a:rPr>
                      <m:t>, </m:t>
                    </m:r>
                    <m:r>
                      <a:rPr lang="fr-FR" sz="2000" i="1" dirty="0" smtClean="0">
                        <a:latin typeface="Cambria Math" panose="02040503050406030204" pitchFamily="18" charset="0"/>
                      </a:rPr>
                      <m:t>𝑐𝑜𝑢𝑝</m:t>
                    </m:r>
                    <m:r>
                      <a:rPr lang="fr-FR" sz="2000" i="1" dirty="0" smtClean="0">
                        <a:latin typeface="Cambria Math" panose="02040503050406030204" pitchFamily="18" charset="0"/>
                        <a:ea typeface="Cambria Math" panose="02040503050406030204" pitchFamily="18" charset="0"/>
                      </a:rPr>
                      <m:t>←</m:t>
                    </m:r>
                    <m:r>
                      <m:rPr>
                        <m:nor/>
                      </m:rPr>
                      <a:rPr lang="fr-FR" sz="2000" i="0" dirty="0" err="1">
                        <a:latin typeface="Cambria Math" panose="02040503050406030204" pitchFamily="18" charset="0"/>
                      </a:rPr>
                      <m:t>minMax</m:t>
                    </m:r>
                    <m:r>
                      <a:rPr lang="fr-FR" sz="2000" i="1" dirty="0">
                        <a:latin typeface="Cambria Math" panose="02040503050406030204" pitchFamily="18" charset="0"/>
                      </a:rPr>
                      <m:t>(</m:t>
                    </m:r>
                    <m:r>
                      <a:rPr lang="fr-FR" sz="2000" i="1" dirty="0">
                        <a:latin typeface="Cambria Math" panose="02040503050406030204" pitchFamily="18" charset="0"/>
                      </a:rPr>
                      <m:t>𝑗𝑒𝑢</m:t>
                    </m:r>
                    <m:r>
                      <a:rPr lang="fr-FR" sz="2000" i="1" dirty="0">
                        <a:latin typeface="Cambria Math" panose="02040503050406030204" pitchFamily="18" charset="0"/>
                      </a:rPr>
                      <m:t>, </m:t>
                    </m:r>
                    <m:r>
                      <a:rPr lang="fr-FR" sz="2000" i="1" dirty="0" err="1" smtClean="0">
                        <a:latin typeface="Cambria Math" panose="02040503050406030204" pitchFamily="18" charset="0"/>
                      </a:rPr>
                      <m:t>𝑝𝑜𝑠𝑖𝑡𝑖𝑜𝑛𝑁𝑜𝑢𝑣𝑒𝑙𝑙𝑒</m:t>
                    </m:r>
                    <m:r>
                      <a:rPr lang="fr-FR" sz="2000" i="1" dirty="0" smtClean="0">
                        <a:latin typeface="Cambria Math" panose="02040503050406030204" pitchFamily="18" charset="0"/>
                      </a:rPr>
                      <m:t>, </m:t>
                    </m:r>
                    <m:r>
                      <a:rPr lang="fr-FR" sz="2000" i="1" dirty="0" smtClean="0">
                        <a:latin typeface="Cambria Math" panose="02040503050406030204" pitchFamily="18" charset="0"/>
                      </a:rPr>
                      <m:t>𝑎𝑑𝑣𝑒𝑟𝑠𝑎𝑖𝑟𝑒</m:t>
                    </m:r>
                    <m:r>
                      <a:rPr lang="fr-FR" sz="2000" b="0" i="1" dirty="0" smtClean="0">
                        <a:latin typeface="Cambria Math" panose="02040503050406030204" pitchFamily="18" charset="0"/>
                      </a:rPr>
                      <m:t>,</m:t>
                    </m:r>
                    <m:r>
                      <a:rPr lang="fr-FR" sz="2000" b="0" i="1" dirty="0" smtClean="0">
                        <a:latin typeface="Cambria Math" panose="02040503050406030204" pitchFamily="18" charset="0"/>
                      </a:rPr>
                      <m:t>𝑝𝑟𝑜𝑓𝑜𝑛𝑑𝑒𝑢𝑟</m:t>
                    </m:r>
                    <m:r>
                      <a:rPr lang="fr-FR" sz="2000" b="0" i="1" dirty="0" smtClean="0">
                        <a:latin typeface="Cambria Math" panose="02040503050406030204" pitchFamily="18" charset="0"/>
                      </a:rPr>
                      <m:t>−1)</m:t>
                    </m:r>
                  </m:oMath>
                </a14:m>
                <a:endParaRPr lang="fr-FR" sz="2000" dirty="0"/>
              </a:p>
              <a:p>
                <a:r>
                  <a:rPr lang="fr-FR" sz="2000" dirty="0"/>
                  <a:t>		SI </a:t>
                </a:r>
                <a14:m>
                  <m:oMath xmlns:m="http://schemas.openxmlformats.org/officeDocument/2006/math">
                    <m:r>
                      <a:rPr lang="fr-FR" sz="2000" i="1" dirty="0" smtClean="0">
                        <a:latin typeface="Cambria Math" panose="02040503050406030204" pitchFamily="18" charset="0"/>
                      </a:rPr>
                      <m:t>𝑣𝑎𝑙𝑒𝑢𝑟</m:t>
                    </m:r>
                    <m:r>
                      <a:rPr lang="fr-FR" sz="2000" i="1" dirty="0" smtClean="0">
                        <a:latin typeface="Cambria Math" panose="02040503050406030204" pitchFamily="18" charset="0"/>
                      </a:rPr>
                      <m:t>&gt;</m:t>
                    </m:r>
                    <m:r>
                      <a:rPr lang="fr-FR" sz="2000" i="1" dirty="0">
                        <a:latin typeface="Cambria Math" panose="02040503050406030204" pitchFamily="18" charset="0"/>
                      </a:rPr>
                      <m:t>𝑣𝑎𝑙𝑒𝑢𝑟𝑀𝑎𝑥𝑖</m:t>
                    </m:r>
                  </m:oMath>
                </a14:m>
                <a:r>
                  <a:rPr lang="fr-FR" sz="2000" dirty="0"/>
                  <a:t> ALORS</a:t>
                </a:r>
              </a:p>
              <a:p>
                <a:r>
                  <a:rPr lang="fr-FR" sz="2000" dirty="0"/>
                  <a:t>			</a:t>
                </a:r>
                <a14:m>
                  <m:oMath xmlns:m="http://schemas.openxmlformats.org/officeDocument/2006/math">
                    <m:r>
                      <a:rPr lang="fr-FR" sz="2000" i="1" dirty="0" smtClean="0">
                        <a:latin typeface="Cambria Math" panose="02040503050406030204" pitchFamily="18" charset="0"/>
                      </a:rPr>
                      <m:t>𝑣𝑎𝑙𝑒𝑢𝑟𝑀𝑎𝑥𝑖</m:t>
                    </m:r>
                    <m:r>
                      <a:rPr lang="fr-FR" sz="2000" i="1" dirty="0" smtClean="0">
                        <a:latin typeface="Cambria Math" panose="02040503050406030204" pitchFamily="18" charset="0"/>
                        <a:ea typeface="Cambria Math" panose="02040503050406030204" pitchFamily="18" charset="0"/>
                      </a:rPr>
                      <m:t>←</m:t>
                    </m:r>
                    <m:r>
                      <a:rPr lang="fr-FR" sz="2000" i="1" dirty="0" smtClean="0">
                        <a:latin typeface="Cambria Math" panose="02040503050406030204" pitchFamily="18" charset="0"/>
                      </a:rPr>
                      <m:t>𝑣𝑎𝑙𝑒𝑢𝑟</m:t>
                    </m:r>
                  </m:oMath>
                </a14:m>
                <a:endParaRPr lang="fr-FR" sz="2000" dirty="0"/>
              </a:p>
              <a:p>
                <a:r>
                  <a:rPr lang="fr-FR" sz="2000" dirty="0"/>
                  <a:t>			</a:t>
                </a:r>
                <a14:m>
                  <m:oMath xmlns:m="http://schemas.openxmlformats.org/officeDocument/2006/math">
                    <m:r>
                      <a:rPr lang="fr-FR" sz="2000" i="1" dirty="0" smtClean="0">
                        <a:latin typeface="Cambria Math" panose="02040503050406030204" pitchFamily="18" charset="0"/>
                      </a:rPr>
                      <m:t>𝑐𝑜𝑢𝑝𝑀𝑎𝑥𝑖</m:t>
                    </m:r>
                    <m:r>
                      <a:rPr lang="fr-FR" sz="2000" i="1" dirty="0" smtClean="0">
                        <a:latin typeface="Cambria Math" panose="02040503050406030204" pitchFamily="18" charset="0"/>
                        <a:ea typeface="Cambria Math" panose="02040503050406030204" pitchFamily="18" charset="0"/>
                      </a:rPr>
                      <m:t>←</m:t>
                    </m:r>
                    <m:r>
                      <a:rPr lang="fr-FR" sz="2000" i="1" dirty="0" smtClean="0">
                        <a:latin typeface="Cambria Math" panose="02040503050406030204" pitchFamily="18" charset="0"/>
                      </a:rPr>
                      <m:t>𝑐𝑜𝑢𝑝</m:t>
                    </m:r>
                  </m:oMath>
                </a14:m>
                <a:endParaRPr lang="fr-FR" sz="2000" dirty="0"/>
              </a:p>
              <a:p>
                <a:r>
                  <a:rPr lang="fr-FR" sz="2000" dirty="0"/>
                  <a:t>	RETOURNER </a:t>
                </a:r>
                <a14:m>
                  <m:oMath xmlns:m="http://schemas.openxmlformats.org/officeDocument/2006/math">
                    <m:r>
                      <a:rPr lang="fr-FR" sz="2000" i="1" dirty="0" smtClean="0">
                        <a:latin typeface="Cambria Math" panose="02040503050406030204" pitchFamily="18" charset="0"/>
                      </a:rPr>
                      <m:t>𝑣𝑎𝑙𝑒𝑢𝑟𝑀𝑎𝑥𝑖</m:t>
                    </m:r>
                    <m:r>
                      <a:rPr lang="fr-FR" sz="2000" i="1" dirty="0" smtClean="0">
                        <a:latin typeface="Cambria Math" panose="02040503050406030204" pitchFamily="18" charset="0"/>
                      </a:rPr>
                      <m:t>, </m:t>
                    </m:r>
                    <m:r>
                      <a:rPr lang="fr-FR" sz="2000" i="1" dirty="0">
                        <a:latin typeface="Cambria Math" panose="02040503050406030204" pitchFamily="18" charset="0"/>
                      </a:rPr>
                      <m:t>𝑐𝑜𝑢𝑝𝑀𝑎𝑥𝑖</m:t>
                    </m:r>
                  </m:oMath>
                </a14:m>
                <a:endParaRPr lang="fr-FR" sz="2000" dirty="0"/>
              </a:p>
            </p:txBody>
          </p:sp>
        </mc:Choice>
        <mc:Fallback xmlns="">
          <p:sp>
            <p:nvSpPr>
              <p:cNvPr id="4" name="ZoneTexte 3">
                <a:extLst>
                  <a:ext uri="{FF2B5EF4-FFF2-40B4-BE49-F238E27FC236}">
                    <a16:creationId xmlns:a16="http://schemas.microsoft.com/office/drawing/2014/main" id="{BFB66F6F-5DF1-7C9D-E74D-614DECD3A850}"/>
                  </a:ext>
                </a:extLst>
              </p:cNvPr>
              <p:cNvSpPr txBox="1">
                <a:spLocks noRot="1" noChangeAspect="1" noMove="1" noResize="1" noEditPoints="1" noAdjustHandles="1" noChangeArrowheads="1" noChangeShapeType="1" noTextEdit="1"/>
              </p:cNvSpPr>
              <p:nvPr/>
            </p:nvSpPr>
            <p:spPr>
              <a:xfrm>
                <a:off x="844826" y="1431230"/>
                <a:ext cx="11189130" cy="4278094"/>
              </a:xfrm>
              <a:prstGeom prst="rect">
                <a:avLst/>
              </a:prstGeom>
              <a:blipFill>
                <a:blip r:embed="rId2"/>
                <a:stretch>
                  <a:fillRect l="-794" t="-1183" b="-1479"/>
                </a:stretch>
              </a:blipFill>
            </p:spPr>
            <p:txBody>
              <a:bodyPr/>
              <a:lstStyle/>
              <a:p>
                <a:r>
                  <a:rPr lang="fr-FR">
                    <a:noFill/>
                  </a:rPr>
                  <a:t> </a:t>
                </a:r>
              </a:p>
            </p:txBody>
          </p:sp>
        </mc:Fallback>
      </mc:AlternateContent>
    </p:spTree>
    <p:extLst>
      <p:ext uri="{BB962C8B-B14F-4D97-AF65-F5344CB8AC3E}">
        <p14:creationId xmlns:p14="http://schemas.microsoft.com/office/powerpoint/2010/main" val="34738615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980F2-B07D-06F6-853D-29CACADCADB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6F5CD5-1D6A-193B-9FC0-396E39C8324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BA55B54D-04F9-E9D4-944E-51C50B1669C4}"/>
                  </a:ext>
                </a:extLst>
              </p:cNvPr>
              <p:cNvSpPr txBox="1"/>
              <p:nvPr/>
            </p:nvSpPr>
            <p:spPr>
              <a:xfrm>
                <a:off x="844826" y="1431230"/>
                <a:ext cx="11019796" cy="4278094"/>
              </a:xfrm>
              <a:prstGeom prst="rect">
                <a:avLst/>
              </a:prstGeom>
              <a:noFill/>
            </p:spPr>
            <p:txBody>
              <a:bodyPr wrap="square" rtlCol="0">
                <a:spAutoFit/>
              </a:bodyPr>
              <a:lstStyle/>
              <a:p>
                <a:r>
                  <a:rPr lang="fr-FR" sz="2400" b="1" dirty="0"/>
                  <a:t>Cas général : pseudo-code (suite)</a:t>
                </a:r>
              </a:p>
              <a:p>
                <a:endParaRPr lang="fr-FR" sz="2400" dirty="0"/>
              </a:p>
              <a:p>
                <a:endParaRPr lang="fr-FR" sz="2400" dirty="0"/>
              </a:p>
              <a:p>
                <a:r>
                  <a:rPr lang="fr-FR" sz="2000" dirty="0"/>
                  <a:t>SINON SI </a:t>
                </a:r>
                <a14:m>
                  <m:oMath xmlns:m="http://schemas.openxmlformats.org/officeDocument/2006/math">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==2</m:t>
                    </m:r>
                  </m:oMath>
                </a14:m>
                <a:r>
                  <a:rPr lang="fr-FR" sz="2000" dirty="0"/>
                  <a:t> ALORS</a:t>
                </a:r>
              </a:p>
              <a:p>
                <a:r>
                  <a:rPr lang="fr-FR" sz="2000" dirty="0"/>
                  <a:t>	</a:t>
                </a:r>
                <a14:m>
                  <m:oMath xmlns:m="http://schemas.openxmlformats.org/officeDocument/2006/math">
                    <m:r>
                      <a:rPr lang="fr-FR" sz="2000" i="1" dirty="0" smtClean="0">
                        <a:latin typeface="Cambria Math" panose="02040503050406030204" pitchFamily="18" charset="0"/>
                      </a:rPr>
                      <m:t>𝑣𝑎𝑙𝑒𝑢𝑟𝑀</m:t>
                    </m:r>
                    <m:r>
                      <a:rPr lang="fr-FR" sz="2000" b="0" i="1" dirty="0" smtClean="0">
                        <a:latin typeface="Cambria Math" panose="02040503050406030204" pitchFamily="18" charset="0"/>
                      </a:rPr>
                      <m:t>𝑖𝑛</m:t>
                    </m:r>
                    <m:r>
                      <a:rPr lang="fr-FR" sz="2000" i="1" dirty="0" smtClean="0">
                        <a:latin typeface="Cambria Math" panose="02040503050406030204" pitchFamily="18" charset="0"/>
                      </a:rPr>
                      <m:t>𝑖</m:t>
                    </m:r>
                    <m:r>
                      <a:rPr lang="fr-FR" sz="2000" i="1" dirty="0" smtClean="0">
                        <a:latin typeface="Cambria Math" panose="02040503050406030204" pitchFamily="18" charset="0"/>
                        <a:ea typeface="Cambria Math" panose="02040503050406030204" pitchFamily="18" charset="0"/>
                      </a:rPr>
                      <m:t>←</m:t>
                    </m:r>
                    <m:r>
                      <a:rPr lang="fr-FR" sz="2000" b="0" i="1" dirty="0" smtClean="0">
                        <a:latin typeface="Cambria Math" panose="02040503050406030204" pitchFamily="18" charset="0"/>
                        <a:ea typeface="Cambria Math" panose="02040503050406030204" pitchFamily="18" charset="0"/>
                      </a:rPr>
                      <m:t>+</m:t>
                    </m:r>
                    <m:r>
                      <a:rPr lang="fr-FR" sz="2000" b="0" i="1" dirty="0" smtClean="0">
                        <a:latin typeface="Cambria Math" panose="02040503050406030204" pitchFamily="18" charset="0"/>
                      </a:rPr>
                      <m:t>∞</m:t>
                    </m:r>
                  </m:oMath>
                </a14:m>
                <a:r>
                  <a:rPr lang="fr-FR" sz="2000" dirty="0"/>
                  <a:t> </a:t>
                </a:r>
              </a:p>
              <a:p>
                <a:r>
                  <a:rPr lang="fr-FR" sz="2000" dirty="0"/>
                  <a:t>	</a:t>
                </a:r>
                <a14:m>
                  <m:oMath xmlns:m="http://schemas.openxmlformats.org/officeDocument/2006/math">
                    <m:r>
                      <a:rPr lang="fr-FR" sz="2000" i="1" dirty="0" smtClean="0">
                        <a:latin typeface="Cambria Math" panose="02040503050406030204" pitchFamily="18" charset="0"/>
                      </a:rPr>
                      <m:t>𝑐𝑜𝑢𝑝𝑀</m:t>
                    </m:r>
                    <m:r>
                      <a:rPr lang="fr-FR" sz="2000" b="0" i="1" dirty="0" smtClean="0">
                        <a:latin typeface="Cambria Math" panose="02040503050406030204" pitchFamily="18" charset="0"/>
                      </a:rPr>
                      <m:t>𝑖𝑛</m:t>
                    </m:r>
                    <m:r>
                      <a:rPr lang="fr-FR" sz="2000" i="1" dirty="0" smtClean="0">
                        <a:latin typeface="Cambria Math" panose="02040503050406030204" pitchFamily="18" charset="0"/>
                      </a:rPr>
                      <m:t>𝑖</m:t>
                    </m:r>
                    <m:r>
                      <a:rPr lang="fr-FR" sz="2000" i="1" dirty="0">
                        <a:latin typeface="Cambria Math" panose="02040503050406030204" pitchFamily="18" charset="0"/>
                        <a:ea typeface="Cambria Math" panose="02040503050406030204" pitchFamily="18" charset="0"/>
                      </a:rPr>
                      <m:t>←</m:t>
                    </m:r>
                    <m:r>
                      <m:rPr>
                        <m:nor/>
                      </m:rPr>
                      <a:rPr lang="fr-FR" sz="2000" b="0" i="0" dirty="0" smtClean="0">
                        <a:latin typeface="Cambria Math" panose="02040503050406030204" pitchFamily="18" charset="0"/>
                        <a:ea typeface="Cambria Math" panose="02040503050406030204" pitchFamily="18" charset="0"/>
                      </a:rPr>
                      <m:t>None</m:t>
                    </m:r>
                    <m:r>
                      <a:rPr lang="fr-FR" sz="2000" i="1" dirty="0">
                        <a:latin typeface="Cambria Math" panose="02040503050406030204" pitchFamily="18" charset="0"/>
                      </a:rPr>
                      <m:t> </m:t>
                    </m:r>
                  </m:oMath>
                </a14:m>
                <a:endParaRPr lang="fr-FR" sz="2000" dirty="0"/>
              </a:p>
              <a:p>
                <a:r>
                  <a:rPr lang="fr-FR" sz="2000" dirty="0"/>
                  <a:t>	POUR TOUT </a:t>
                </a:r>
                <a14:m>
                  <m:oMath xmlns:m="http://schemas.openxmlformats.org/officeDocument/2006/math">
                    <m:r>
                      <a:rPr lang="fr-FR" sz="2000" i="1" dirty="0" smtClean="0">
                        <a:latin typeface="Cambria Math" panose="02040503050406030204" pitchFamily="18" charset="0"/>
                      </a:rPr>
                      <m:t>𝑐𝑜𝑢𝑝</m:t>
                    </m:r>
                  </m:oMath>
                </a14:m>
                <a:r>
                  <a:rPr lang="fr-FR" sz="2000" dirty="0"/>
                  <a:t> possible par </a:t>
                </a:r>
                <a14:m>
                  <m:oMath xmlns:m="http://schemas.openxmlformats.org/officeDocument/2006/math">
                    <m:r>
                      <a:rPr lang="fr-FR" sz="2000" b="0" i="1" smtClean="0">
                        <a:latin typeface="Cambria Math" panose="02040503050406030204" pitchFamily="18" charset="0"/>
                      </a:rPr>
                      <m:t>𝑗𝑜𝑢𝑒𝑢𝑟</m:t>
                    </m:r>
                  </m:oMath>
                </a14:m>
                <a:r>
                  <a:rPr lang="fr-FR" sz="2000" dirty="0"/>
                  <a:t> depuis </a:t>
                </a:r>
                <a14:m>
                  <m:oMath xmlns:m="http://schemas.openxmlformats.org/officeDocument/2006/math">
                    <m:r>
                      <a:rPr lang="fr-FR" sz="2000" b="0" i="1" smtClean="0">
                        <a:latin typeface="Cambria Math" panose="02040503050406030204" pitchFamily="18" charset="0"/>
                      </a:rPr>
                      <m:t>𝑝𝑜𝑠𝑖𝑡𝑖𝑜𝑛</m:t>
                    </m:r>
                  </m:oMath>
                </a14:m>
                <a:r>
                  <a:rPr lang="fr-FR" sz="2000" dirty="0"/>
                  <a:t> FAIRE</a:t>
                </a:r>
              </a:p>
              <a:p>
                <a:r>
                  <a:rPr lang="fr-FR" sz="2000" dirty="0"/>
                  <a:t>		</a:t>
                </a:r>
                <a14:m>
                  <m:oMath xmlns:m="http://schemas.openxmlformats.org/officeDocument/2006/math">
                    <m:r>
                      <a:rPr lang="fr-FR" sz="2000" i="1" dirty="0" smtClean="0">
                        <a:latin typeface="Cambria Math" panose="02040503050406030204" pitchFamily="18" charset="0"/>
                      </a:rPr>
                      <m:t>𝑝𝑜𝑠𝑖𝑡𝑖𝑜𝑛𝑁𝑜𝑢𝑣𝑒𝑙𝑙𝑒</m:t>
                    </m:r>
                    <m:r>
                      <a:rPr lang="fr-FR" sz="2000" i="1" dirty="0" smtClean="0">
                        <a:latin typeface="Cambria Math" panose="02040503050406030204" pitchFamily="18" charset="0"/>
                        <a:ea typeface="Cambria Math" panose="02040503050406030204" pitchFamily="18" charset="0"/>
                      </a:rPr>
                      <m:t>←</m:t>
                    </m:r>
                    <m:r>
                      <m:rPr>
                        <m:nor/>
                      </m:rPr>
                      <a:rPr lang="fr-FR" sz="2000" i="0" dirty="0" err="1" smtClean="0">
                        <a:latin typeface="Cambria Math" panose="02040503050406030204" pitchFamily="18" charset="0"/>
                      </a:rPr>
                      <m:t>joueCoup</m:t>
                    </m:r>
                    <m:r>
                      <a:rPr lang="fr-FR" sz="2000" i="1" dirty="0" smtClean="0">
                        <a:latin typeface="Cambria Math" panose="02040503050406030204" pitchFamily="18" charset="0"/>
                      </a:rPr>
                      <m:t>(</m:t>
                    </m:r>
                    <m:r>
                      <a:rPr lang="fr-FR" sz="2000" i="1" dirty="0" smtClean="0">
                        <a:latin typeface="Cambria Math" panose="02040503050406030204" pitchFamily="18" charset="0"/>
                      </a:rPr>
                      <m:t>𝑗𝑒𝑢</m:t>
                    </m:r>
                    <m:r>
                      <a:rPr lang="fr-FR" sz="2000" i="1" dirty="0" smtClean="0">
                        <a:latin typeface="Cambria Math" panose="02040503050406030204" pitchFamily="18" charset="0"/>
                      </a:rPr>
                      <m:t>, </m:t>
                    </m:r>
                    <m:r>
                      <a:rPr lang="fr-FR" sz="2000" i="1" dirty="0" smtClean="0">
                        <a:latin typeface="Cambria Math" panose="02040503050406030204" pitchFamily="18" charset="0"/>
                      </a:rPr>
                      <m:t>𝑝𝑜𝑠𝑖𝑡𝑖𝑜𝑛</m:t>
                    </m:r>
                    <m:r>
                      <a:rPr lang="fr-FR" sz="2000" i="1" dirty="0" smtClean="0">
                        <a:latin typeface="Cambria Math" panose="02040503050406030204" pitchFamily="18" charset="0"/>
                      </a:rPr>
                      <m:t>, </m:t>
                    </m:r>
                    <m:r>
                      <a:rPr lang="fr-FR" sz="2000" i="1" dirty="0" smtClean="0">
                        <a:latin typeface="Cambria Math" panose="02040503050406030204" pitchFamily="18" charset="0"/>
                      </a:rPr>
                      <m:t>𝑗𝑜𝑢𝑒𝑢𝑟</m:t>
                    </m:r>
                    <m:r>
                      <a:rPr lang="fr-FR" sz="2000" i="1" dirty="0" smtClean="0">
                        <a:latin typeface="Cambria Math" panose="02040503050406030204" pitchFamily="18" charset="0"/>
                      </a:rPr>
                      <m:t>, </m:t>
                    </m:r>
                    <m:r>
                      <a:rPr lang="fr-FR" sz="2000" i="1" dirty="0" smtClean="0">
                        <a:latin typeface="Cambria Math" panose="02040503050406030204" pitchFamily="18" charset="0"/>
                      </a:rPr>
                      <m:t>𝑐𝑜𝑢𝑝</m:t>
                    </m:r>
                    <m:r>
                      <a:rPr lang="fr-FR" sz="2000" i="1" dirty="0" smtClean="0">
                        <a:latin typeface="Cambria Math" panose="02040503050406030204" pitchFamily="18" charset="0"/>
                      </a:rPr>
                      <m:t>)</m:t>
                    </m:r>
                  </m:oMath>
                </a14:m>
                <a:endParaRPr lang="fr-FR" sz="2000" dirty="0"/>
              </a:p>
              <a:p>
                <a:r>
                  <a:rPr lang="fr-FR" sz="2000" dirty="0"/>
                  <a:t>		</a:t>
                </a:r>
                <a14:m>
                  <m:oMath xmlns:m="http://schemas.openxmlformats.org/officeDocument/2006/math">
                    <m:r>
                      <a:rPr lang="fr-FR" sz="2000" i="1" dirty="0" smtClean="0">
                        <a:latin typeface="Cambria Math" panose="02040503050406030204" pitchFamily="18" charset="0"/>
                      </a:rPr>
                      <m:t>𝑣𝑎𝑙𝑒𝑢𝑟</m:t>
                    </m:r>
                    <m:r>
                      <a:rPr lang="fr-FR" sz="2000" i="1" dirty="0" smtClean="0">
                        <a:latin typeface="Cambria Math" panose="02040503050406030204" pitchFamily="18" charset="0"/>
                      </a:rPr>
                      <m:t>, </m:t>
                    </m:r>
                    <m:r>
                      <a:rPr lang="fr-FR" sz="2000" i="1" dirty="0" smtClean="0">
                        <a:latin typeface="Cambria Math" panose="02040503050406030204" pitchFamily="18" charset="0"/>
                      </a:rPr>
                      <m:t>𝑐𝑜𝑢𝑝</m:t>
                    </m:r>
                    <m:r>
                      <a:rPr lang="fr-FR" sz="2000" i="1" dirty="0" smtClean="0">
                        <a:latin typeface="Cambria Math" panose="02040503050406030204" pitchFamily="18" charset="0"/>
                        <a:ea typeface="Cambria Math" panose="02040503050406030204" pitchFamily="18" charset="0"/>
                      </a:rPr>
                      <m:t>←</m:t>
                    </m:r>
                    <m:r>
                      <m:rPr>
                        <m:nor/>
                      </m:rPr>
                      <a:rPr lang="fr-FR" sz="2000" i="0" dirty="0" err="1">
                        <a:latin typeface="Cambria Math" panose="02040503050406030204" pitchFamily="18" charset="0"/>
                      </a:rPr>
                      <m:t>minMax</m:t>
                    </m:r>
                    <m:r>
                      <a:rPr lang="fr-FR" sz="2000" i="1" dirty="0">
                        <a:latin typeface="Cambria Math" panose="02040503050406030204" pitchFamily="18" charset="0"/>
                      </a:rPr>
                      <m:t>(</m:t>
                    </m:r>
                    <m:r>
                      <a:rPr lang="fr-FR" sz="2000" i="1" dirty="0">
                        <a:latin typeface="Cambria Math" panose="02040503050406030204" pitchFamily="18" charset="0"/>
                      </a:rPr>
                      <m:t>𝑗𝑒𝑢</m:t>
                    </m:r>
                    <m:r>
                      <a:rPr lang="fr-FR" sz="2000" i="1" dirty="0">
                        <a:latin typeface="Cambria Math" panose="02040503050406030204" pitchFamily="18" charset="0"/>
                      </a:rPr>
                      <m:t>, </m:t>
                    </m:r>
                    <m:r>
                      <a:rPr lang="fr-FR" sz="2000" i="1" dirty="0" err="1" smtClean="0">
                        <a:latin typeface="Cambria Math" panose="02040503050406030204" pitchFamily="18" charset="0"/>
                      </a:rPr>
                      <m:t>𝑝𝑜𝑠𝑖𝑡𝑖𝑜𝑛𝑁𝑜𝑢𝑣𝑒𝑙𝑙𝑒</m:t>
                    </m:r>
                    <m:r>
                      <a:rPr lang="fr-FR" sz="2000" i="1" dirty="0" smtClean="0">
                        <a:latin typeface="Cambria Math" panose="02040503050406030204" pitchFamily="18" charset="0"/>
                      </a:rPr>
                      <m:t>, </m:t>
                    </m:r>
                    <m:r>
                      <a:rPr lang="fr-FR" sz="2000" i="1" dirty="0" smtClean="0">
                        <a:latin typeface="Cambria Math" panose="02040503050406030204" pitchFamily="18" charset="0"/>
                      </a:rPr>
                      <m:t>𝑎𝑑𝑣𝑒𝑟𝑠𝑎𝑖𝑟𝑒</m:t>
                    </m:r>
                    <m:r>
                      <a:rPr lang="fr-FR" sz="2000" b="0" i="1" dirty="0" smtClean="0">
                        <a:latin typeface="Cambria Math" panose="02040503050406030204" pitchFamily="18" charset="0"/>
                      </a:rPr>
                      <m:t>,</m:t>
                    </m:r>
                    <m:r>
                      <a:rPr lang="fr-FR" sz="2000" b="0" i="1" dirty="0" smtClean="0">
                        <a:latin typeface="Cambria Math" panose="02040503050406030204" pitchFamily="18" charset="0"/>
                      </a:rPr>
                      <m:t>𝑝𝑟𝑜𝑓𝑜𝑛𝑑𝑒𝑢𝑟</m:t>
                    </m:r>
                    <m:r>
                      <a:rPr lang="fr-FR" sz="2000" b="0" i="1" dirty="0" smtClean="0">
                        <a:latin typeface="Cambria Math" panose="02040503050406030204" pitchFamily="18" charset="0"/>
                      </a:rPr>
                      <m:t>−1)</m:t>
                    </m:r>
                  </m:oMath>
                </a14:m>
                <a:endParaRPr lang="fr-FR" sz="2000" dirty="0"/>
              </a:p>
              <a:p>
                <a:r>
                  <a:rPr lang="fr-FR" sz="2000" dirty="0"/>
                  <a:t>		SI </a:t>
                </a:r>
                <a14:m>
                  <m:oMath xmlns:m="http://schemas.openxmlformats.org/officeDocument/2006/math">
                    <m:r>
                      <a:rPr lang="fr-FR" sz="2000" i="1" dirty="0" smtClean="0">
                        <a:latin typeface="Cambria Math" panose="02040503050406030204" pitchFamily="18" charset="0"/>
                      </a:rPr>
                      <m:t>𝑣𝑎𝑙𝑒𝑢𝑟</m:t>
                    </m:r>
                    <m:r>
                      <a:rPr lang="fr-FR" sz="2000" b="0" i="1" dirty="0" smtClean="0">
                        <a:latin typeface="Cambria Math" panose="02040503050406030204" pitchFamily="18" charset="0"/>
                      </a:rPr>
                      <m:t>&lt;</m:t>
                    </m:r>
                    <m:r>
                      <a:rPr lang="fr-FR" sz="2000" i="1" dirty="0">
                        <a:latin typeface="Cambria Math" panose="02040503050406030204" pitchFamily="18" charset="0"/>
                      </a:rPr>
                      <m:t>𝑣𝑎𝑙𝑒𝑢𝑟𝑀</m:t>
                    </m:r>
                    <m:r>
                      <a:rPr lang="fr-FR" sz="2000" b="0" i="1" dirty="0" smtClean="0">
                        <a:latin typeface="Cambria Math" panose="02040503050406030204" pitchFamily="18" charset="0"/>
                      </a:rPr>
                      <m:t>𝑖𝑛</m:t>
                    </m:r>
                    <m:r>
                      <a:rPr lang="fr-FR" sz="2000" i="1" dirty="0">
                        <a:latin typeface="Cambria Math" panose="02040503050406030204" pitchFamily="18" charset="0"/>
                      </a:rPr>
                      <m:t>𝑖</m:t>
                    </m:r>
                  </m:oMath>
                </a14:m>
                <a:r>
                  <a:rPr lang="fr-FR" sz="2000" dirty="0"/>
                  <a:t> ALORS</a:t>
                </a:r>
              </a:p>
              <a:p>
                <a:r>
                  <a:rPr lang="fr-FR" sz="2000" dirty="0"/>
                  <a:t>			</a:t>
                </a:r>
                <a14:m>
                  <m:oMath xmlns:m="http://schemas.openxmlformats.org/officeDocument/2006/math">
                    <m:r>
                      <a:rPr lang="fr-FR" sz="2000" i="1" dirty="0" smtClean="0">
                        <a:latin typeface="Cambria Math" panose="02040503050406030204" pitchFamily="18" charset="0"/>
                      </a:rPr>
                      <m:t>𝑣𝑎𝑙𝑒𝑢𝑟𝑀</m:t>
                    </m:r>
                    <m:r>
                      <a:rPr lang="fr-FR" sz="2000" b="0" i="1" dirty="0" smtClean="0">
                        <a:latin typeface="Cambria Math" panose="02040503050406030204" pitchFamily="18" charset="0"/>
                      </a:rPr>
                      <m:t>𝑖𝑛</m:t>
                    </m:r>
                    <m:r>
                      <a:rPr lang="fr-FR" sz="2000" i="1" dirty="0" smtClean="0">
                        <a:latin typeface="Cambria Math" panose="02040503050406030204" pitchFamily="18" charset="0"/>
                      </a:rPr>
                      <m:t>𝑖</m:t>
                    </m:r>
                    <m:r>
                      <a:rPr lang="fr-FR" sz="2000" i="1" dirty="0" smtClean="0">
                        <a:latin typeface="Cambria Math" panose="02040503050406030204" pitchFamily="18" charset="0"/>
                        <a:ea typeface="Cambria Math" panose="02040503050406030204" pitchFamily="18" charset="0"/>
                      </a:rPr>
                      <m:t>←</m:t>
                    </m:r>
                    <m:r>
                      <a:rPr lang="fr-FR" sz="2000" i="1" dirty="0" smtClean="0">
                        <a:latin typeface="Cambria Math" panose="02040503050406030204" pitchFamily="18" charset="0"/>
                      </a:rPr>
                      <m:t>𝑣𝑎𝑙𝑒𝑢𝑟</m:t>
                    </m:r>
                  </m:oMath>
                </a14:m>
                <a:endParaRPr lang="fr-FR" sz="2000" dirty="0"/>
              </a:p>
              <a:p>
                <a:r>
                  <a:rPr lang="fr-FR" sz="2000" dirty="0"/>
                  <a:t>			</a:t>
                </a:r>
                <a14:m>
                  <m:oMath xmlns:m="http://schemas.openxmlformats.org/officeDocument/2006/math">
                    <m:r>
                      <a:rPr lang="fr-FR" sz="2000" i="1" dirty="0" smtClean="0">
                        <a:latin typeface="Cambria Math" panose="02040503050406030204" pitchFamily="18" charset="0"/>
                      </a:rPr>
                      <m:t>𝑐𝑜𝑢𝑝𝑀</m:t>
                    </m:r>
                    <m:r>
                      <a:rPr lang="fr-FR" sz="2000" b="0" i="1" dirty="0" smtClean="0">
                        <a:latin typeface="Cambria Math" panose="02040503050406030204" pitchFamily="18" charset="0"/>
                      </a:rPr>
                      <m:t>𝑖𝑛</m:t>
                    </m:r>
                    <m:r>
                      <a:rPr lang="fr-FR" sz="2000" i="1" dirty="0" smtClean="0">
                        <a:latin typeface="Cambria Math" panose="02040503050406030204" pitchFamily="18" charset="0"/>
                      </a:rPr>
                      <m:t>𝑖</m:t>
                    </m:r>
                    <m:r>
                      <a:rPr lang="fr-FR" sz="2000" i="1" dirty="0" smtClean="0">
                        <a:latin typeface="Cambria Math" panose="02040503050406030204" pitchFamily="18" charset="0"/>
                        <a:ea typeface="Cambria Math" panose="02040503050406030204" pitchFamily="18" charset="0"/>
                      </a:rPr>
                      <m:t>←</m:t>
                    </m:r>
                    <m:r>
                      <a:rPr lang="fr-FR" sz="2000" i="1" dirty="0" smtClean="0">
                        <a:latin typeface="Cambria Math" panose="02040503050406030204" pitchFamily="18" charset="0"/>
                      </a:rPr>
                      <m:t>𝑐𝑜𝑢𝑝</m:t>
                    </m:r>
                  </m:oMath>
                </a14:m>
                <a:endParaRPr lang="fr-FR" sz="2000" dirty="0"/>
              </a:p>
              <a:p>
                <a:r>
                  <a:rPr lang="fr-FR" sz="2000" dirty="0"/>
                  <a:t>	RETOURNER </a:t>
                </a:r>
                <a14:m>
                  <m:oMath xmlns:m="http://schemas.openxmlformats.org/officeDocument/2006/math">
                    <m:r>
                      <a:rPr lang="fr-FR" sz="2000" i="1" dirty="0" smtClean="0">
                        <a:latin typeface="Cambria Math" panose="02040503050406030204" pitchFamily="18" charset="0"/>
                      </a:rPr>
                      <m:t>𝑣𝑎𝑙𝑒𝑢𝑟𝑀</m:t>
                    </m:r>
                    <m:r>
                      <a:rPr lang="fr-FR" sz="2000" b="0" i="1" dirty="0" smtClean="0">
                        <a:latin typeface="Cambria Math" panose="02040503050406030204" pitchFamily="18" charset="0"/>
                      </a:rPr>
                      <m:t>𝑖𝑛</m:t>
                    </m:r>
                    <m:r>
                      <a:rPr lang="fr-FR" sz="2000" i="1" dirty="0" smtClean="0">
                        <a:latin typeface="Cambria Math" panose="02040503050406030204" pitchFamily="18" charset="0"/>
                      </a:rPr>
                      <m:t>𝑖</m:t>
                    </m:r>
                    <m:r>
                      <a:rPr lang="fr-FR" sz="2000" i="1" dirty="0" smtClean="0">
                        <a:latin typeface="Cambria Math" panose="02040503050406030204" pitchFamily="18" charset="0"/>
                      </a:rPr>
                      <m:t>, </m:t>
                    </m:r>
                    <m:r>
                      <a:rPr lang="fr-FR" sz="2000" i="1" dirty="0">
                        <a:latin typeface="Cambria Math" panose="02040503050406030204" pitchFamily="18" charset="0"/>
                      </a:rPr>
                      <m:t>𝑐𝑜𝑢𝑝𝑀</m:t>
                    </m:r>
                    <m:r>
                      <a:rPr lang="fr-FR" sz="2000" b="0" i="1" dirty="0" smtClean="0">
                        <a:latin typeface="Cambria Math" panose="02040503050406030204" pitchFamily="18" charset="0"/>
                      </a:rPr>
                      <m:t>𝑖𝑛</m:t>
                    </m:r>
                    <m:r>
                      <a:rPr lang="fr-FR" sz="2000" i="1" dirty="0">
                        <a:latin typeface="Cambria Math" panose="02040503050406030204" pitchFamily="18" charset="0"/>
                      </a:rPr>
                      <m:t>𝑖</m:t>
                    </m:r>
                  </m:oMath>
                </a14:m>
                <a:endParaRPr lang="fr-FR" sz="2000" dirty="0"/>
              </a:p>
            </p:txBody>
          </p:sp>
        </mc:Choice>
        <mc:Fallback xmlns="">
          <p:sp>
            <p:nvSpPr>
              <p:cNvPr id="4" name="ZoneTexte 3">
                <a:extLst>
                  <a:ext uri="{FF2B5EF4-FFF2-40B4-BE49-F238E27FC236}">
                    <a16:creationId xmlns:a16="http://schemas.microsoft.com/office/drawing/2014/main" id="{BA55B54D-04F9-E9D4-944E-51C50B1669C4}"/>
                  </a:ext>
                </a:extLst>
              </p:cNvPr>
              <p:cNvSpPr txBox="1">
                <a:spLocks noRot="1" noChangeAspect="1" noMove="1" noResize="1" noEditPoints="1" noAdjustHandles="1" noChangeArrowheads="1" noChangeShapeType="1" noTextEdit="1"/>
              </p:cNvSpPr>
              <p:nvPr/>
            </p:nvSpPr>
            <p:spPr>
              <a:xfrm>
                <a:off x="844826" y="1431230"/>
                <a:ext cx="11019796" cy="4278094"/>
              </a:xfrm>
              <a:prstGeom prst="rect">
                <a:avLst/>
              </a:prstGeom>
              <a:blipFill>
                <a:blip r:embed="rId2"/>
                <a:stretch>
                  <a:fillRect l="-806" t="-1183" b="-1479"/>
                </a:stretch>
              </a:blipFill>
            </p:spPr>
            <p:txBody>
              <a:bodyPr/>
              <a:lstStyle/>
              <a:p>
                <a:r>
                  <a:rPr lang="fr-FR">
                    <a:noFill/>
                  </a:rPr>
                  <a:t> </a:t>
                </a:r>
              </a:p>
            </p:txBody>
          </p:sp>
        </mc:Fallback>
      </mc:AlternateContent>
    </p:spTree>
    <p:extLst>
      <p:ext uri="{BB962C8B-B14F-4D97-AF65-F5344CB8AC3E}">
        <p14:creationId xmlns:p14="http://schemas.microsoft.com/office/powerpoint/2010/main" val="42319798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B4031-CCF3-071F-2D70-B26118D4D78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CB5C7F9-CE76-0515-37F5-6C1E9E52039F}"/>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77046952-0ADE-C2A8-51A9-191EA693CA5E}"/>
                  </a:ext>
                </a:extLst>
              </p:cNvPr>
              <p:cNvSpPr txBox="1"/>
              <p:nvPr/>
            </p:nvSpPr>
            <p:spPr>
              <a:xfrm>
                <a:off x="844826" y="1431230"/>
                <a:ext cx="10525539" cy="3046988"/>
              </a:xfrm>
              <a:prstGeom prst="rect">
                <a:avLst/>
              </a:prstGeom>
              <a:noFill/>
            </p:spPr>
            <p:txBody>
              <a:bodyPr wrap="square" rtlCol="0">
                <a:spAutoFit/>
              </a:bodyPr>
              <a:lstStyle/>
              <a:p>
                <a:r>
                  <a:rPr lang="fr-FR" sz="2400" b="1" dirty="0"/>
                  <a:t>Cas général : pseudo-code (suite)</a:t>
                </a:r>
              </a:p>
              <a:p>
                <a:endParaRPr lang="fr-FR" sz="2400" dirty="0"/>
              </a:p>
              <a:p>
                <a:pPr marL="342900" indent="-342900">
                  <a:buFont typeface="Arial" panose="020B0604020202020204" pitchFamily="34" charset="0"/>
                  <a:buChar char="•"/>
                </a:pPr>
                <a:r>
                  <a:rPr lang="fr-FR" sz="2400" dirty="0"/>
                  <a:t>Pour un sommet donné, le premier appel de la fonction récursive </a:t>
                </a:r>
                <a14:m>
                  <m:oMath xmlns:m="http://schemas.openxmlformats.org/officeDocument/2006/math">
                    <m:r>
                      <m:rPr>
                        <m:sty m:val="p"/>
                      </m:rPr>
                      <a:rPr lang="fr-FR" sz="2400" b="0" i="1" smtClean="0">
                        <a:latin typeface="Cambria Math" panose="02040503050406030204" pitchFamily="18" charset="0"/>
                      </a:rPr>
                      <m:t>minMax</m:t>
                    </m:r>
                  </m:oMath>
                </a14:m>
                <a:r>
                  <a:rPr lang="fr-FR" sz="2400" dirty="0"/>
                  <a:t> se fera en passant en paramètre la profondeur maximale souhaitée :</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a14:m>
                  <m:oMathPara xmlns:m="http://schemas.openxmlformats.org/officeDocument/2006/math">
                    <m:oMathParaPr>
                      <m:jc m:val="centerGroup"/>
                    </m:oMathParaPr>
                    <m:oMath xmlns:m="http://schemas.openxmlformats.org/officeDocument/2006/math">
                      <m:r>
                        <m:rPr>
                          <m:nor/>
                        </m:rPr>
                        <a:rPr lang="fr-FR" sz="2400" dirty="0">
                          <a:latin typeface="Cambria Math" panose="02040503050406030204" pitchFamily="18" charset="0"/>
                        </a:rPr>
                        <m:t>minMax</m:t>
                      </m:r>
                      <m:r>
                        <a:rPr lang="fr-FR" sz="2400" i="1" dirty="0">
                          <a:latin typeface="Cambria Math" panose="02040503050406030204" pitchFamily="18" charset="0"/>
                        </a:rPr>
                        <m:t>(</m:t>
                      </m:r>
                      <m:r>
                        <a:rPr lang="fr-FR" sz="2400" i="1" dirty="0">
                          <a:latin typeface="Cambria Math" panose="02040503050406030204" pitchFamily="18" charset="0"/>
                        </a:rPr>
                        <m:t>𝑗𝑒𝑢</m:t>
                      </m:r>
                      <m:r>
                        <a:rPr lang="fr-FR" sz="2400" i="1" dirty="0">
                          <a:latin typeface="Cambria Math" panose="02040503050406030204" pitchFamily="18" charset="0"/>
                        </a:rPr>
                        <m:t>, </m:t>
                      </m:r>
                      <m:r>
                        <a:rPr lang="fr-FR" sz="2400" i="1" dirty="0">
                          <a:latin typeface="Cambria Math" panose="02040503050406030204" pitchFamily="18" charset="0"/>
                        </a:rPr>
                        <m:t>𝑝𝑜𝑠𝑖𝑡𝑖𝑜𝑛</m:t>
                      </m:r>
                      <m:r>
                        <a:rPr lang="fr-FR" sz="2400" i="1" dirty="0">
                          <a:latin typeface="Cambria Math" panose="02040503050406030204" pitchFamily="18" charset="0"/>
                        </a:rPr>
                        <m:t>, </m:t>
                      </m:r>
                      <m:r>
                        <a:rPr lang="fr-FR" sz="2400" i="1" dirty="0">
                          <a:latin typeface="Cambria Math" panose="02040503050406030204" pitchFamily="18" charset="0"/>
                        </a:rPr>
                        <m:t>𝑗𝑜𝑢𝑒𝑢𝑟</m:t>
                      </m:r>
                      <m:r>
                        <a:rPr lang="fr-FR" sz="2400" i="1" dirty="0">
                          <a:latin typeface="Cambria Math" panose="02040503050406030204" pitchFamily="18" charset="0"/>
                        </a:rPr>
                        <m:t>,</m:t>
                      </m:r>
                      <m:r>
                        <a:rPr lang="fr-FR" sz="2400" i="1" dirty="0">
                          <a:latin typeface="Cambria Math" panose="02040503050406030204" pitchFamily="18" charset="0"/>
                        </a:rPr>
                        <m:t>𝑝𝑟𝑜𝑓𝑜𝑛𝑑𝑒𝑢𝑟𝑀𝑎𝑥𝑖𝑚𝑎𝑙𝑒</m:t>
                      </m:r>
                      <m:r>
                        <a:rPr lang="fr-FR" sz="2400" i="1" dirty="0">
                          <a:latin typeface="Cambria Math" panose="02040503050406030204" pitchFamily="18" charset="0"/>
                        </a:rPr>
                        <m:t>)</m:t>
                      </m:r>
                    </m:oMath>
                  </m:oMathPara>
                </a14:m>
                <a:endParaRPr lang="fr-FR" sz="2400" dirty="0"/>
              </a:p>
              <a:p>
                <a:endParaRPr lang="fr-FR" sz="2400" dirty="0"/>
              </a:p>
            </p:txBody>
          </p:sp>
        </mc:Choice>
        <mc:Fallback xmlns="">
          <p:sp>
            <p:nvSpPr>
              <p:cNvPr id="3" name="ZoneTexte 2">
                <a:extLst>
                  <a:ext uri="{FF2B5EF4-FFF2-40B4-BE49-F238E27FC236}">
                    <a16:creationId xmlns:a16="http://schemas.microsoft.com/office/drawing/2014/main" id="{77046952-0ADE-C2A8-51A9-191EA693CA5E}"/>
                  </a:ext>
                </a:extLst>
              </p:cNvPr>
              <p:cNvSpPr txBox="1">
                <a:spLocks noRot="1" noChangeAspect="1" noMove="1" noResize="1" noEditPoints="1" noAdjustHandles="1" noChangeArrowheads="1" noChangeShapeType="1" noTextEdit="1"/>
              </p:cNvSpPr>
              <p:nvPr/>
            </p:nvSpPr>
            <p:spPr>
              <a:xfrm>
                <a:off x="844826" y="1431230"/>
                <a:ext cx="10525539" cy="3046988"/>
              </a:xfrm>
              <a:prstGeom prst="rect">
                <a:avLst/>
              </a:prstGeom>
              <a:blipFill>
                <a:blip r:embed="rId2"/>
                <a:stretch>
                  <a:fillRect l="-843" t="-1660"/>
                </a:stretch>
              </a:blipFill>
            </p:spPr>
            <p:txBody>
              <a:bodyPr/>
              <a:lstStyle/>
              <a:p>
                <a:r>
                  <a:rPr lang="fr-FR">
                    <a:noFill/>
                  </a:rPr>
                  <a:t> </a:t>
                </a:r>
              </a:p>
            </p:txBody>
          </p:sp>
        </mc:Fallback>
      </mc:AlternateContent>
      <p:pic>
        <p:nvPicPr>
          <p:cNvPr id="5" name="Graphique 4" descr="Centre d’appels avec un remplissage uni">
            <a:extLst>
              <a:ext uri="{FF2B5EF4-FFF2-40B4-BE49-F238E27FC236}">
                <a16:creationId xmlns:a16="http://schemas.microsoft.com/office/drawing/2014/main" id="{B0B30C95-608A-ADD7-2833-B252AEEC54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0724632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8B337-F12D-5D1C-9719-D5363356FF4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AAB877-9696-6014-DBA3-53AE10FAD4AA}"/>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542F9318-EE00-C809-E728-7FBDE979A38D}"/>
              </a:ext>
            </a:extLst>
          </p:cNvPr>
          <p:cNvSpPr txBox="1"/>
          <p:nvPr/>
        </p:nvSpPr>
        <p:spPr>
          <a:xfrm>
            <a:off x="844826" y="1431230"/>
            <a:ext cx="10525539" cy="3785652"/>
          </a:xfrm>
          <a:prstGeom prst="rect">
            <a:avLst/>
          </a:prstGeom>
          <a:noFill/>
        </p:spPr>
        <p:txBody>
          <a:bodyPr wrap="square" rtlCol="0">
            <a:spAutoFit/>
          </a:bodyPr>
          <a:lstStyle/>
          <a:p>
            <a:r>
              <a:rPr lang="fr-FR" sz="2400" b="1" dirty="0"/>
              <a:t>Élagage alpha / bêta</a:t>
            </a:r>
          </a:p>
          <a:p>
            <a:endParaRPr lang="fr-FR" sz="2400" dirty="0"/>
          </a:p>
          <a:p>
            <a:pPr marL="342900" indent="-342900">
              <a:buFont typeface="Arial" panose="020B0604020202020204" pitchFamily="34" charset="0"/>
              <a:buChar char="•"/>
            </a:pPr>
            <a:r>
              <a:rPr lang="fr-FR" sz="2400" dirty="0"/>
              <a:t>Le but ici est de procéder à un élagage de l’arborescence afin de ne pas examiner toutes les branches et de gagner en vitesse d’exécution.</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Il ne s’agira pas d’une heuristique d’élagage, en ce sens que l’on ne perdra pas d’information.</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L’idée va être de se servir des parcours des premières branches pour éventuellement restreindre la suite des explorations.</a:t>
            </a:r>
          </a:p>
        </p:txBody>
      </p:sp>
    </p:spTree>
    <p:extLst>
      <p:ext uri="{BB962C8B-B14F-4D97-AF65-F5344CB8AC3E}">
        <p14:creationId xmlns:p14="http://schemas.microsoft.com/office/powerpoint/2010/main" val="36554042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47841-2E6C-2678-1483-4BA99705995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DBA2C3E-1419-AC53-CD36-9F21D5420B9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2E1BECE4-CEAD-19E1-D0A6-278D06413A4E}"/>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(suite)</a:t>
            </a:r>
          </a:p>
          <a:p>
            <a:endParaRPr lang="fr-FR" sz="2400" dirty="0"/>
          </a:p>
          <a:p>
            <a:pPr marL="342900" indent="-342900">
              <a:buFont typeface="Arial" panose="020B0604020202020204" pitchFamily="34" charset="0"/>
              <a:buChar char="•"/>
            </a:pPr>
            <a:r>
              <a:rPr lang="fr-FR" sz="2400" dirty="0"/>
              <a:t>Imaginons que le parcours des premières branches ait donné cette situation :  </a:t>
            </a:r>
          </a:p>
        </p:txBody>
      </p:sp>
      <p:pic>
        <p:nvPicPr>
          <p:cNvPr id="5" name="Image 4" descr="Une image contenant ligne, origami, conception&#10;&#10;Le contenu généré par l’IA peut être incorrect.">
            <a:extLst>
              <a:ext uri="{FF2B5EF4-FFF2-40B4-BE49-F238E27FC236}">
                <a16:creationId xmlns:a16="http://schemas.microsoft.com/office/drawing/2014/main" id="{2F10A80D-FAE5-FA51-C76E-8D75463DD1FE}"/>
              </a:ext>
            </a:extLst>
          </p:cNvPr>
          <p:cNvPicPr>
            <a:picLocks noChangeAspect="1"/>
          </p:cNvPicPr>
          <p:nvPr/>
        </p:nvPicPr>
        <p:blipFill>
          <a:blip r:embed="rId2"/>
          <a:stretch>
            <a:fillRect/>
          </a:stretch>
        </p:blipFill>
        <p:spPr>
          <a:xfrm>
            <a:off x="2209800" y="3194869"/>
            <a:ext cx="7772400" cy="3349904"/>
          </a:xfrm>
          <a:prstGeom prst="rect">
            <a:avLst/>
          </a:prstGeom>
        </p:spPr>
      </p:pic>
    </p:spTree>
    <p:extLst>
      <p:ext uri="{BB962C8B-B14F-4D97-AF65-F5344CB8AC3E}">
        <p14:creationId xmlns:p14="http://schemas.microsoft.com/office/powerpoint/2010/main" val="8598112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CA639-46F0-FFC6-3D86-6FEFA05E5D0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BA6CAA4-CF06-D507-E0A4-04922E029C90}"/>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000378B8-10DB-EB8F-AB0A-8BEE9A761D45}"/>
              </a:ext>
            </a:extLst>
          </p:cNvPr>
          <p:cNvSpPr txBox="1"/>
          <p:nvPr/>
        </p:nvSpPr>
        <p:spPr>
          <a:xfrm>
            <a:off x="844826" y="1431230"/>
            <a:ext cx="10525539" cy="1569660"/>
          </a:xfrm>
          <a:prstGeom prst="rect">
            <a:avLst/>
          </a:prstGeom>
          <a:noFill/>
        </p:spPr>
        <p:txBody>
          <a:bodyPr wrap="square" rtlCol="0">
            <a:spAutoFit/>
          </a:bodyPr>
          <a:lstStyle/>
          <a:p>
            <a:r>
              <a:rPr lang="fr-FR" sz="2400" b="1" dirty="0"/>
              <a:t>Élagage alpha / bêta (suite)</a:t>
            </a:r>
          </a:p>
          <a:p>
            <a:endParaRPr lang="fr-FR" sz="2400" dirty="0"/>
          </a:p>
          <a:p>
            <a:pPr marL="342900" indent="-342900">
              <a:buFont typeface="Arial" panose="020B0604020202020204" pitchFamily="34" charset="0"/>
              <a:buChar char="•"/>
            </a:pPr>
            <a:r>
              <a:rPr lang="fr-FR" sz="2400" dirty="0"/>
              <a:t>Le sommet en rouge étant un sommet “minimum“ et celui en vert un sommet “maximum“ on aura nécessairement :</a:t>
            </a:r>
          </a:p>
        </p:txBody>
      </p:sp>
      <p:pic>
        <p:nvPicPr>
          <p:cNvPr id="5" name="Image 4" descr="Une image contenant ligne, diagramme, conception, origami&#10;&#10;Le contenu généré par l’IA peut être incorrect.">
            <a:extLst>
              <a:ext uri="{FF2B5EF4-FFF2-40B4-BE49-F238E27FC236}">
                <a16:creationId xmlns:a16="http://schemas.microsoft.com/office/drawing/2014/main" id="{BABB1C8A-0CCF-450D-65A3-A3058A83C603}"/>
              </a:ext>
            </a:extLst>
          </p:cNvPr>
          <p:cNvPicPr>
            <a:picLocks noChangeAspect="1"/>
          </p:cNvPicPr>
          <p:nvPr/>
        </p:nvPicPr>
        <p:blipFill>
          <a:blip r:embed="rId2"/>
          <a:stretch>
            <a:fillRect/>
          </a:stretch>
        </p:blipFill>
        <p:spPr>
          <a:xfrm>
            <a:off x="2209800" y="3000890"/>
            <a:ext cx="7772400" cy="3544214"/>
          </a:xfrm>
          <a:prstGeom prst="rect">
            <a:avLst/>
          </a:prstGeom>
        </p:spPr>
      </p:pic>
    </p:spTree>
    <p:extLst>
      <p:ext uri="{BB962C8B-B14F-4D97-AF65-F5344CB8AC3E}">
        <p14:creationId xmlns:p14="http://schemas.microsoft.com/office/powerpoint/2010/main" val="20082461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548DC-2F2D-4CCA-9A31-21A8737F3D0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4113868-85B5-7CD8-6983-D048B3E1BC18}"/>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A6566858-2532-242D-3FEE-863A1EF92112}"/>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(suite)</a:t>
            </a:r>
          </a:p>
          <a:p>
            <a:endParaRPr lang="fr-FR" sz="2400" dirty="0"/>
          </a:p>
          <a:p>
            <a:pPr marL="342900" indent="-342900">
              <a:buFont typeface="Arial" panose="020B0604020202020204" pitchFamily="34" charset="0"/>
              <a:buChar char="•"/>
            </a:pPr>
            <a:r>
              <a:rPr lang="fr-FR" sz="2400" dirty="0"/>
              <a:t>Cela permet alors d’élaguer certaines branches :</a:t>
            </a:r>
          </a:p>
        </p:txBody>
      </p:sp>
      <p:pic>
        <p:nvPicPr>
          <p:cNvPr id="5" name="Image 4" descr="Une image contenant ligne, diagramme, conception, origami&#10;&#10;Le contenu généré par l’IA peut être incorrect.">
            <a:extLst>
              <a:ext uri="{FF2B5EF4-FFF2-40B4-BE49-F238E27FC236}">
                <a16:creationId xmlns:a16="http://schemas.microsoft.com/office/drawing/2014/main" id="{70E8BA10-B6FC-B038-0036-0A98FC7555B8}"/>
              </a:ext>
            </a:extLst>
          </p:cNvPr>
          <p:cNvPicPr>
            <a:picLocks noChangeAspect="1"/>
          </p:cNvPicPr>
          <p:nvPr/>
        </p:nvPicPr>
        <p:blipFill>
          <a:blip r:embed="rId3"/>
          <a:stretch>
            <a:fillRect/>
          </a:stretch>
        </p:blipFill>
        <p:spPr>
          <a:xfrm>
            <a:off x="2209800" y="3000890"/>
            <a:ext cx="7772400" cy="3544214"/>
          </a:xfrm>
          <a:prstGeom prst="rect">
            <a:avLst/>
          </a:prstGeom>
        </p:spPr>
      </p:pic>
      <p:pic>
        <p:nvPicPr>
          <p:cNvPr id="6" name="Graphique 5" descr="Fermer avec un remplissage uni">
            <a:extLst>
              <a:ext uri="{FF2B5EF4-FFF2-40B4-BE49-F238E27FC236}">
                <a16:creationId xmlns:a16="http://schemas.microsoft.com/office/drawing/2014/main" id="{0D72649B-E5F7-E5C3-DB6A-1708FA56E67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27595" y="5334539"/>
            <a:ext cx="360000" cy="360000"/>
          </a:xfrm>
          <a:prstGeom prst="rect">
            <a:avLst/>
          </a:prstGeom>
        </p:spPr>
      </p:pic>
      <p:pic>
        <p:nvPicPr>
          <p:cNvPr id="7" name="Graphique 6" descr="Fermer avec un remplissage uni">
            <a:extLst>
              <a:ext uri="{FF2B5EF4-FFF2-40B4-BE49-F238E27FC236}">
                <a16:creationId xmlns:a16="http://schemas.microsoft.com/office/drawing/2014/main" id="{936097C2-C70A-D32D-EC20-39B29FF6D1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66950" y="5303215"/>
            <a:ext cx="360000" cy="360000"/>
          </a:xfrm>
          <a:prstGeom prst="rect">
            <a:avLst/>
          </a:prstGeom>
        </p:spPr>
      </p:pic>
    </p:spTree>
    <p:extLst>
      <p:ext uri="{BB962C8B-B14F-4D97-AF65-F5344CB8AC3E}">
        <p14:creationId xmlns:p14="http://schemas.microsoft.com/office/powerpoint/2010/main" val="28496849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56CF1-3D11-C9B9-75BB-612509380C5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BDA0E46-DA01-F04A-2F9F-03F2940DEBE3}"/>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61264157-9890-E4F0-3927-EB8361565EE9}"/>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(suite)</a:t>
            </a:r>
          </a:p>
          <a:p>
            <a:endParaRPr lang="fr-FR" sz="2400" dirty="0"/>
          </a:p>
          <a:p>
            <a:pPr marL="342900" indent="-342900">
              <a:buFont typeface="Arial" panose="020B0604020202020204" pitchFamily="34" charset="0"/>
              <a:buChar char="•"/>
            </a:pPr>
            <a:r>
              <a:rPr lang="fr-FR" sz="2400" dirty="0"/>
              <a:t>Même chose dans cette situation :</a:t>
            </a:r>
          </a:p>
        </p:txBody>
      </p:sp>
      <p:pic>
        <p:nvPicPr>
          <p:cNvPr id="5" name="Image 4" descr="Une image contenant ligne, diagramme, origami, conception&#10;&#10;Le contenu généré par l’IA peut être incorrect.">
            <a:extLst>
              <a:ext uri="{FF2B5EF4-FFF2-40B4-BE49-F238E27FC236}">
                <a16:creationId xmlns:a16="http://schemas.microsoft.com/office/drawing/2014/main" id="{AC9F5FDB-BF05-F350-BC6A-D38E18ACC5ED}"/>
              </a:ext>
            </a:extLst>
          </p:cNvPr>
          <p:cNvPicPr>
            <a:picLocks noChangeAspect="1"/>
          </p:cNvPicPr>
          <p:nvPr/>
        </p:nvPicPr>
        <p:blipFill>
          <a:blip r:embed="rId2"/>
          <a:stretch>
            <a:fillRect/>
          </a:stretch>
        </p:blipFill>
        <p:spPr>
          <a:xfrm>
            <a:off x="2210400" y="3199415"/>
            <a:ext cx="7772400" cy="3349904"/>
          </a:xfrm>
          <a:prstGeom prst="rect">
            <a:avLst/>
          </a:prstGeom>
        </p:spPr>
      </p:pic>
    </p:spTree>
    <p:extLst>
      <p:ext uri="{BB962C8B-B14F-4D97-AF65-F5344CB8AC3E}">
        <p14:creationId xmlns:p14="http://schemas.microsoft.com/office/powerpoint/2010/main" val="27937768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32342-7910-81A1-9430-B414A66352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3854157-64A4-B8B0-DE72-72089461BD39}"/>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A5E2B9B1-E928-5B07-48D2-7AFCFD6BCF75}"/>
              </a:ext>
            </a:extLst>
          </p:cNvPr>
          <p:cNvSpPr txBox="1"/>
          <p:nvPr/>
        </p:nvSpPr>
        <p:spPr>
          <a:xfrm>
            <a:off x="844826" y="1431230"/>
            <a:ext cx="10525539" cy="1569660"/>
          </a:xfrm>
          <a:prstGeom prst="rect">
            <a:avLst/>
          </a:prstGeom>
          <a:noFill/>
        </p:spPr>
        <p:txBody>
          <a:bodyPr wrap="square" rtlCol="0">
            <a:spAutoFit/>
          </a:bodyPr>
          <a:lstStyle/>
          <a:p>
            <a:r>
              <a:rPr lang="fr-FR" sz="2400" b="1" dirty="0"/>
              <a:t>Élagage alpha / bêta (suite)</a:t>
            </a:r>
          </a:p>
          <a:p>
            <a:endParaRPr lang="fr-FR" sz="2400" dirty="0"/>
          </a:p>
          <a:p>
            <a:pPr marL="342900" indent="-342900">
              <a:buFont typeface="Arial" panose="020B0604020202020204" pitchFamily="34" charset="0"/>
              <a:buChar char="•"/>
            </a:pPr>
            <a:r>
              <a:rPr lang="fr-FR" sz="2400" dirty="0"/>
              <a:t>Le sommet en rouge étant un sommet “minimum“ et celui en vert un sommet “maximum“ on aura nécessairement :</a:t>
            </a:r>
          </a:p>
        </p:txBody>
      </p:sp>
      <p:pic>
        <p:nvPicPr>
          <p:cNvPr id="7" name="Image 6" descr="Une image contenant ligne, diagramme, origami&#10;&#10;Le contenu généré par l’IA peut être incorrect.">
            <a:extLst>
              <a:ext uri="{FF2B5EF4-FFF2-40B4-BE49-F238E27FC236}">
                <a16:creationId xmlns:a16="http://schemas.microsoft.com/office/drawing/2014/main" id="{DA5C34D7-5E31-1439-A41F-AF5C1681BA8C}"/>
              </a:ext>
            </a:extLst>
          </p:cNvPr>
          <p:cNvPicPr>
            <a:picLocks noChangeAspect="1"/>
          </p:cNvPicPr>
          <p:nvPr/>
        </p:nvPicPr>
        <p:blipFill>
          <a:blip r:embed="rId2"/>
          <a:stretch>
            <a:fillRect/>
          </a:stretch>
        </p:blipFill>
        <p:spPr>
          <a:xfrm>
            <a:off x="2210400" y="3002400"/>
            <a:ext cx="7772400" cy="3544214"/>
          </a:xfrm>
          <a:prstGeom prst="rect">
            <a:avLst/>
          </a:prstGeom>
        </p:spPr>
      </p:pic>
    </p:spTree>
    <p:extLst>
      <p:ext uri="{BB962C8B-B14F-4D97-AF65-F5344CB8AC3E}">
        <p14:creationId xmlns:p14="http://schemas.microsoft.com/office/powerpoint/2010/main" val="2952684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985EF-DD95-4427-6C98-6CA95E4EAB0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883E635-7867-EDF1-A69D-C75DC37AC82C}"/>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076D47E2-E548-1451-0713-4DB4AAFF15BD}"/>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(suite)</a:t>
            </a:r>
          </a:p>
          <a:p>
            <a:endParaRPr lang="fr-FR" sz="2400" dirty="0"/>
          </a:p>
          <a:p>
            <a:pPr marL="342900" indent="-342900">
              <a:buFont typeface="Arial" panose="020B0604020202020204" pitchFamily="34" charset="0"/>
              <a:buChar char="•"/>
            </a:pPr>
            <a:r>
              <a:rPr lang="fr-FR" sz="2400" dirty="0"/>
              <a:t>Cela permet alors d’élaguer certaines branches :</a:t>
            </a:r>
          </a:p>
        </p:txBody>
      </p:sp>
      <p:pic>
        <p:nvPicPr>
          <p:cNvPr id="4" name="Image 3" descr="Une image contenant ligne, diagramme, origami&#10;&#10;Le contenu généré par l’IA peut être incorrect.">
            <a:extLst>
              <a:ext uri="{FF2B5EF4-FFF2-40B4-BE49-F238E27FC236}">
                <a16:creationId xmlns:a16="http://schemas.microsoft.com/office/drawing/2014/main" id="{A3121188-71D4-E77D-9B95-54C4724E21B8}"/>
              </a:ext>
            </a:extLst>
          </p:cNvPr>
          <p:cNvPicPr>
            <a:picLocks noChangeAspect="1"/>
          </p:cNvPicPr>
          <p:nvPr/>
        </p:nvPicPr>
        <p:blipFill>
          <a:blip r:embed="rId3"/>
          <a:stretch>
            <a:fillRect/>
          </a:stretch>
        </p:blipFill>
        <p:spPr>
          <a:xfrm>
            <a:off x="2210400" y="3002400"/>
            <a:ext cx="7772400" cy="3544214"/>
          </a:xfrm>
          <a:prstGeom prst="rect">
            <a:avLst/>
          </a:prstGeom>
        </p:spPr>
      </p:pic>
      <p:pic>
        <p:nvPicPr>
          <p:cNvPr id="5" name="Graphique 4" descr="Fermer avec un remplissage uni">
            <a:extLst>
              <a:ext uri="{FF2B5EF4-FFF2-40B4-BE49-F238E27FC236}">
                <a16:creationId xmlns:a16="http://schemas.microsoft.com/office/drawing/2014/main" id="{3E5D0262-7ACF-A6AE-9414-B3219A75843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11839" y="5337082"/>
            <a:ext cx="360000" cy="360000"/>
          </a:xfrm>
          <a:prstGeom prst="rect">
            <a:avLst/>
          </a:prstGeom>
        </p:spPr>
      </p:pic>
      <p:pic>
        <p:nvPicPr>
          <p:cNvPr id="6" name="Graphique 5" descr="Fermer avec un remplissage uni">
            <a:extLst>
              <a:ext uri="{FF2B5EF4-FFF2-40B4-BE49-F238E27FC236}">
                <a16:creationId xmlns:a16="http://schemas.microsoft.com/office/drawing/2014/main" id="{B236340E-77D9-CFCD-583D-6AE860D6A3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18296" y="5337082"/>
            <a:ext cx="360000" cy="360000"/>
          </a:xfrm>
          <a:prstGeom prst="rect">
            <a:avLst/>
          </a:prstGeom>
        </p:spPr>
      </p:pic>
    </p:spTree>
    <p:extLst>
      <p:ext uri="{BB962C8B-B14F-4D97-AF65-F5344CB8AC3E}">
        <p14:creationId xmlns:p14="http://schemas.microsoft.com/office/powerpoint/2010/main" val="11634412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524A9-DB0E-FC98-DD51-1F0B5FE2B59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4FCBF37-5054-533B-80F5-BE617558E7B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0F4F372B-0D42-3E0C-5141-CDF74B0DD668}"/>
              </a:ext>
            </a:extLst>
          </p:cNvPr>
          <p:cNvSpPr txBox="1"/>
          <p:nvPr/>
        </p:nvSpPr>
        <p:spPr>
          <a:xfrm>
            <a:off x="844826" y="1431230"/>
            <a:ext cx="10525539" cy="4154984"/>
          </a:xfrm>
          <a:prstGeom prst="rect">
            <a:avLst/>
          </a:prstGeom>
          <a:noFill/>
        </p:spPr>
        <p:txBody>
          <a:bodyPr wrap="square" rtlCol="0">
            <a:spAutoFit/>
          </a:bodyPr>
          <a:lstStyle/>
          <a:p>
            <a:r>
              <a:rPr lang="fr-FR" sz="2400" b="1" dirty="0"/>
              <a:t>Élagage alpha / bêta (suite)</a:t>
            </a:r>
          </a:p>
          <a:p>
            <a:endParaRPr lang="fr-FR" sz="2400" dirty="0"/>
          </a:p>
          <a:p>
            <a:pPr marL="342900" indent="-342900">
              <a:buFont typeface="Arial" panose="020B0604020202020204" pitchFamily="34" charset="0"/>
              <a:buChar char="•"/>
            </a:pPr>
            <a:r>
              <a:rPr lang="fr-FR" sz="2400" dirty="0"/>
              <a:t>Puisque l’élagage se base sur les valeurs déjà retournées par les premiers parcours, il est évident que l’ordre d’examen des branches influe sur son efficacité.</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On pourra développer dans un premier temps les branches que l’on pense les plus “favorables“ afin d’élaguer les autres par la suite.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Pour des niveaux de profondeur assez grands, le gain apporté par cette méthode peut être conséquent. </a:t>
            </a:r>
          </a:p>
        </p:txBody>
      </p:sp>
    </p:spTree>
    <p:extLst>
      <p:ext uri="{BB962C8B-B14F-4D97-AF65-F5344CB8AC3E}">
        <p14:creationId xmlns:p14="http://schemas.microsoft.com/office/powerpoint/2010/main" val="35273834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B049-1482-0AB6-487A-627628B369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7EEFC50-CEE5-1B7B-96BE-6C31F33B7A04}"/>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DC0528ED-3986-481F-1712-8A4F6CBB97D3}"/>
              </a:ext>
            </a:extLst>
          </p:cNvPr>
          <p:cNvSpPr txBox="1"/>
          <p:nvPr/>
        </p:nvSpPr>
        <p:spPr>
          <a:xfrm>
            <a:off x="844826" y="1431230"/>
            <a:ext cx="10525539" cy="461665"/>
          </a:xfrm>
          <a:prstGeom prst="rect">
            <a:avLst/>
          </a:prstGeom>
          <a:noFill/>
        </p:spPr>
        <p:txBody>
          <a:bodyPr wrap="square" rtlCol="0">
            <a:spAutoFit/>
          </a:bodyPr>
          <a:lstStyle/>
          <a:p>
            <a:r>
              <a:rPr lang="fr-FR" sz="2400" b="1" dirty="0"/>
              <a:t>Élagage alpha / bêta (suite)</a:t>
            </a:r>
          </a:p>
        </p:txBody>
      </p:sp>
      <p:pic>
        <p:nvPicPr>
          <p:cNvPr id="5" name="Image 4" descr="Une image contenant ligne, diagramme, conception&#10;&#10;Le contenu généré par l’IA peut être incorrect.">
            <a:extLst>
              <a:ext uri="{FF2B5EF4-FFF2-40B4-BE49-F238E27FC236}">
                <a16:creationId xmlns:a16="http://schemas.microsoft.com/office/drawing/2014/main" id="{B74505EE-B125-0EAA-DFA4-87E1D8A738AC}"/>
              </a:ext>
            </a:extLst>
          </p:cNvPr>
          <p:cNvPicPr>
            <a:picLocks noChangeAspect="1"/>
          </p:cNvPicPr>
          <p:nvPr/>
        </p:nvPicPr>
        <p:blipFill>
          <a:blip r:embed="rId2"/>
          <a:stretch>
            <a:fillRect/>
          </a:stretch>
        </p:blipFill>
        <p:spPr>
          <a:xfrm>
            <a:off x="1069200" y="1969200"/>
            <a:ext cx="10080000" cy="4888800"/>
          </a:xfrm>
          <a:prstGeom prst="rect">
            <a:avLst/>
          </a:prstGeom>
        </p:spPr>
      </p:pic>
      <p:pic>
        <p:nvPicPr>
          <p:cNvPr id="6" name="Graphique 5" descr="Fermer avec un remplissage uni">
            <a:extLst>
              <a:ext uri="{FF2B5EF4-FFF2-40B4-BE49-F238E27FC236}">
                <a16:creationId xmlns:a16="http://schemas.microsoft.com/office/drawing/2014/main" id="{EB861044-4566-3378-A9E3-65ED874CA3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56105" y="5720904"/>
            <a:ext cx="360000" cy="360000"/>
          </a:xfrm>
          <a:prstGeom prst="rect">
            <a:avLst/>
          </a:prstGeom>
        </p:spPr>
      </p:pic>
      <p:pic>
        <p:nvPicPr>
          <p:cNvPr id="7" name="Graphique 6" descr="Fermer avec un remplissage uni">
            <a:extLst>
              <a:ext uri="{FF2B5EF4-FFF2-40B4-BE49-F238E27FC236}">
                <a16:creationId xmlns:a16="http://schemas.microsoft.com/office/drawing/2014/main" id="{913CAB46-904C-F622-4484-843C24E38C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0684" y="4727481"/>
            <a:ext cx="360000" cy="360000"/>
          </a:xfrm>
          <a:prstGeom prst="rect">
            <a:avLst/>
          </a:prstGeom>
        </p:spPr>
      </p:pic>
      <p:pic>
        <p:nvPicPr>
          <p:cNvPr id="8" name="Graphique 7" descr="Fermer avec un remplissage uni">
            <a:extLst>
              <a:ext uri="{FF2B5EF4-FFF2-40B4-BE49-F238E27FC236}">
                <a16:creationId xmlns:a16="http://schemas.microsoft.com/office/drawing/2014/main" id="{94F6EC3F-96FA-FC64-09AF-4C51DF55A0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95661" y="3711482"/>
            <a:ext cx="360000" cy="360000"/>
          </a:xfrm>
          <a:prstGeom prst="rect">
            <a:avLst/>
          </a:prstGeom>
        </p:spPr>
      </p:pic>
    </p:spTree>
    <p:extLst>
      <p:ext uri="{BB962C8B-B14F-4D97-AF65-F5344CB8AC3E}">
        <p14:creationId xmlns:p14="http://schemas.microsoft.com/office/powerpoint/2010/main" val="37063573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128AA-0769-DF3F-0439-76769D48D5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4FCFC6D-95F3-8CBF-73DF-8F1260DBA0F3}"/>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5B43A58B-ECFF-48CF-6B48-A7D1865BA2A3}"/>
                  </a:ext>
                </a:extLst>
              </p:cNvPr>
              <p:cNvSpPr txBox="1"/>
              <p:nvPr/>
            </p:nvSpPr>
            <p:spPr>
              <a:xfrm>
                <a:off x="844826" y="1431230"/>
                <a:ext cx="10525539" cy="4524315"/>
              </a:xfrm>
              <a:prstGeom prst="rect">
                <a:avLst/>
              </a:prstGeom>
              <a:noFill/>
            </p:spPr>
            <p:txBody>
              <a:bodyPr wrap="square" rtlCol="0">
                <a:spAutoFit/>
              </a:bodyPr>
              <a:lstStyle/>
              <a:p>
                <a:r>
                  <a:rPr lang="fr-FR" sz="2400" b="1" dirty="0"/>
                  <a:t>Élagage alpha / bêta : pseudo-code</a:t>
                </a:r>
              </a:p>
              <a:p>
                <a:endParaRPr lang="fr-FR" sz="2400" dirty="0"/>
              </a:p>
              <a:p>
                <a:pPr marL="342900" indent="-342900">
                  <a:buFont typeface="Arial" panose="020B0604020202020204" pitchFamily="34" charset="0"/>
                  <a:buChar char="•"/>
                </a:pPr>
                <a:r>
                  <a:rPr lang="fr-FR" sz="2400" dirty="0"/>
                  <a:t>Pour implémenter cet élagage, on va rajouter deux paramètres </a:t>
                </a:r>
                <a14:m>
                  <m:oMath xmlns:m="http://schemas.openxmlformats.org/officeDocument/2006/math">
                    <m:r>
                      <a:rPr lang="fr-FR" sz="2400" b="0" i="1" smtClean="0">
                        <a:latin typeface="Cambria Math" panose="02040503050406030204" pitchFamily="18" charset="0"/>
                      </a:rPr>
                      <m:t>𝑎𝑙𝑝h𝑎</m:t>
                    </m:r>
                  </m:oMath>
                </a14:m>
                <a:r>
                  <a:rPr lang="fr-FR" sz="2400" dirty="0"/>
                  <a:t> et </a:t>
                </a:r>
                <a14:m>
                  <m:oMath xmlns:m="http://schemas.openxmlformats.org/officeDocument/2006/math">
                    <m:r>
                      <a:rPr lang="fr-FR" sz="2400" b="0" i="1" smtClean="0">
                        <a:latin typeface="Cambria Math" panose="02040503050406030204" pitchFamily="18" charset="0"/>
                      </a:rPr>
                      <m:t>𝑏</m:t>
                    </m:r>
                    <m:r>
                      <a:rPr lang="fr-FR" sz="2400" i="1">
                        <a:latin typeface="Cambria Math" panose="02040503050406030204" pitchFamily="18" charset="0"/>
                      </a:rPr>
                      <m:t>ê</m:t>
                    </m:r>
                    <m:r>
                      <a:rPr lang="fr-FR" sz="2400" b="0" i="1" smtClean="0">
                        <a:latin typeface="Cambria Math" panose="02040503050406030204" pitchFamily="18" charset="0"/>
                      </a:rPr>
                      <m:t>𝑡𝑎</m:t>
                    </m:r>
                  </m:oMath>
                </a14:m>
                <a:r>
                  <a:rPr lang="fr-FR" sz="2400" dirty="0"/>
                  <a:t> à la fonction </a:t>
                </a:r>
                <a14:m>
                  <m:oMath xmlns:m="http://schemas.openxmlformats.org/officeDocument/2006/math">
                    <m:r>
                      <m:rPr>
                        <m:nor/>
                      </m:rPr>
                      <a:rPr lang="fr-FR" sz="2400" b="0" i="0" smtClean="0">
                        <a:latin typeface="Cambria Math" panose="02040503050406030204" pitchFamily="18" charset="0"/>
                      </a:rPr>
                      <m:t>minMax</m:t>
                    </m:r>
                  </m:oMath>
                </a14:m>
                <a:r>
                  <a:rPr lang="fr-FR" sz="2400" dirty="0"/>
                  <a: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Ces paramètres seront mis à jour continuellement lors des appels récursifs.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 paramètre </a:t>
                </a:r>
                <a14:m>
                  <m:oMath xmlns:m="http://schemas.openxmlformats.org/officeDocument/2006/math">
                    <m:r>
                      <a:rPr lang="fr-FR" sz="2400" b="0" i="1" smtClean="0">
                        <a:latin typeface="Cambria Math" panose="02040503050406030204" pitchFamily="18" charset="0"/>
                      </a:rPr>
                      <m:t>𝑎𝑙𝑝h𝑎</m:t>
                    </m:r>
                  </m:oMath>
                </a14:m>
                <a:r>
                  <a:rPr lang="fr-FR" sz="2400" dirty="0"/>
                  <a:t> va être la meilleure valeur (la plus grande) calculée jusqu’à présent sur les sommets “maximum“.</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 paramètre </a:t>
                </a:r>
                <a14:m>
                  <m:oMath xmlns:m="http://schemas.openxmlformats.org/officeDocument/2006/math">
                    <m:r>
                      <a:rPr lang="fr-FR" sz="2400" b="0" i="1" smtClean="0">
                        <a:latin typeface="Cambria Math" panose="02040503050406030204" pitchFamily="18" charset="0"/>
                      </a:rPr>
                      <m:t>𝑏</m:t>
                    </m:r>
                    <m:r>
                      <a:rPr lang="fr-FR" sz="2400" i="1">
                        <a:latin typeface="Cambria Math" panose="02040503050406030204" pitchFamily="18" charset="0"/>
                      </a:rPr>
                      <m:t>ê</m:t>
                    </m:r>
                    <m:r>
                      <a:rPr lang="fr-FR" sz="2400" b="0" i="1" smtClean="0">
                        <a:latin typeface="Cambria Math" panose="02040503050406030204" pitchFamily="18" charset="0"/>
                      </a:rPr>
                      <m:t>𝑡𝑎</m:t>
                    </m:r>
                  </m:oMath>
                </a14:m>
                <a:r>
                  <a:rPr lang="fr-FR" sz="2400" dirty="0"/>
                  <a:t> va être la meilleure valeur (la plus petite) calculée jusqu’à présent sur les sommets “minimum“.</a:t>
                </a:r>
              </a:p>
            </p:txBody>
          </p:sp>
        </mc:Choice>
        <mc:Fallback xmlns="">
          <p:sp>
            <p:nvSpPr>
              <p:cNvPr id="3" name="ZoneTexte 2">
                <a:extLst>
                  <a:ext uri="{FF2B5EF4-FFF2-40B4-BE49-F238E27FC236}">
                    <a16:creationId xmlns:a16="http://schemas.microsoft.com/office/drawing/2014/main" id="{5B43A58B-ECFF-48CF-6B48-A7D1865BA2A3}"/>
                  </a:ext>
                </a:extLst>
              </p:cNvPr>
              <p:cNvSpPr txBox="1">
                <a:spLocks noRot="1" noChangeAspect="1" noMove="1" noResize="1" noEditPoints="1" noAdjustHandles="1" noChangeArrowheads="1" noChangeShapeType="1" noTextEdit="1"/>
              </p:cNvSpPr>
              <p:nvPr/>
            </p:nvSpPr>
            <p:spPr>
              <a:xfrm>
                <a:off x="844826" y="1431230"/>
                <a:ext cx="10525539" cy="4524315"/>
              </a:xfrm>
              <a:prstGeom prst="rect">
                <a:avLst/>
              </a:prstGeom>
              <a:blipFill>
                <a:blip r:embed="rId2"/>
                <a:stretch>
                  <a:fillRect l="-843" t="-1120" b="-2241"/>
                </a:stretch>
              </a:blipFill>
            </p:spPr>
            <p:txBody>
              <a:bodyPr/>
              <a:lstStyle/>
              <a:p>
                <a:r>
                  <a:rPr lang="fr-FR">
                    <a:noFill/>
                  </a:rPr>
                  <a:t> </a:t>
                </a:r>
              </a:p>
            </p:txBody>
          </p:sp>
        </mc:Fallback>
      </mc:AlternateContent>
    </p:spTree>
    <p:extLst>
      <p:ext uri="{BB962C8B-B14F-4D97-AF65-F5344CB8AC3E}">
        <p14:creationId xmlns:p14="http://schemas.microsoft.com/office/powerpoint/2010/main" val="40628110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AB099-608A-6E66-E50F-3B6F8FDB304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3ECA1B6-1F40-D85C-C08E-F5FB2C9FFF9E}"/>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E44FAEC-82C1-749F-8E1E-FE809B69AC4B}"/>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 exemple de calcul des paramètres </a:t>
                </a:r>
                <a14:m>
                  <m:oMath xmlns:m="http://schemas.openxmlformats.org/officeDocument/2006/math">
                    <m:r>
                      <a:rPr lang="fr-FR" sz="2400" b="1" i="1" smtClean="0">
                        <a:latin typeface="Cambria Math" panose="02040503050406030204" pitchFamily="18" charset="0"/>
                      </a:rPr>
                      <m:t>𝜶</m:t>
                    </m:r>
                  </m:oMath>
                </a14:m>
                <a:r>
                  <a:rPr lang="fr-FR" sz="2400" dirty="0"/>
                  <a:t> </a:t>
                </a:r>
                <a:r>
                  <a:rPr lang="fr-FR" sz="2400" b="1" dirty="0"/>
                  <a:t>et </a:t>
                </a:r>
                <a14:m>
                  <m:oMath xmlns:m="http://schemas.openxmlformats.org/officeDocument/2006/math">
                    <m:r>
                      <a:rPr lang="fr-FR" sz="2400" b="1" i="1" smtClean="0">
                        <a:latin typeface="Cambria Math" panose="02040503050406030204" pitchFamily="18" charset="0"/>
                      </a:rPr>
                      <m:t>𝜷</m:t>
                    </m:r>
                  </m:oMath>
                </a14:m>
                <a:endParaRPr lang="fr-FR" sz="2400" dirty="0"/>
              </a:p>
              <a:p>
                <a:endParaRPr lang="fr-FR" sz="2400" dirty="0"/>
              </a:p>
              <a:p>
                <a:pPr marL="342900" indent="-342900">
                  <a:buFont typeface="Arial" panose="020B0604020202020204" pitchFamily="34" charset="0"/>
                  <a:buChar char="•"/>
                </a:pPr>
                <a:r>
                  <a:rPr lang="fr-FR" sz="2400" dirty="0"/>
                  <a:t>En rouge le sommet traité lors de l’appel récursif courant :</a:t>
                </a:r>
              </a:p>
            </p:txBody>
          </p:sp>
        </mc:Choice>
        <mc:Fallback xmlns="">
          <p:sp>
            <p:nvSpPr>
              <p:cNvPr id="3" name="ZoneTexte 2">
                <a:extLst>
                  <a:ext uri="{FF2B5EF4-FFF2-40B4-BE49-F238E27FC236}">
                    <a16:creationId xmlns:a16="http://schemas.microsoft.com/office/drawing/2014/main" id="{DE44FAEC-82C1-749F-8E1E-FE809B69AC4B}"/>
                  </a:ext>
                </a:extLst>
              </p:cNvPr>
              <p:cNvSpPr txBox="1">
                <a:spLocks noRot="1" noChangeAspect="1" noMove="1" noResize="1" noEditPoints="1" noAdjustHandles="1" noChangeArrowheads="1" noChangeShapeType="1" noTextEdit="1"/>
              </p:cNvSpPr>
              <p:nvPr/>
            </p:nvSpPr>
            <p:spPr>
              <a:xfrm>
                <a:off x="844826" y="1431230"/>
                <a:ext cx="10525539" cy="1200329"/>
              </a:xfrm>
              <a:prstGeom prst="rect">
                <a:avLst/>
              </a:prstGeom>
              <a:blipFill>
                <a:blip r:embed="rId2"/>
                <a:stretch>
                  <a:fillRect l="-843" t="-3125" b="-9375"/>
                </a:stretch>
              </a:blipFill>
            </p:spPr>
            <p:txBody>
              <a:bodyPr/>
              <a:lstStyle/>
              <a:p>
                <a:r>
                  <a:rPr lang="fr-FR">
                    <a:noFill/>
                  </a:rPr>
                  <a:t> </a:t>
                </a:r>
              </a:p>
            </p:txBody>
          </p:sp>
        </mc:Fallback>
      </mc:AlternateContent>
      <p:pic>
        <p:nvPicPr>
          <p:cNvPr id="5" name="Image 4" descr="Une image contenant ligne, diagramme, conception&#10;&#10;Le contenu généré par l’IA peut être incorrect.">
            <a:extLst>
              <a:ext uri="{FF2B5EF4-FFF2-40B4-BE49-F238E27FC236}">
                <a16:creationId xmlns:a16="http://schemas.microsoft.com/office/drawing/2014/main" id="{7D7D6E43-B98C-D934-11FB-9064482E1AD7}"/>
              </a:ext>
            </a:extLst>
          </p:cNvPr>
          <p:cNvPicPr>
            <a:picLocks noChangeAspect="1"/>
          </p:cNvPicPr>
          <p:nvPr/>
        </p:nvPicPr>
        <p:blipFill>
          <a:blip r:embed="rId3"/>
          <a:stretch>
            <a:fillRect/>
          </a:stretch>
        </p:blipFill>
        <p:spPr>
          <a:xfrm>
            <a:off x="2209800" y="3240000"/>
            <a:ext cx="7772400" cy="3116732"/>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0365291E-7CCB-052C-1159-6C891E19FCD4}"/>
                  </a:ext>
                </a:extLst>
              </p:cNvPr>
              <p:cNvSpPr txBox="1"/>
              <p:nvPr/>
            </p:nvSpPr>
            <p:spPr>
              <a:xfrm>
                <a:off x="5534377" y="2734805"/>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6" name="ZoneTexte 5">
                <a:extLst>
                  <a:ext uri="{FF2B5EF4-FFF2-40B4-BE49-F238E27FC236}">
                    <a16:creationId xmlns:a16="http://schemas.microsoft.com/office/drawing/2014/main" id="{0365291E-7CCB-052C-1159-6C891E19FCD4}"/>
                  </a:ext>
                </a:extLst>
              </p:cNvPr>
              <p:cNvSpPr txBox="1">
                <a:spLocks noRot="1" noChangeAspect="1" noMove="1" noResize="1" noEditPoints="1" noAdjustHandles="1" noChangeArrowheads="1" noChangeShapeType="1" noTextEdit="1"/>
              </p:cNvSpPr>
              <p:nvPr/>
            </p:nvSpPr>
            <p:spPr>
              <a:xfrm>
                <a:off x="5534377" y="2734805"/>
                <a:ext cx="1123245" cy="584775"/>
              </a:xfrm>
              <a:prstGeom prst="rect">
                <a:avLst/>
              </a:prstGeom>
              <a:blipFill>
                <a:blip r:embed="rId4"/>
                <a:stretch>
                  <a:fillRect b="-4255"/>
                </a:stretch>
              </a:blipFill>
            </p:spPr>
            <p:txBody>
              <a:bodyPr/>
              <a:lstStyle/>
              <a:p>
                <a:r>
                  <a:rPr lang="fr-FR">
                    <a:noFill/>
                  </a:rPr>
                  <a:t> </a:t>
                </a:r>
              </a:p>
            </p:txBody>
          </p:sp>
        </mc:Fallback>
      </mc:AlternateContent>
    </p:spTree>
    <p:extLst>
      <p:ext uri="{BB962C8B-B14F-4D97-AF65-F5344CB8AC3E}">
        <p14:creationId xmlns:p14="http://schemas.microsoft.com/office/powerpoint/2010/main" val="24470504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1786A-C346-8452-2346-5827FEBDB45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FFAD8E-48E9-808A-E18F-4325E6CE53E4}"/>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6E37FA05-3B32-51ED-E263-33642ECFF761}"/>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 exemple de calcul des paramètres </a:t>
                </a:r>
                <a14:m>
                  <m:oMath xmlns:m="http://schemas.openxmlformats.org/officeDocument/2006/math">
                    <m:r>
                      <a:rPr lang="fr-FR" sz="2400" b="1" i="1">
                        <a:latin typeface="Cambria Math" panose="02040503050406030204" pitchFamily="18" charset="0"/>
                      </a:rPr>
                      <m:t>𝜶</m:t>
                    </m:r>
                  </m:oMath>
                </a14:m>
                <a:r>
                  <a:rPr lang="fr-FR" sz="2400" dirty="0"/>
                  <a:t> </a:t>
                </a:r>
                <a:r>
                  <a:rPr lang="fr-FR" sz="2400" b="1" dirty="0"/>
                  <a:t>et </a:t>
                </a:r>
                <a14:m>
                  <m:oMath xmlns:m="http://schemas.openxmlformats.org/officeDocument/2006/math">
                    <m:r>
                      <a:rPr lang="fr-FR" sz="2400" b="1" i="1">
                        <a:latin typeface="Cambria Math" panose="02040503050406030204" pitchFamily="18" charset="0"/>
                      </a:rPr>
                      <m:t>𝜷</m:t>
                    </m:r>
                  </m:oMath>
                </a14:m>
                <a:r>
                  <a:rPr lang="fr-FR" sz="2400" dirty="0"/>
                  <a:t> </a:t>
                </a:r>
                <a:r>
                  <a:rPr lang="fr-FR" sz="2400" b="1" dirty="0"/>
                  <a:t>(suite)</a:t>
                </a:r>
              </a:p>
              <a:p>
                <a:endParaRPr lang="fr-FR" sz="2400" dirty="0"/>
              </a:p>
              <a:p>
                <a:pPr marL="342900" indent="-342900">
                  <a:buFont typeface="Arial" panose="020B0604020202020204" pitchFamily="34" charset="0"/>
                  <a:buChar char="•"/>
                </a:pPr>
                <a:r>
                  <a:rPr lang="fr-FR" sz="2400" dirty="0"/>
                  <a:t>En rouge le sommet traité lors de l’appel récursif courant :</a:t>
                </a:r>
              </a:p>
            </p:txBody>
          </p:sp>
        </mc:Choice>
        <mc:Fallback xmlns="">
          <p:sp>
            <p:nvSpPr>
              <p:cNvPr id="3" name="ZoneTexte 2">
                <a:extLst>
                  <a:ext uri="{FF2B5EF4-FFF2-40B4-BE49-F238E27FC236}">
                    <a16:creationId xmlns:a16="http://schemas.microsoft.com/office/drawing/2014/main" id="{6E37FA05-3B32-51ED-E263-33642ECFF761}"/>
                  </a:ext>
                </a:extLst>
              </p:cNvPr>
              <p:cNvSpPr txBox="1">
                <a:spLocks noRot="1" noChangeAspect="1" noMove="1" noResize="1" noEditPoints="1" noAdjustHandles="1" noChangeArrowheads="1" noChangeShapeType="1" noTextEdit="1"/>
              </p:cNvSpPr>
              <p:nvPr/>
            </p:nvSpPr>
            <p:spPr>
              <a:xfrm>
                <a:off x="844826" y="1431230"/>
                <a:ext cx="10525539" cy="1200329"/>
              </a:xfrm>
              <a:prstGeom prst="rect">
                <a:avLst/>
              </a:prstGeom>
              <a:blipFill>
                <a:blip r:embed="rId2"/>
                <a:stretch>
                  <a:fillRect l="-843" t="-3125" b="-9375"/>
                </a:stretch>
              </a:blipFill>
            </p:spPr>
            <p:txBody>
              <a:bodyPr/>
              <a:lstStyle/>
              <a:p>
                <a:r>
                  <a:rPr lang="fr-FR">
                    <a:noFill/>
                  </a:rPr>
                  <a:t> </a:t>
                </a:r>
              </a:p>
            </p:txBody>
          </p:sp>
        </mc:Fallback>
      </mc:AlternateContent>
      <p:pic>
        <p:nvPicPr>
          <p:cNvPr id="5" name="Image 4" descr="Une image contenant ligne, diagramme, conception&#10;&#10;Le contenu généré par l’IA peut être incorrect.">
            <a:extLst>
              <a:ext uri="{FF2B5EF4-FFF2-40B4-BE49-F238E27FC236}">
                <a16:creationId xmlns:a16="http://schemas.microsoft.com/office/drawing/2014/main" id="{9519F28C-DAFB-3BD8-F248-A9CBAB066E91}"/>
              </a:ext>
            </a:extLst>
          </p:cNvPr>
          <p:cNvPicPr>
            <a:picLocks noChangeAspect="1"/>
          </p:cNvPicPr>
          <p:nvPr/>
        </p:nvPicPr>
        <p:blipFill>
          <a:blip r:embed="rId3"/>
          <a:stretch>
            <a:fillRect/>
          </a:stretch>
        </p:blipFill>
        <p:spPr>
          <a:xfrm>
            <a:off x="2210400" y="3240000"/>
            <a:ext cx="7772400" cy="3116732"/>
          </a:xfrm>
          <a:prstGeom prst="rect">
            <a:avLst/>
          </a:prstGeom>
        </p:spPr>
      </p:pic>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CD3BA8AD-7EC1-D2E8-DCE5-7769A1DB9545}"/>
                  </a:ext>
                </a:extLst>
              </p:cNvPr>
              <p:cNvSpPr txBox="1"/>
              <p:nvPr/>
            </p:nvSpPr>
            <p:spPr>
              <a:xfrm>
                <a:off x="5534377" y="2734805"/>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9" name="ZoneTexte 8">
                <a:extLst>
                  <a:ext uri="{FF2B5EF4-FFF2-40B4-BE49-F238E27FC236}">
                    <a16:creationId xmlns:a16="http://schemas.microsoft.com/office/drawing/2014/main" id="{CD3BA8AD-7EC1-D2E8-DCE5-7769A1DB9545}"/>
                  </a:ext>
                </a:extLst>
              </p:cNvPr>
              <p:cNvSpPr txBox="1">
                <a:spLocks noRot="1" noChangeAspect="1" noMove="1" noResize="1" noEditPoints="1" noAdjustHandles="1" noChangeArrowheads="1" noChangeShapeType="1" noTextEdit="1"/>
              </p:cNvSpPr>
              <p:nvPr/>
            </p:nvSpPr>
            <p:spPr>
              <a:xfrm>
                <a:off x="5534377" y="2734805"/>
                <a:ext cx="1123245" cy="584775"/>
              </a:xfrm>
              <a:prstGeom prst="rect">
                <a:avLst/>
              </a:prstGeom>
              <a:blipFill>
                <a:blip r:embed="rId4"/>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0B025A2D-843C-7FC7-EB62-FBAB4B40A17D}"/>
                  </a:ext>
                </a:extLst>
              </p:cNvPr>
              <p:cNvSpPr txBox="1"/>
              <p:nvPr/>
            </p:nvSpPr>
            <p:spPr>
              <a:xfrm>
                <a:off x="1984022"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10" name="ZoneTexte 9">
                <a:extLst>
                  <a:ext uri="{FF2B5EF4-FFF2-40B4-BE49-F238E27FC236}">
                    <a16:creationId xmlns:a16="http://schemas.microsoft.com/office/drawing/2014/main" id="{0B025A2D-843C-7FC7-EB62-FBAB4B40A17D}"/>
                  </a:ext>
                </a:extLst>
              </p:cNvPr>
              <p:cNvSpPr txBox="1">
                <a:spLocks noRot="1" noChangeAspect="1" noMove="1" noResize="1" noEditPoints="1" noAdjustHandles="1" noChangeArrowheads="1" noChangeShapeType="1" noTextEdit="1"/>
              </p:cNvSpPr>
              <p:nvPr/>
            </p:nvSpPr>
            <p:spPr>
              <a:xfrm>
                <a:off x="1984022" y="4388627"/>
                <a:ext cx="1123245" cy="584775"/>
              </a:xfrm>
              <a:prstGeom prst="rect">
                <a:avLst/>
              </a:prstGeom>
              <a:blipFill>
                <a:blip r:embed="rId5"/>
                <a:stretch>
                  <a:fillRect b="-4255"/>
                </a:stretch>
              </a:blipFill>
            </p:spPr>
            <p:txBody>
              <a:bodyPr/>
              <a:lstStyle/>
              <a:p>
                <a:r>
                  <a:rPr lang="fr-FR">
                    <a:noFill/>
                  </a:rPr>
                  <a:t> </a:t>
                </a:r>
              </a:p>
            </p:txBody>
          </p:sp>
        </mc:Fallback>
      </mc:AlternateContent>
    </p:spTree>
    <p:extLst>
      <p:ext uri="{BB962C8B-B14F-4D97-AF65-F5344CB8AC3E}">
        <p14:creationId xmlns:p14="http://schemas.microsoft.com/office/powerpoint/2010/main" val="18376403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02C79-156D-B0D4-9C4F-BC04C5A5CC7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95458AF-1560-4D90-81F5-3F983BA7A478}"/>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CBED3D7C-6A43-F587-81AC-ECA5DE283C0D}"/>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 exemple de calcul des paramètres </a:t>
                </a:r>
                <a14:m>
                  <m:oMath xmlns:m="http://schemas.openxmlformats.org/officeDocument/2006/math">
                    <m:r>
                      <a:rPr lang="fr-FR" sz="2400" b="1" i="1">
                        <a:latin typeface="Cambria Math" panose="02040503050406030204" pitchFamily="18" charset="0"/>
                      </a:rPr>
                      <m:t>𝜶</m:t>
                    </m:r>
                  </m:oMath>
                </a14:m>
                <a:r>
                  <a:rPr lang="fr-FR" sz="2400" dirty="0"/>
                  <a:t> </a:t>
                </a:r>
                <a:r>
                  <a:rPr lang="fr-FR" sz="2400" b="1" dirty="0"/>
                  <a:t>et </a:t>
                </a:r>
                <a14:m>
                  <m:oMath xmlns:m="http://schemas.openxmlformats.org/officeDocument/2006/math">
                    <m:r>
                      <a:rPr lang="fr-FR" sz="2400" b="1" i="1">
                        <a:latin typeface="Cambria Math" panose="02040503050406030204" pitchFamily="18" charset="0"/>
                      </a:rPr>
                      <m:t>𝜷</m:t>
                    </m:r>
                  </m:oMath>
                </a14:m>
                <a:r>
                  <a:rPr lang="fr-FR" sz="2400" dirty="0"/>
                  <a:t> </a:t>
                </a:r>
                <a:r>
                  <a:rPr lang="fr-FR" sz="2400" b="1" dirty="0"/>
                  <a:t>(suite)</a:t>
                </a:r>
              </a:p>
              <a:p>
                <a:endParaRPr lang="fr-FR" sz="2400" dirty="0"/>
              </a:p>
              <a:p>
                <a:pPr marL="342900" indent="-342900">
                  <a:buFont typeface="Arial" panose="020B0604020202020204" pitchFamily="34" charset="0"/>
                  <a:buChar char="•"/>
                </a:pPr>
                <a:r>
                  <a:rPr lang="fr-FR" sz="2400" dirty="0"/>
                  <a:t>En rouge le sommet traité lors de l’appel récursif courant :</a:t>
                </a:r>
              </a:p>
            </p:txBody>
          </p:sp>
        </mc:Choice>
        <mc:Fallback xmlns="">
          <p:sp>
            <p:nvSpPr>
              <p:cNvPr id="3" name="ZoneTexte 2">
                <a:extLst>
                  <a:ext uri="{FF2B5EF4-FFF2-40B4-BE49-F238E27FC236}">
                    <a16:creationId xmlns:a16="http://schemas.microsoft.com/office/drawing/2014/main" id="{CBED3D7C-6A43-F587-81AC-ECA5DE283C0D}"/>
                  </a:ext>
                </a:extLst>
              </p:cNvPr>
              <p:cNvSpPr txBox="1">
                <a:spLocks noRot="1" noChangeAspect="1" noMove="1" noResize="1" noEditPoints="1" noAdjustHandles="1" noChangeArrowheads="1" noChangeShapeType="1" noTextEdit="1"/>
              </p:cNvSpPr>
              <p:nvPr/>
            </p:nvSpPr>
            <p:spPr>
              <a:xfrm>
                <a:off x="844826" y="1431230"/>
                <a:ext cx="10525539" cy="1200329"/>
              </a:xfrm>
              <a:prstGeom prst="rect">
                <a:avLst/>
              </a:prstGeom>
              <a:blipFill>
                <a:blip r:embed="rId2"/>
                <a:stretch>
                  <a:fillRect l="-843" t="-3125" b="-9375"/>
                </a:stretch>
              </a:blipFill>
            </p:spPr>
            <p:txBody>
              <a:bodyPr/>
              <a:lstStyle/>
              <a:p>
                <a:r>
                  <a:rPr lang="fr-FR">
                    <a:noFill/>
                  </a:rPr>
                  <a:t> </a:t>
                </a:r>
              </a:p>
            </p:txBody>
          </p:sp>
        </mc:Fallback>
      </mc:AlternateContent>
      <p:pic>
        <p:nvPicPr>
          <p:cNvPr id="5" name="Image 4" descr="Une image contenant ligne, diagramme, conception&#10;&#10;Le contenu généré par l’IA peut être incorrect.">
            <a:extLst>
              <a:ext uri="{FF2B5EF4-FFF2-40B4-BE49-F238E27FC236}">
                <a16:creationId xmlns:a16="http://schemas.microsoft.com/office/drawing/2014/main" id="{7DFEB0D4-D1FF-FA2E-ED0B-A2D6D89E9CF6}"/>
              </a:ext>
            </a:extLst>
          </p:cNvPr>
          <p:cNvPicPr>
            <a:picLocks noChangeAspect="1"/>
          </p:cNvPicPr>
          <p:nvPr/>
        </p:nvPicPr>
        <p:blipFill>
          <a:blip r:embed="rId3"/>
          <a:stretch>
            <a:fillRect/>
          </a:stretch>
        </p:blipFill>
        <p:spPr>
          <a:xfrm>
            <a:off x="2210400" y="3240000"/>
            <a:ext cx="7772400" cy="3349904"/>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2ABE313E-8C3F-61FC-52BA-D0894E85FBEA}"/>
                  </a:ext>
                </a:extLst>
              </p:cNvPr>
              <p:cNvSpPr txBox="1"/>
              <p:nvPr/>
            </p:nvSpPr>
            <p:spPr>
              <a:xfrm>
                <a:off x="5534377" y="2734805"/>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6" name="ZoneTexte 5">
                <a:extLst>
                  <a:ext uri="{FF2B5EF4-FFF2-40B4-BE49-F238E27FC236}">
                    <a16:creationId xmlns:a16="http://schemas.microsoft.com/office/drawing/2014/main" id="{2ABE313E-8C3F-61FC-52BA-D0894E85FBEA}"/>
                  </a:ext>
                </a:extLst>
              </p:cNvPr>
              <p:cNvSpPr txBox="1">
                <a:spLocks noRot="1" noChangeAspect="1" noMove="1" noResize="1" noEditPoints="1" noAdjustHandles="1" noChangeArrowheads="1" noChangeShapeType="1" noTextEdit="1"/>
              </p:cNvSpPr>
              <p:nvPr/>
            </p:nvSpPr>
            <p:spPr>
              <a:xfrm>
                <a:off x="5534377" y="2734805"/>
                <a:ext cx="1123245" cy="584775"/>
              </a:xfrm>
              <a:prstGeom prst="rect">
                <a:avLst/>
              </a:prstGeom>
              <a:blipFill>
                <a:blip r:embed="rId4"/>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F9E35BCA-E5AD-A149-676D-83AC1B9773A4}"/>
                  </a:ext>
                </a:extLst>
              </p:cNvPr>
              <p:cNvSpPr txBox="1"/>
              <p:nvPr/>
            </p:nvSpPr>
            <p:spPr>
              <a:xfrm>
                <a:off x="1984022"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=5</m:t>
                      </m:r>
                    </m:oMath>
                  </m:oMathPara>
                </a14:m>
                <a:endParaRPr lang="fr-FR" sz="1600" b="0" dirty="0"/>
              </a:p>
            </p:txBody>
          </p:sp>
        </mc:Choice>
        <mc:Fallback xmlns="">
          <p:sp>
            <p:nvSpPr>
              <p:cNvPr id="7" name="ZoneTexte 6">
                <a:extLst>
                  <a:ext uri="{FF2B5EF4-FFF2-40B4-BE49-F238E27FC236}">
                    <a16:creationId xmlns:a16="http://schemas.microsoft.com/office/drawing/2014/main" id="{F9E35BCA-E5AD-A149-676D-83AC1B9773A4}"/>
                  </a:ext>
                </a:extLst>
              </p:cNvPr>
              <p:cNvSpPr txBox="1">
                <a:spLocks noRot="1" noChangeAspect="1" noMove="1" noResize="1" noEditPoints="1" noAdjustHandles="1" noChangeArrowheads="1" noChangeShapeType="1" noTextEdit="1"/>
              </p:cNvSpPr>
              <p:nvPr/>
            </p:nvSpPr>
            <p:spPr>
              <a:xfrm>
                <a:off x="1984022" y="4388627"/>
                <a:ext cx="1123245" cy="584775"/>
              </a:xfrm>
              <a:prstGeom prst="rect">
                <a:avLst/>
              </a:prstGeom>
              <a:blipFill>
                <a:blip r:embed="rId5"/>
                <a:stretch>
                  <a:fillRect b="-4255"/>
                </a:stretch>
              </a:blipFill>
            </p:spPr>
            <p:txBody>
              <a:bodyPr/>
              <a:lstStyle/>
              <a:p>
                <a:r>
                  <a:rPr lang="fr-FR">
                    <a:noFill/>
                  </a:rPr>
                  <a:t> </a:t>
                </a:r>
              </a:p>
            </p:txBody>
          </p:sp>
        </mc:Fallback>
      </mc:AlternateContent>
    </p:spTree>
    <p:extLst>
      <p:ext uri="{BB962C8B-B14F-4D97-AF65-F5344CB8AC3E}">
        <p14:creationId xmlns:p14="http://schemas.microsoft.com/office/powerpoint/2010/main" val="38442881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88E6B-1984-649A-9089-DD235F5B6A8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DC5C4C0-24AE-85D9-BF03-B7F526454B8A}"/>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62C85415-472B-57B2-A285-F03BE80ACC41}"/>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 exemple de calcul des paramètres </a:t>
                </a:r>
                <a14:m>
                  <m:oMath xmlns:m="http://schemas.openxmlformats.org/officeDocument/2006/math">
                    <m:r>
                      <a:rPr lang="fr-FR" sz="2400" b="1" i="1">
                        <a:latin typeface="Cambria Math" panose="02040503050406030204" pitchFamily="18" charset="0"/>
                      </a:rPr>
                      <m:t>𝜶</m:t>
                    </m:r>
                  </m:oMath>
                </a14:m>
                <a:r>
                  <a:rPr lang="fr-FR" sz="2400" dirty="0"/>
                  <a:t> </a:t>
                </a:r>
                <a:r>
                  <a:rPr lang="fr-FR" sz="2400" b="1" dirty="0"/>
                  <a:t>et </a:t>
                </a:r>
                <a14:m>
                  <m:oMath xmlns:m="http://schemas.openxmlformats.org/officeDocument/2006/math">
                    <m:r>
                      <a:rPr lang="fr-FR" sz="2400" b="1" i="1">
                        <a:latin typeface="Cambria Math" panose="02040503050406030204" pitchFamily="18" charset="0"/>
                      </a:rPr>
                      <m:t>𝜷</m:t>
                    </m:r>
                  </m:oMath>
                </a14:m>
                <a:r>
                  <a:rPr lang="fr-FR" sz="2400" dirty="0"/>
                  <a:t> </a:t>
                </a:r>
                <a:r>
                  <a:rPr lang="fr-FR" sz="2400" b="1" dirty="0"/>
                  <a:t>(suite)</a:t>
                </a:r>
              </a:p>
              <a:p>
                <a:endParaRPr lang="fr-FR" sz="2400" dirty="0"/>
              </a:p>
              <a:p>
                <a:pPr marL="342900" indent="-342900">
                  <a:buFont typeface="Arial" panose="020B0604020202020204" pitchFamily="34" charset="0"/>
                  <a:buChar char="•"/>
                </a:pPr>
                <a:r>
                  <a:rPr lang="fr-FR" sz="2400" dirty="0"/>
                  <a:t>En rouge le sommet traité lors de l’appel récursif courant :</a:t>
                </a:r>
              </a:p>
            </p:txBody>
          </p:sp>
        </mc:Choice>
        <mc:Fallback xmlns="">
          <p:sp>
            <p:nvSpPr>
              <p:cNvPr id="3" name="ZoneTexte 2">
                <a:extLst>
                  <a:ext uri="{FF2B5EF4-FFF2-40B4-BE49-F238E27FC236}">
                    <a16:creationId xmlns:a16="http://schemas.microsoft.com/office/drawing/2014/main" id="{62C85415-472B-57B2-A285-F03BE80ACC41}"/>
                  </a:ext>
                </a:extLst>
              </p:cNvPr>
              <p:cNvSpPr txBox="1">
                <a:spLocks noRot="1" noChangeAspect="1" noMove="1" noResize="1" noEditPoints="1" noAdjustHandles="1" noChangeArrowheads="1" noChangeShapeType="1" noTextEdit="1"/>
              </p:cNvSpPr>
              <p:nvPr/>
            </p:nvSpPr>
            <p:spPr>
              <a:xfrm>
                <a:off x="844826" y="1431230"/>
                <a:ext cx="10525539" cy="1200329"/>
              </a:xfrm>
              <a:prstGeom prst="rect">
                <a:avLst/>
              </a:prstGeom>
              <a:blipFill>
                <a:blip r:embed="rId2"/>
                <a:stretch>
                  <a:fillRect l="-843" t="-3125" b="-9375"/>
                </a:stretch>
              </a:blipFill>
            </p:spPr>
            <p:txBody>
              <a:bodyPr/>
              <a:lstStyle/>
              <a:p>
                <a:r>
                  <a:rPr lang="fr-FR">
                    <a:noFill/>
                  </a:rPr>
                  <a:t> </a:t>
                </a:r>
              </a:p>
            </p:txBody>
          </p:sp>
        </mc:Fallback>
      </mc:AlternateContent>
      <p:pic>
        <p:nvPicPr>
          <p:cNvPr id="5" name="Image 4" descr="Une image contenant ligne, diagramme, conception&#10;&#10;Le contenu généré par l’IA peut être incorrect.">
            <a:extLst>
              <a:ext uri="{FF2B5EF4-FFF2-40B4-BE49-F238E27FC236}">
                <a16:creationId xmlns:a16="http://schemas.microsoft.com/office/drawing/2014/main" id="{71282312-96F7-492C-F668-E5F45314A825}"/>
              </a:ext>
            </a:extLst>
          </p:cNvPr>
          <p:cNvPicPr>
            <a:picLocks noChangeAspect="1"/>
          </p:cNvPicPr>
          <p:nvPr/>
        </p:nvPicPr>
        <p:blipFill>
          <a:blip r:embed="rId3"/>
          <a:stretch>
            <a:fillRect/>
          </a:stretch>
        </p:blipFill>
        <p:spPr>
          <a:xfrm>
            <a:off x="2209799" y="3240000"/>
            <a:ext cx="7772400" cy="3349904"/>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8672C706-E98A-1DA5-186E-177447566658}"/>
                  </a:ext>
                </a:extLst>
              </p:cNvPr>
              <p:cNvSpPr txBox="1"/>
              <p:nvPr/>
            </p:nvSpPr>
            <p:spPr>
              <a:xfrm>
                <a:off x="5534377" y="2734805"/>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6" name="ZoneTexte 5">
                <a:extLst>
                  <a:ext uri="{FF2B5EF4-FFF2-40B4-BE49-F238E27FC236}">
                    <a16:creationId xmlns:a16="http://schemas.microsoft.com/office/drawing/2014/main" id="{8672C706-E98A-1DA5-186E-177447566658}"/>
                  </a:ext>
                </a:extLst>
              </p:cNvPr>
              <p:cNvSpPr txBox="1">
                <a:spLocks noRot="1" noChangeAspect="1" noMove="1" noResize="1" noEditPoints="1" noAdjustHandles="1" noChangeArrowheads="1" noChangeShapeType="1" noTextEdit="1"/>
              </p:cNvSpPr>
              <p:nvPr/>
            </p:nvSpPr>
            <p:spPr>
              <a:xfrm>
                <a:off x="5534377" y="2734805"/>
                <a:ext cx="1123245" cy="584775"/>
              </a:xfrm>
              <a:prstGeom prst="rect">
                <a:avLst/>
              </a:prstGeom>
              <a:blipFill>
                <a:blip r:embed="rId4"/>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1B9FD2C3-AAC0-986A-343B-7097AC28C88A}"/>
                  </a:ext>
                </a:extLst>
              </p:cNvPr>
              <p:cNvSpPr txBox="1"/>
              <p:nvPr/>
            </p:nvSpPr>
            <p:spPr>
              <a:xfrm>
                <a:off x="1984022"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=4</m:t>
                      </m:r>
                    </m:oMath>
                  </m:oMathPara>
                </a14:m>
                <a:endParaRPr lang="fr-FR" sz="1600" b="0" dirty="0"/>
              </a:p>
            </p:txBody>
          </p:sp>
        </mc:Choice>
        <mc:Fallback xmlns="">
          <p:sp>
            <p:nvSpPr>
              <p:cNvPr id="7" name="ZoneTexte 6">
                <a:extLst>
                  <a:ext uri="{FF2B5EF4-FFF2-40B4-BE49-F238E27FC236}">
                    <a16:creationId xmlns:a16="http://schemas.microsoft.com/office/drawing/2014/main" id="{1B9FD2C3-AAC0-986A-343B-7097AC28C88A}"/>
                  </a:ext>
                </a:extLst>
              </p:cNvPr>
              <p:cNvSpPr txBox="1">
                <a:spLocks noRot="1" noChangeAspect="1" noMove="1" noResize="1" noEditPoints="1" noAdjustHandles="1" noChangeArrowheads="1" noChangeShapeType="1" noTextEdit="1"/>
              </p:cNvSpPr>
              <p:nvPr/>
            </p:nvSpPr>
            <p:spPr>
              <a:xfrm>
                <a:off x="1984022" y="4388627"/>
                <a:ext cx="1123245" cy="584775"/>
              </a:xfrm>
              <a:prstGeom prst="rect">
                <a:avLst/>
              </a:prstGeom>
              <a:blipFill>
                <a:blip r:embed="rId5"/>
                <a:stretch>
                  <a:fillRect b="-4255"/>
                </a:stretch>
              </a:blipFill>
            </p:spPr>
            <p:txBody>
              <a:bodyPr/>
              <a:lstStyle/>
              <a:p>
                <a:r>
                  <a:rPr lang="fr-FR">
                    <a:noFill/>
                  </a:rPr>
                  <a:t> </a:t>
                </a:r>
              </a:p>
            </p:txBody>
          </p:sp>
        </mc:Fallback>
      </mc:AlternateContent>
    </p:spTree>
    <p:extLst>
      <p:ext uri="{BB962C8B-B14F-4D97-AF65-F5344CB8AC3E}">
        <p14:creationId xmlns:p14="http://schemas.microsoft.com/office/powerpoint/2010/main" val="4564210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C585B-C7E6-6A03-366D-220E92A3DB8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D3FDAF1-00A5-5AAE-2990-A40D59D6B3B3}"/>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56969E98-53F3-EFBB-D067-A877192E9C1D}"/>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 exemple de calcul des paramètres </a:t>
                </a:r>
                <a14:m>
                  <m:oMath xmlns:m="http://schemas.openxmlformats.org/officeDocument/2006/math">
                    <m:r>
                      <a:rPr lang="fr-FR" sz="2400" b="1" i="1">
                        <a:latin typeface="Cambria Math" panose="02040503050406030204" pitchFamily="18" charset="0"/>
                      </a:rPr>
                      <m:t>𝜶</m:t>
                    </m:r>
                  </m:oMath>
                </a14:m>
                <a:r>
                  <a:rPr lang="fr-FR" sz="2400" dirty="0"/>
                  <a:t> </a:t>
                </a:r>
                <a:r>
                  <a:rPr lang="fr-FR" sz="2400" b="1" dirty="0"/>
                  <a:t>et </a:t>
                </a:r>
                <a14:m>
                  <m:oMath xmlns:m="http://schemas.openxmlformats.org/officeDocument/2006/math">
                    <m:r>
                      <a:rPr lang="fr-FR" sz="2400" b="1" i="1">
                        <a:latin typeface="Cambria Math" panose="02040503050406030204" pitchFamily="18" charset="0"/>
                      </a:rPr>
                      <m:t>𝜷</m:t>
                    </m:r>
                  </m:oMath>
                </a14:m>
                <a:r>
                  <a:rPr lang="fr-FR" sz="2400" dirty="0"/>
                  <a:t> </a:t>
                </a:r>
                <a:r>
                  <a:rPr lang="fr-FR" sz="2400" b="1" dirty="0"/>
                  <a:t>(suite)</a:t>
                </a:r>
              </a:p>
              <a:p>
                <a:endParaRPr lang="fr-FR" sz="2400" dirty="0"/>
              </a:p>
              <a:p>
                <a:pPr marL="342900" indent="-342900">
                  <a:buFont typeface="Arial" panose="020B0604020202020204" pitchFamily="34" charset="0"/>
                  <a:buChar char="•"/>
                </a:pPr>
                <a:r>
                  <a:rPr lang="fr-FR" sz="2400" dirty="0"/>
                  <a:t>En rouge le sommet traité lors de l’appel récursif courant :</a:t>
                </a:r>
              </a:p>
            </p:txBody>
          </p:sp>
        </mc:Choice>
        <mc:Fallback xmlns="">
          <p:sp>
            <p:nvSpPr>
              <p:cNvPr id="3" name="ZoneTexte 2">
                <a:extLst>
                  <a:ext uri="{FF2B5EF4-FFF2-40B4-BE49-F238E27FC236}">
                    <a16:creationId xmlns:a16="http://schemas.microsoft.com/office/drawing/2014/main" id="{56969E98-53F3-EFBB-D067-A877192E9C1D}"/>
                  </a:ext>
                </a:extLst>
              </p:cNvPr>
              <p:cNvSpPr txBox="1">
                <a:spLocks noRot="1" noChangeAspect="1" noMove="1" noResize="1" noEditPoints="1" noAdjustHandles="1" noChangeArrowheads="1" noChangeShapeType="1" noTextEdit="1"/>
              </p:cNvSpPr>
              <p:nvPr/>
            </p:nvSpPr>
            <p:spPr>
              <a:xfrm>
                <a:off x="844826" y="1431230"/>
                <a:ext cx="10525539" cy="1200329"/>
              </a:xfrm>
              <a:prstGeom prst="rect">
                <a:avLst/>
              </a:prstGeom>
              <a:blipFill>
                <a:blip r:embed="rId2"/>
                <a:stretch>
                  <a:fillRect l="-843" t="-3125" b="-9375"/>
                </a:stretch>
              </a:blipFill>
            </p:spPr>
            <p:txBody>
              <a:bodyPr/>
              <a:lstStyle/>
              <a:p>
                <a:r>
                  <a:rPr lang="fr-FR">
                    <a:noFill/>
                  </a:rPr>
                  <a:t> </a:t>
                </a:r>
              </a:p>
            </p:txBody>
          </p:sp>
        </mc:Fallback>
      </mc:AlternateContent>
      <p:pic>
        <p:nvPicPr>
          <p:cNvPr id="5" name="Image 4" descr="Une image contenant ligne, diagramme, conception&#10;&#10;Le contenu généré par l’IA peut être incorrect.">
            <a:extLst>
              <a:ext uri="{FF2B5EF4-FFF2-40B4-BE49-F238E27FC236}">
                <a16:creationId xmlns:a16="http://schemas.microsoft.com/office/drawing/2014/main" id="{822E4447-D497-C83A-81C9-9255E79264BB}"/>
              </a:ext>
            </a:extLst>
          </p:cNvPr>
          <p:cNvPicPr>
            <a:picLocks noChangeAspect="1"/>
          </p:cNvPicPr>
          <p:nvPr/>
        </p:nvPicPr>
        <p:blipFill>
          <a:blip r:embed="rId3"/>
          <a:stretch>
            <a:fillRect/>
          </a:stretch>
        </p:blipFill>
        <p:spPr>
          <a:xfrm>
            <a:off x="2210400" y="3240000"/>
            <a:ext cx="7772400" cy="3349904"/>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805CDFCE-E0F3-977E-4005-205C9324BA57}"/>
                  </a:ext>
                </a:extLst>
              </p:cNvPr>
              <p:cNvSpPr txBox="1"/>
              <p:nvPr/>
            </p:nvSpPr>
            <p:spPr>
              <a:xfrm>
                <a:off x="5534377" y="2734805"/>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6" name="ZoneTexte 5">
                <a:extLst>
                  <a:ext uri="{FF2B5EF4-FFF2-40B4-BE49-F238E27FC236}">
                    <a16:creationId xmlns:a16="http://schemas.microsoft.com/office/drawing/2014/main" id="{805CDFCE-E0F3-977E-4005-205C9324BA57}"/>
                  </a:ext>
                </a:extLst>
              </p:cNvPr>
              <p:cNvSpPr txBox="1">
                <a:spLocks noRot="1" noChangeAspect="1" noMove="1" noResize="1" noEditPoints="1" noAdjustHandles="1" noChangeArrowheads="1" noChangeShapeType="1" noTextEdit="1"/>
              </p:cNvSpPr>
              <p:nvPr/>
            </p:nvSpPr>
            <p:spPr>
              <a:xfrm>
                <a:off x="5534377" y="2734805"/>
                <a:ext cx="1123245" cy="584775"/>
              </a:xfrm>
              <a:prstGeom prst="rect">
                <a:avLst/>
              </a:prstGeom>
              <a:blipFill>
                <a:blip r:embed="rId4"/>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97AB9B96-5094-851E-F3D7-AEDFB9779749}"/>
                  </a:ext>
                </a:extLst>
              </p:cNvPr>
              <p:cNvSpPr txBox="1"/>
              <p:nvPr/>
            </p:nvSpPr>
            <p:spPr>
              <a:xfrm>
                <a:off x="1984022"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=4</m:t>
                      </m:r>
                    </m:oMath>
                  </m:oMathPara>
                </a14:m>
                <a:endParaRPr lang="fr-FR" sz="1600" b="0" dirty="0"/>
              </a:p>
            </p:txBody>
          </p:sp>
        </mc:Choice>
        <mc:Fallback xmlns="">
          <p:sp>
            <p:nvSpPr>
              <p:cNvPr id="7" name="ZoneTexte 6">
                <a:extLst>
                  <a:ext uri="{FF2B5EF4-FFF2-40B4-BE49-F238E27FC236}">
                    <a16:creationId xmlns:a16="http://schemas.microsoft.com/office/drawing/2014/main" id="{97AB9B96-5094-851E-F3D7-AEDFB9779749}"/>
                  </a:ext>
                </a:extLst>
              </p:cNvPr>
              <p:cNvSpPr txBox="1">
                <a:spLocks noRot="1" noChangeAspect="1" noMove="1" noResize="1" noEditPoints="1" noAdjustHandles="1" noChangeArrowheads="1" noChangeShapeType="1" noTextEdit="1"/>
              </p:cNvSpPr>
              <p:nvPr/>
            </p:nvSpPr>
            <p:spPr>
              <a:xfrm>
                <a:off x="1984022" y="4388627"/>
                <a:ext cx="1123245" cy="584775"/>
              </a:xfrm>
              <a:prstGeom prst="rect">
                <a:avLst/>
              </a:prstGeom>
              <a:blipFill>
                <a:blip r:embed="rId5"/>
                <a:stretch>
                  <a:fillRect b="-4255"/>
                </a:stretch>
              </a:blipFill>
            </p:spPr>
            <p:txBody>
              <a:bodyPr/>
              <a:lstStyle/>
              <a:p>
                <a:r>
                  <a:rPr lang="fr-FR">
                    <a:noFill/>
                  </a:rPr>
                  <a:t> </a:t>
                </a:r>
              </a:p>
            </p:txBody>
          </p:sp>
        </mc:Fallback>
      </mc:AlternateContent>
    </p:spTree>
    <p:extLst>
      <p:ext uri="{BB962C8B-B14F-4D97-AF65-F5344CB8AC3E}">
        <p14:creationId xmlns:p14="http://schemas.microsoft.com/office/powerpoint/2010/main" val="4807595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5F1E0-6DCA-D645-1E35-6A4871A1FA9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CE2B074-CAB8-8998-244E-1F2978465BDA}"/>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C321AC55-6ED8-FD61-7028-4C9244515164}"/>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 exemple de calcul des paramètres </a:t>
                </a:r>
                <a14:m>
                  <m:oMath xmlns:m="http://schemas.openxmlformats.org/officeDocument/2006/math">
                    <m:r>
                      <a:rPr lang="fr-FR" sz="2400" b="1" i="1">
                        <a:latin typeface="Cambria Math" panose="02040503050406030204" pitchFamily="18" charset="0"/>
                      </a:rPr>
                      <m:t>𝜶</m:t>
                    </m:r>
                  </m:oMath>
                </a14:m>
                <a:r>
                  <a:rPr lang="fr-FR" sz="2400" dirty="0"/>
                  <a:t> </a:t>
                </a:r>
                <a:r>
                  <a:rPr lang="fr-FR" sz="2400" b="1" dirty="0"/>
                  <a:t>et </a:t>
                </a:r>
                <a14:m>
                  <m:oMath xmlns:m="http://schemas.openxmlformats.org/officeDocument/2006/math">
                    <m:r>
                      <a:rPr lang="fr-FR" sz="2400" b="1" i="1">
                        <a:latin typeface="Cambria Math" panose="02040503050406030204" pitchFamily="18" charset="0"/>
                      </a:rPr>
                      <m:t>𝜷</m:t>
                    </m:r>
                  </m:oMath>
                </a14:m>
                <a:r>
                  <a:rPr lang="fr-FR" sz="2400" dirty="0"/>
                  <a:t> </a:t>
                </a:r>
                <a:r>
                  <a:rPr lang="fr-FR" sz="2400" b="1" dirty="0"/>
                  <a:t>(suite)</a:t>
                </a:r>
              </a:p>
              <a:p>
                <a:endParaRPr lang="fr-FR" sz="2400" dirty="0"/>
              </a:p>
              <a:p>
                <a:pPr marL="342900" indent="-342900">
                  <a:buFont typeface="Arial" panose="020B0604020202020204" pitchFamily="34" charset="0"/>
                  <a:buChar char="•"/>
                </a:pPr>
                <a:r>
                  <a:rPr lang="fr-FR" sz="2400" dirty="0"/>
                  <a:t>En rouge le sommet traité lors de l’appel récursif courant :</a:t>
                </a:r>
              </a:p>
            </p:txBody>
          </p:sp>
        </mc:Choice>
        <mc:Fallback xmlns="">
          <p:sp>
            <p:nvSpPr>
              <p:cNvPr id="3" name="ZoneTexte 2">
                <a:extLst>
                  <a:ext uri="{FF2B5EF4-FFF2-40B4-BE49-F238E27FC236}">
                    <a16:creationId xmlns:a16="http://schemas.microsoft.com/office/drawing/2014/main" id="{C321AC55-6ED8-FD61-7028-4C9244515164}"/>
                  </a:ext>
                </a:extLst>
              </p:cNvPr>
              <p:cNvSpPr txBox="1">
                <a:spLocks noRot="1" noChangeAspect="1" noMove="1" noResize="1" noEditPoints="1" noAdjustHandles="1" noChangeArrowheads="1" noChangeShapeType="1" noTextEdit="1"/>
              </p:cNvSpPr>
              <p:nvPr/>
            </p:nvSpPr>
            <p:spPr>
              <a:xfrm>
                <a:off x="844826" y="1431230"/>
                <a:ext cx="10525539" cy="1200329"/>
              </a:xfrm>
              <a:prstGeom prst="rect">
                <a:avLst/>
              </a:prstGeom>
              <a:blipFill>
                <a:blip r:embed="rId2"/>
                <a:stretch>
                  <a:fillRect l="-843" t="-3125" b="-9375"/>
                </a:stretch>
              </a:blipFill>
            </p:spPr>
            <p:txBody>
              <a:bodyPr/>
              <a:lstStyle/>
              <a:p>
                <a:r>
                  <a:rPr lang="fr-FR">
                    <a:noFill/>
                  </a:rPr>
                  <a:t> </a:t>
                </a:r>
              </a:p>
            </p:txBody>
          </p:sp>
        </mc:Fallback>
      </mc:AlternateContent>
      <p:pic>
        <p:nvPicPr>
          <p:cNvPr id="5" name="Image 4" descr="Une image contenant ligne, diagramme, conception&#10;&#10;Le contenu généré par l’IA peut être incorrect.">
            <a:extLst>
              <a:ext uri="{FF2B5EF4-FFF2-40B4-BE49-F238E27FC236}">
                <a16:creationId xmlns:a16="http://schemas.microsoft.com/office/drawing/2014/main" id="{04E075C4-BC4D-9BE4-E37D-8FEFABFD1BFA}"/>
              </a:ext>
            </a:extLst>
          </p:cNvPr>
          <p:cNvPicPr>
            <a:picLocks noChangeAspect="1"/>
          </p:cNvPicPr>
          <p:nvPr/>
        </p:nvPicPr>
        <p:blipFill>
          <a:blip r:embed="rId3"/>
          <a:stretch>
            <a:fillRect/>
          </a:stretch>
        </p:blipFill>
        <p:spPr>
          <a:xfrm>
            <a:off x="2210400" y="3240000"/>
            <a:ext cx="7772400" cy="3349904"/>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06E7480A-C56E-D4D4-85EF-D721CEAEB144}"/>
                  </a:ext>
                </a:extLst>
              </p:cNvPr>
              <p:cNvSpPr txBox="1"/>
              <p:nvPr/>
            </p:nvSpPr>
            <p:spPr>
              <a:xfrm>
                <a:off x="5534377" y="2734805"/>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6" name="ZoneTexte 5">
                <a:extLst>
                  <a:ext uri="{FF2B5EF4-FFF2-40B4-BE49-F238E27FC236}">
                    <a16:creationId xmlns:a16="http://schemas.microsoft.com/office/drawing/2014/main" id="{06E7480A-C56E-D4D4-85EF-D721CEAEB144}"/>
                  </a:ext>
                </a:extLst>
              </p:cNvPr>
              <p:cNvSpPr txBox="1">
                <a:spLocks noRot="1" noChangeAspect="1" noMove="1" noResize="1" noEditPoints="1" noAdjustHandles="1" noChangeArrowheads="1" noChangeShapeType="1" noTextEdit="1"/>
              </p:cNvSpPr>
              <p:nvPr/>
            </p:nvSpPr>
            <p:spPr>
              <a:xfrm>
                <a:off x="5534377" y="2734805"/>
                <a:ext cx="1123245" cy="584775"/>
              </a:xfrm>
              <a:prstGeom prst="rect">
                <a:avLst/>
              </a:prstGeom>
              <a:blipFill>
                <a:blip r:embed="rId4"/>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1F6F3FDA-4861-486B-89BD-74BC2452BD04}"/>
                  </a:ext>
                </a:extLst>
              </p:cNvPr>
              <p:cNvSpPr txBox="1"/>
              <p:nvPr/>
            </p:nvSpPr>
            <p:spPr>
              <a:xfrm>
                <a:off x="1984022"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=4</m:t>
                      </m:r>
                    </m:oMath>
                  </m:oMathPara>
                </a14:m>
                <a:endParaRPr lang="fr-FR" sz="1600" b="0" dirty="0"/>
              </a:p>
            </p:txBody>
          </p:sp>
        </mc:Choice>
        <mc:Fallback xmlns="">
          <p:sp>
            <p:nvSpPr>
              <p:cNvPr id="7" name="ZoneTexte 6">
                <a:extLst>
                  <a:ext uri="{FF2B5EF4-FFF2-40B4-BE49-F238E27FC236}">
                    <a16:creationId xmlns:a16="http://schemas.microsoft.com/office/drawing/2014/main" id="{1F6F3FDA-4861-486B-89BD-74BC2452BD04}"/>
                  </a:ext>
                </a:extLst>
              </p:cNvPr>
              <p:cNvSpPr txBox="1">
                <a:spLocks noRot="1" noChangeAspect="1" noMove="1" noResize="1" noEditPoints="1" noAdjustHandles="1" noChangeArrowheads="1" noChangeShapeType="1" noTextEdit="1"/>
              </p:cNvSpPr>
              <p:nvPr/>
            </p:nvSpPr>
            <p:spPr>
              <a:xfrm>
                <a:off x="1984022" y="4388627"/>
                <a:ext cx="1123245" cy="584775"/>
              </a:xfrm>
              <a:prstGeom prst="rect">
                <a:avLst/>
              </a:prstGeom>
              <a:blipFill>
                <a:blip r:embed="rId5"/>
                <a:stretch>
                  <a:fillRect b="-4255"/>
                </a:stretch>
              </a:blipFill>
            </p:spPr>
            <p:txBody>
              <a:bodyPr/>
              <a:lstStyle/>
              <a:p>
                <a:r>
                  <a:rPr lang="fr-FR">
                    <a:noFill/>
                  </a:rPr>
                  <a:t> </a:t>
                </a:r>
              </a:p>
            </p:txBody>
          </p:sp>
        </mc:Fallback>
      </mc:AlternateContent>
    </p:spTree>
    <p:extLst>
      <p:ext uri="{BB962C8B-B14F-4D97-AF65-F5344CB8AC3E}">
        <p14:creationId xmlns:p14="http://schemas.microsoft.com/office/powerpoint/2010/main" val="18737172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7C7F8-227F-6C69-3DDF-20A41A62DF3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3B618BC-40DB-D8EE-984D-8F186B0C00A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54219851-1814-B20A-58A6-EA3F943445E4}"/>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 exemple de calcul des paramètres </a:t>
                </a:r>
                <a14:m>
                  <m:oMath xmlns:m="http://schemas.openxmlformats.org/officeDocument/2006/math">
                    <m:r>
                      <a:rPr lang="fr-FR" sz="2400" b="1" i="1">
                        <a:latin typeface="Cambria Math" panose="02040503050406030204" pitchFamily="18" charset="0"/>
                      </a:rPr>
                      <m:t>𝜶</m:t>
                    </m:r>
                  </m:oMath>
                </a14:m>
                <a:r>
                  <a:rPr lang="fr-FR" sz="2400" dirty="0"/>
                  <a:t> </a:t>
                </a:r>
                <a:r>
                  <a:rPr lang="fr-FR" sz="2400" b="1" dirty="0"/>
                  <a:t>et </a:t>
                </a:r>
                <a14:m>
                  <m:oMath xmlns:m="http://schemas.openxmlformats.org/officeDocument/2006/math">
                    <m:r>
                      <a:rPr lang="fr-FR" sz="2400" b="1" i="1">
                        <a:latin typeface="Cambria Math" panose="02040503050406030204" pitchFamily="18" charset="0"/>
                      </a:rPr>
                      <m:t>𝜷</m:t>
                    </m:r>
                  </m:oMath>
                </a14:m>
                <a:r>
                  <a:rPr lang="fr-FR" sz="2400" dirty="0"/>
                  <a:t> </a:t>
                </a:r>
                <a:r>
                  <a:rPr lang="fr-FR" sz="2400" b="1" dirty="0"/>
                  <a:t>(suite)</a:t>
                </a:r>
              </a:p>
              <a:p>
                <a:endParaRPr lang="fr-FR" sz="2400" dirty="0"/>
              </a:p>
              <a:p>
                <a:pPr marL="342900" indent="-342900">
                  <a:buFont typeface="Arial" panose="020B0604020202020204" pitchFamily="34" charset="0"/>
                  <a:buChar char="•"/>
                </a:pPr>
                <a:r>
                  <a:rPr lang="fr-FR" sz="2400" dirty="0"/>
                  <a:t>En rouge le sommet traité lors de l’appel récursif courant :</a:t>
                </a:r>
              </a:p>
            </p:txBody>
          </p:sp>
        </mc:Choice>
        <mc:Fallback xmlns="">
          <p:sp>
            <p:nvSpPr>
              <p:cNvPr id="3" name="ZoneTexte 2">
                <a:extLst>
                  <a:ext uri="{FF2B5EF4-FFF2-40B4-BE49-F238E27FC236}">
                    <a16:creationId xmlns:a16="http://schemas.microsoft.com/office/drawing/2014/main" id="{54219851-1814-B20A-58A6-EA3F943445E4}"/>
                  </a:ext>
                </a:extLst>
              </p:cNvPr>
              <p:cNvSpPr txBox="1">
                <a:spLocks noRot="1" noChangeAspect="1" noMove="1" noResize="1" noEditPoints="1" noAdjustHandles="1" noChangeArrowheads="1" noChangeShapeType="1" noTextEdit="1"/>
              </p:cNvSpPr>
              <p:nvPr/>
            </p:nvSpPr>
            <p:spPr>
              <a:xfrm>
                <a:off x="844826" y="1431230"/>
                <a:ext cx="10525539" cy="1200329"/>
              </a:xfrm>
              <a:prstGeom prst="rect">
                <a:avLst/>
              </a:prstGeom>
              <a:blipFill>
                <a:blip r:embed="rId2"/>
                <a:stretch>
                  <a:fillRect l="-843" t="-3125" b="-9375"/>
                </a:stretch>
              </a:blipFill>
            </p:spPr>
            <p:txBody>
              <a:bodyPr/>
              <a:lstStyle/>
              <a:p>
                <a:r>
                  <a:rPr lang="fr-FR">
                    <a:noFill/>
                  </a:rPr>
                  <a:t> </a:t>
                </a:r>
              </a:p>
            </p:txBody>
          </p:sp>
        </mc:Fallback>
      </mc:AlternateContent>
      <p:pic>
        <p:nvPicPr>
          <p:cNvPr id="5" name="Image 4" descr="Une image contenant ligne, diagramme, conception&#10;&#10;Le contenu généré par l’IA peut être incorrect.">
            <a:extLst>
              <a:ext uri="{FF2B5EF4-FFF2-40B4-BE49-F238E27FC236}">
                <a16:creationId xmlns:a16="http://schemas.microsoft.com/office/drawing/2014/main" id="{BE5B74C0-9C25-E9B3-C78E-2C557DBD0AC1}"/>
              </a:ext>
            </a:extLst>
          </p:cNvPr>
          <p:cNvPicPr>
            <a:picLocks noChangeAspect="1"/>
          </p:cNvPicPr>
          <p:nvPr/>
        </p:nvPicPr>
        <p:blipFill>
          <a:blip r:embed="rId3"/>
          <a:stretch>
            <a:fillRect/>
          </a:stretch>
        </p:blipFill>
        <p:spPr>
          <a:xfrm>
            <a:off x="2210400" y="3240000"/>
            <a:ext cx="7772400" cy="3349904"/>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E5BE4F05-CEB6-6E51-4DF8-6BCB7E95B2F5}"/>
                  </a:ext>
                </a:extLst>
              </p:cNvPr>
              <p:cNvSpPr txBox="1"/>
              <p:nvPr/>
            </p:nvSpPr>
            <p:spPr>
              <a:xfrm>
                <a:off x="5534377" y="2734805"/>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6" name="ZoneTexte 5">
                <a:extLst>
                  <a:ext uri="{FF2B5EF4-FFF2-40B4-BE49-F238E27FC236}">
                    <a16:creationId xmlns:a16="http://schemas.microsoft.com/office/drawing/2014/main" id="{E5BE4F05-CEB6-6E51-4DF8-6BCB7E95B2F5}"/>
                  </a:ext>
                </a:extLst>
              </p:cNvPr>
              <p:cNvSpPr txBox="1">
                <a:spLocks noRot="1" noChangeAspect="1" noMove="1" noResize="1" noEditPoints="1" noAdjustHandles="1" noChangeArrowheads="1" noChangeShapeType="1" noTextEdit="1"/>
              </p:cNvSpPr>
              <p:nvPr/>
            </p:nvSpPr>
            <p:spPr>
              <a:xfrm>
                <a:off x="5534377" y="2734805"/>
                <a:ext cx="1123245" cy="584775"/>
              </a:xfrm>
              <a:prstGeom prst="rect">
                <a:avLst/>
              </a:prstGeom>
              <a:blipFill>
                <a:blip r:embed="rId4"/>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AFB7DB82-6874-919F-3447-500ECE0081D6}"/>
                  </a:ext>
                </a:extLst>
              </p:cNvPr>
              <p:cNvSpPr txBox="1"/>
              <p:nvPr/>
            </p:nvSpPr>
            <p:spPr>
              <a:xfrm>
                <a:off x="1984022"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=4</m:t>
                      </m:r>
                    </m:oMath>
                  </m:oMathPara>
                </a14:m>
                <a:endParaRPr lang="fr-FR" sz="1600" b="0" dirty="0"/>
              </a:p>
            </p:txBody>
          </p:sp>
        </mc:Choice>
        <mc:Fallback xmlns="">
          <p:sp>
            <p:nvSpPr>
              <p:cNvPr id="7" name="ZoneTexte 6">
                <a:extLst>
                  <a:ext uri="{FF2B5EF4-FFF2-40B4-BE49-F238E27FC236}">
                    <a16:creationId xmlns:a16="http://schemas.microsoft.com/office/drawing/2014/main" id="{AFB7DB82-6874-919F-3447-500ECE0081D6}"/>
                  </a:ext>
                </a:extLst>
              </p:cNvPr>
              <p:cNvSpPr txBox="1">
                <a:spLocks noRot="1" noChangeAspect="1" noMove="1" noResize="1" noEditPoints="1" noAdjustHandles="1" noChangeArrowheads="1" noChangeShapeType="1" noTextEdit="1"/>
              </p:cNvSpPr>
              <p:nvPr/>
            </p:nvSpPr>
            <p:spPr>
              <a:xfrm>
                <a:off x="1984022" y="4388627"/>
                <a:ext cx="1123245" cy="584775"/>
              </a:xfrm>
              <a:prstGeom prst="rect">
                <a:avLst/>
              </a:prstGeom>
              <a:blipFill>
                <a:blip r:embed="rId5"/>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C5596933-9293-F731-B4D5-05C4BBA5CF80}"/>
                  </a:ext>
                </a:extLst>
              </p:cNvPr>
              <p:cNvSpPr txBox="1"/>
              <p:nvPr/>
            </p:nvSpPr>
            <p:spPr>
              <a:xfrm>
                <a:off x="4860166"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9" name="ZoneTexte 8">
                <a:extLst>
                  <a:ext uri="{FF2B5EF4-FFF2-40B4-BE49-F238E27FC236}">
                    <a16:creationId xmlns:a16="http://schemas.microsoft.com/office/drawing/2014/main" id="{C5596933-9293-F731-B4D5-05C4BBA5CF80}"/>
                  </a:ext>
                </a:extLst>
              </p:cNvPr>
              <p:cNvSpPr txBox="1">
                <a:spLocks noRot="1" noChangeAspect="1" noMove="1" noResize="1" noEditPoints="1" noAdjustHandles="1" noChangeArrowheads="1" noChangeShapeType="1" noTextEdit="1"/>
              </p:cNvSpPr>
              <p:nvPr/>
            </p:nvSpPr>
            <p:spPr>
              <a:xfrm>
                <a:off x="4860166" y="4388627"/>
                <a:ext cx="1123245" cy="584775"/>
              </a:xfrm>
              <a:prstGeom prst="rect">
                <a:avLst/>
              </a:prstGeom>
              <a:blipFill>
                <a:blip r:embed="rId6"/>
                <a:stretch>
                  <a:fillRect b="-4255"/>
                </a:stretch>
              </a:blipFill>
            </p:spPr>
            <p:txBody>
              <a:bodyPr/>
              <a:lstStyle/>
              <a:p>
                <a:r>
                  <a:rPr lang="fr-FR">
                    <a:noFill/>
                  </a:rPr>
                  <a:t> </a:t>
                </a:r>
              </a:p>
            </p:txBody>
          </p:sp>
        </mc:Fallback>
      </mc:AlternateContent>
    </p:spTree>
    <p:extLst>
      <p:ext uri="{BB962C8B-B14F-4D97-AF65-F5344CB8AC3E}">
        <p14:creationId xmlns:p14="http://schemas.microsoft.com/office/powerpoint/2010/main" val="18804362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AD497-5A95-8809-5912-327A5C80D56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089477A-9A6C-BEFB-9B83-2053718718DC}"/>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017E156D-630C-E7BB-13F7-9603A0EA76A2}"/>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 exemple de calcul des paramètres </a:t>
                </a:r>
                <a14:m>
                  <m:oMath xmlns:m="http://schemas.openxmlformats.org/officeDocument/2006/math">
                    <m:r>
                      <a:rPr lang="fr-FR" sz="2400" b="1" i="1">
                        <a:latin typeface="Cambria Math" panose="02040503050406030204" pitchFamily="18" charset="0"/>
                      </a:rPr>
                      <m:t>𝜶</m:t>
                    </m:r>
                  </m:oMath>
                </a14:m>
                <a:r>
                  <a:rPr lang="fr-FR" sz="2400" dirty="0"/>
                  <a:t> </a:t>
                </a:r>
                <a:r>
                  <a:rPr lang="fr-FR" sz="2400" b="1" dirty="0"/>
                  <a:t>et </a:t>
                </a:r>
                <a14:m>
                  <m:oMath xmlns:m="http://schemas.openxmlformats.org/officeDocument/2006/math">
                    <m:r>
                      <a:rPr lang="fr-FR" sz="2400" b="1" i="1">
                        <a:latin typeface="Cambria Math" panose="02040503050406030204" pitchFamily="18" charset="0"/>
                      </a:rPr>
                      <m:t>𝜷</m:t>
                    </m:r>
                  </m:oMath>
                </a14:m>
                <a:r>
                  <a:rPr lang="fr-FR" sz="2400" dirty="0"/>
                  <a:t> </a:t>
                </a:r>
                <a:r>
                  <a:rPr lang="fr-FR" sz="2400" b="1" dirty="0"/>
                  <a:t>(suite)</a:t>
                </a:r>
              </a:p>
              <a:p>
                <a:endParaRPr lang="fr-FR" sz="2400" dirty="0"/>
              </a:p>
              <a:p>
                <a:pPr marL="342900" indent="-342900">
                  <a:buFont typeface="Arial" panose="020B0604020202020204" pitchFamily="34" charset="0"/>
                  <a:buChar char="•"/>
                </a:pPr>
                <a:r>
                  <a:rPr lang="fr-FR" sz="2400" dirty="0"/>
                  <a:t>En rouge le sommet traité lors de l’appel récursif courant :</a:t>
                </a:r>
              </a:p>
            </p:txBody>
          </p:sp>
        </mc:Choice>
        <mc:Fallback xmlns="">
          <p:sp>
            <p:nvSpPr>
              <p:cNvPr id="3" name="ZoneTexte 2">
                <a:extLst>
                  <a:ext uri="{FF2B5EF4-FFF2-40B4-BE49-F238E27FC236}">
                    <a16:creationId xmlns:a16="http://schemas.microsoft.com/office/drawing/2014/main" id="{017E156D-630C-E7BB-13F7-9603A0EA76A2}"/>
                  </a:ext>
                </a:extLst>
              </p:cNvPr>
              <p:cNvSpPr txBox="1">
                <a:spLocks noRot="1" noChangeAspect="1" noMove="1" noResize="1" noEditPoints="1" noAdjustHandles="1" noChangeArrowheads="1" noChangeShapeType="1" noTextEdit="1"/>
              </p:cNvSpPr>
              <p:nvPr/>
            </p:nvSpPr>
            <p:spPr>
              <a:xfrm>
                <a:off x="844826" y="1431230"/>
                <a:ext cx="10525539" cy="1200329"/>
              </a:xfrm>
              <a:prstGeom prst="rect">
                <a:avLst/>
              </a:prstGeom>
              <a:blipFill>
                <a:blip r:embed="rId2"/>
                <a:stretch>
                  <a:fillRect l="-843" t="-3125" b="-9375"/>
                </a:stretch>
              </a:blipFill>
            </p:spPr>
            <p:txBody>
              <a:bodyPr/>
              <a:lstStyle/>
              <a:p>
                <a:r>
                  <a:rPr lang="fr-FR">
                    <a:noFill/>
                  </a:rPr>
                  <a:t> </a:t>
                </a:r>
              </a:p>
            </p:txBody>
          </p:sp>
        </mc:Fallback>
      </mc:AlternateContent>
      <p:pic>
        <p:nvPicPr>
          <p:cNvPr id="5" name="Image 4" descr="Une image contenant ligne, diagramme, conception&#10;&#10;Le contenu généré par l’IA peut être incorrect.">
            <a:extLst>
              <a:ext uri="{FF2B5EF4-FFF2-40B4-BE49-F238E27FC236}">
                <a16:creationId xmlns:a16="http://schemas.microsoft.com/office/drawing/2014/main" id="{19A8B03C-C2EE-026E-DDE8-B76F58A98BA8}"/>
              </a:ext>
            </a:extLst>
          </p:cNvPr>
          <p:cNvPicPr>
            <a:picLocks noChangeAspect="1"/>
          </p:cNvPicPr>
          <p:nvPr/>
        </p:nvPicPr>
        <p:blipFill>
          <a:blip r:embed="rId3"/>
          <a:stretch>
            <a:fillRect/>
          </a:stretch>
        </p:blipFill>
        <p:spPr>
          <a:xfrm>
            <a:off x="2210400" y="3240000"/>
            <a:ext cx="7772400" cy="3349904"/>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3FD09EAD-6850-B8C5-5C80-028E517C9BF1}"/>
                  </a:ext>
                </a:extLst>
              </p:cNvPr>
              <p:cNvSpPr txBox="1"/>
              <p:nvPr/>
            </p:nvSpPr>
            <p:spPr>
              <a:xfrm>
                <a:off x="5534377" y="2734805"/>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6" name="ZoneTexte 5">
                <a:extLst>
                  <a:ext uri="{FF2B5EF4-FFF2-40B4-BE49-F238E27FC236}">
                    <a16:creationId xmlns:a16="http://schemas.microsoft.com/office/drawing/2014/main" id="{3FD09EAD-6850-B8C5-5C80-028E517C9BF1}"/>
                  </a:ext>
                </a:extLst>
              </p:cNvPr>
              <p:cNvSpPr txBox="1">
                <a:spLocks noRot="1" noChangeAspect="1" noMove="1" noResize="1" noEditPoints="1" noAdjustHandles="1" noChangeArrowheads="1" noChangeShapeType="1" noTextEdit="1"/>
              </p:cNvSpPr>
              <p:nvPr/>
            </p:nvSpPr>
            <p:spPr>
              <a:xfrm>
                <a:off x="5534377" y="2734805"/>
                <a:ext cx="1123245" cy="584775"/>
              </a:xfrm>
              <a:prstGeom prst="rect">
                <a:avLst/>
              </a:prstGeom>
              <a:blipFill>
                <a:blip r:embed="rId4"/>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8408DDA2-7A35-1158-3D9E-49834C82A296}"/>
                  </a:ext>
                </a:extLst>
              </p:cNvPr>
              <p:cNvSpPr txBox="1"/>
              <p:nvPr/>
            </p:nvSpPr>
            <p:spPr>
              <a:xfrm>
                <a:off x="4860166"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=2</m:t>
                      </m:r>
                    </m:oMath>
                  </m:oMathPara>
                </a14:m>
                <a:endParaRPr lang="fr-FR" sz="1600" b="0" dirty="0"/>
              </a:p>
            </p:txBody>
          </p:sp>
        </mc:Choice>
        <mc:Fallback xmlns="">
          <p:sp>
            <p:nvSpPr>
              <p:cNvPr id="7" name="ZoneTexte 6">
                <a:extLst>
                  <a:ext uri="{FF2B5EF4-FFF2-40B4-BE49-F238E27FC236}">
                    <a16:creationId xmlns:a16="http://schemas.microsoft.com/office/drawing/2014/main" id="{8408DDA2-7A35-1158-3D9E-49834C82A296}"/>
                  </a:ext>
                </a:extLst>
              </p:cNvPr>
              <p:cNvSpPr txBox="1">
                <a:spLocks noRot="1" noChangeAspect="1" noMove="1" noResize="1" noEditPoints="1" noAdjustHandles="1" noChangeArrowheads="1" noChangeShapeType="1" noTextEdit="1"/>
              </p:cNvSpPr>
              <p:nvPr/>
            </p:nvSpPr>
            <p:spPr>
              <a:xfrm>
                <a:off x="4860166" y="4388627"/>
                <a:ext cx="1123245" cy="584775"/>
              </a:xfrm>
              <a:prstGeom prst="rect">
                <a:avLst/>
              </a:prstGeom>
              <a:blipFill>
                <a:blip r:embed="rId5"/>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373DB4CB-144A-D167-D5AE-C0F660CDB16B}"/>
                  </a:ext>
                </a:extLst>
              </p:cNvPr>
              <p:cNvSpPr txBox="1"/>
              <p:nvPr/>
            </p:nvSpPr>
            <p:spPr>
              <a:xfrm>
                <a:off x="1984022"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=4</m:t>
                      </m:r>
                    </m:oMath>
                  </m:oMathPara>
                </a14:m>
                <a:endParaRPr lang="fr-FR" sz="1600" b="0" dirty="0"/>
              </a:p>
            </p:txBody>
          </p:sp>
        </mc:Choice>
        <mc:Fallback xmlns="">
          <p:sp>
            <p:nvSpPr>
              <p:cNvPr id="8" name="ZoneTexte 7">
                <a:extLst>
                  <a:ext uri="{FF2B5EF4-FFF2-40B4-BE49-F238E27FC236}">
                    <a16:creationId xmlns:a16="http://schemas.microsoft.com/office/drawing/2014/main" id="{373DB4CB-144A-D167-D5AE-C0F660CDB16B}"/>
                  </a:ext>
                </a:extLst>
              </p:cNvPr>
              <p:cNvSpPr txBox="1">
                <a:spLocks noRot="1" noChangeAspect="1" noMove="1" noResize="1" noEditPoints="1" noAdjustHandles="1" noChangeArrowheads="1" noChangeShapeType="1" noTextEdit="1"/>
              </p:cNvSpPr>
              <p:nvPr/>
            </p:nvSpPr>
            <p:spPr>
              <a:xfrm>
                <a:off x="1984022" y="4388627"/>
                <a:ext cx="1123245" cy="584775"/>
              </a:xfrm>
              <a:prstGeom prst="rect">
                <a:avLst/>
              </a:prstGeom>
              <a:blipFill>
                <a:blip r:embed="rId6"/>
                <a:stretch>
                  <a:fillRect b="-4255"/>
                </a:stretch>
              </a:blipFill>
            </p:spPr>
            <p:txBody>
              <a:bodyPr/>
              <a:lstStyle/>
              <a:p>
                <a:r>
                  <a:rPr lang="fr-FR">
                    <a:noFill/>
                  </a:rPr>
                  <a:t> </a:t>
                </a:r>
              </a:p>
            </p:txBody>
          </p:sp>
        </mc:Fallback>
      </mc:AlternateContent>
      <p:pic>
        <p:nvPicPr>
          <p:cNvPr id="9" name="Graphique 8" descr="Fermer avec un remplissage uni">
            <a:extLst>
              <a:ext uri="{FF2B5EF4-FFF2-40B4-BE49-F238E27FC236}">
                <a16:creationId xmlns:a16="http://schemas.microsoft.com/office/drawing/2014/main" id="{B7CC74C8-9671-D38B-15A1-F20786D3DD6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38884" y="5401843"/>
            <a:ext cx="360000" cy="360000"/>
          </a:xfrm>
          <a:prstGeom prst="rect">
            <a:avLst/>
          </a:prstGeom>
        </p:spPr>
      </p:pic>
      <p:pic>
        <p:nvPicPr>
          <p:cNvPr id="10" name="Graphique 9" descr="Fermer avec un remplissage uni">
            <a:extLst>
              <a:ext uri="{FF2B5EF4-FFF2-40B4-BE49-F238E27FC236}">
                <a16:creationId xmlns:a16="http://schemas.microsoft.com/office/drawing/2014/main" id="{06D16101-3D8A-C0B5-B65C-1EFF92AF9D6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33728" y="5401843"/>
            <a:ext cx="360000" cy="360000"/>
          </a:xfrm>
          <a:prstGeom prst="rect">
            <a:avLst/>
          </a:prstGeom>
        </p:spPr>
      </p:pic>
    </p:spTree>
    <p:extLst>
      <p:ext uri="{BB962C8B-B14F-4D97-AF65-F5344CB8AC3E}">
        <p14:creationId xmlns:p14="http://schemas.microsoft.com/office/powerpoint/2010/main" val="29842278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7EED4-4A66-45E4-FE78-861EEB2CAF8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EBD4A2-A5FA-9FED-D254-5FB8C91E7A79}"/>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36000F06-508C-E190-BC3E-F6EEA9DCA7F3}"/>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 exemple de calcul des paramètres </a:t>
                </a:r>
                <a14:m>
                  <m:oMath xmlns:m="http://schemas.openxmlformats.org/officeDocument/2006/math">
                    <m:r>
                      <a:rPr lang="fr-FR" sz="2400" b="1" i="1">
                        <a:latin typeface="Cambria Math" panose="02040503050406030204" pitchFamily="18" charset="0"/>
                      </a:rPr>
                      <m:t>𝜶</m:t>
                    </m:r>
                  </m:oMath>
                </a14:m>
                <a:r>
                  <a:rPr lang="fr-FR" sz="2400" dirty="0"/>
                  <a:t> </a:t>
                </a:r>
                <a:r>
                  <a:rPr lang="fr-FR" sz="2400" b="1" dirty="0"/>
                  <a:t>et </a:t>
                </a:r>
                <a14:m>
                  <m:oMath xmlns:m="http://schemas.openxmlformats.org/officeDocument/2006/math">
                    <m:r>
                      <a:rPr lang="fr-FR" sz="2400" b="1" i="1">
                        <a:latin typeface="Cambria Math" panose="02040503050406030204" pitchFamily="18" charset="0"/>
                      </a:rPr>
                      <m:t>𝜷</m:t>
                    </m:r>
                  </m:oMath>
                </a14:m>
                <a:r>
                  <a:rPr lang="fr-FR" sz="2400" dirty="0"/>
                  <a:t> </a:t>
                </a:r>
                <a:r>
                  <a:rPr lang="fr-FR" sz="2400" b="1" dirty="0"/>
                  <a:t>(suite)</a:t>
                </a:r>
              </a:p>
              <a:p>
                <a:endParaRPr lang="fr-FR" sz="2400" dirty="0"/>
              </a:p>
              <a:p>
                <a:pPr marL="342900" indent="-342900">
                  <a:buFont typeface="Arial" panose="020B0604020202020204" pitchFamily="34" charset="0"/>
                  <a:buChar char="•"/>
                </a:pPr>
                <a:r>
                  <a:rPr lang="fr-FR" sz="2400" dirty="0"/>
                  <a:t>En rouge le sommet traité lors de l’appel récursif courant :</a:t>
                </a:r>
              </a:p>
            </p:txBody>
          </p:sp>
        </mc:Choice>
        <mc:Fallback xmlns="">
          <p:sp>
            <p:nvSpPr>
              <p:cNvPr id="3" name="ZoneTexte 2">
                <a:extLst>
                  <a:ext uri="{FF2B5EF4-FFF2-40B4-BE49-F238E27FC236}">
                    <a16:creationId xmlns:a16="http://schemas.microsoft.com/office/drawing/2014/main" id="{36000F06-508C-E190-BC3E-F6EEA9DCA7F3}"/>
                  </a:ext>
                </a:extLst>
              </p:cNvPr>
              <p:cNvSpPr txBox="1">
                <a:spLocks noRot="1" noChangeAspect="1" noMove="1" noResize="1" noEditPoints="1" noAdjustHandles="1" noChangeArrowheads="1" noChangeShapeType="1" noTextEdit="1"/>
              </p:cNvSpPr>
              <p:nvPr/>
            </p:nvSpPr>
            <p:spPr>
              <a:xfrm>
                <a:off x="844826" y="1431230"/>
                <a:ext cx="10525539" cy="1200329"/>
              </a:xfrm>
              <a:prstGeom prst="rect">
                <a:avLst/>
              </a:prstGeom>
              <a:blipFill>
                <a:blip r:embed="rId2"/>
                <a:stretch>
                  <a:fillRect l="-843" t="-3125" b="-9375"/>
                </a:stretch>
              </a:blipFill>
            </p:spPr>
            <p:txBody>
              <a:bodyPr/>
              <a:lstStyle/>
              <a:p>
                <a:r>
                  <a:rPr lang="fr-FR">
                    <a:noFill/>
                  </a:rPr>
                  <a:t> </a:t>
                </a:r>
              </a:p>
            </p:txBody>
          </p:sp>
        </mc:Fallback>
      </mc:AlternateContent>
      <p:pic>
        <p:nvPicPr>
          <p:cNvPr id="5" name="Image 4" descr="Une image contenant ligne, diagramme, conception&#10;&#10;Le contenu généré par l’IA peut être incorrect.">
            <a:extLst>
              <a:ext uri="{FF2B5EF4-FFF2-40B4-BE49-F238E27FC236}">
                <a16:creationId xmlns:a16="http://schemas.microsoft.com/office/drawing/2014/main" id="{4395CE86-130E-DF24-8319-16055496BDF2}"/>
              </a:ext>
            </a:extLst>
          </p:cNvPr>
          <p:cNvPicPr>
            <a:picLocks noChangeAspect="1"/>
          </p:cNvPicPr>
          <p:nvPr/>
        </p:nvPicPr>
        <p:blipFill>
          <a:blip r:embed="rId3"/>
          <a:stretch>
            <a:fillRect/>
          </a:stretch>
        </p:blipFill>
        <p:spPr>
          <a:xfrm>
            <a:off x="2210400" y="3240000"/>
            <a:ext cx="7772400" cy="3349904"/>
          </a:xfrm>
          <a:prstGeom prst="rect">
            <a:avLst/>
          </a:prstGeom>
        </p:spPr>
      </p:pic>
      <p:pic>
        <p:nvPicPr>
          <p:cNvPr id="6" name="Graphique 5" descr="Fermer avec un remplissage uni">
            <a:extLst>
              <a:ext uri="{FF2B5EF4-FFF2-40B4-BE49-F238E27FC236}">
                <a16:creationId xmlns:a16="http://schemas.microsoft.com/office/drawing/2014/main" id="{CC91C2AB-B192-20A7-EB12-60349BF9BCB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38884" y="5401843"/>
            <a:ext cx="360000" cy="360000"/>
          </a:xfrm>
          <a:prstGeom prst="rect">
            <a:avLst/>
          </a:prstGeom>
        </p:spPr>
      </p:pic>
      <p:pic>
        <p:nvPicPr>
          <p:cNvPr id="7" name="Graphique 6" descr="Fermer avec un remplissage uni">
            <a:extLst>
              <a:ext uri="{FF2B5EF4-FFF2-40B4-BE49-F238E27FC236}">
                <a16:creationId xmlns:a16="http://schemas.microsoft.com/office/drawing/2014/main" id="{B4F5FB69-E1EE-6883-63F3-1476DA1892C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33728" y="5401843"/>
            <a:ext cx="360000" cy="360000"/>
          </a:xfrm>
          <a:prstGeom prst="rect">
            <a:avLst/>
          </a:prstGeom>
        </p:spPr>
      </p:pic>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4487273E-D05F-CEA1-971A-C19C7FC12D87}"/>
                  </a:ext>
                </a:extLst>
              </p:cNvPr>
              <p:cNvSpPr txBox="1"/>
              <p:nvPr/>
            </p:nvSpPr>
            <p:spPr>
              <a:xfrm>
                <a:off x="1984022"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=4</m:t>
                      </m:r>
                    </m:oMath>
                  </m:oMathPara>
                </a14:m>
                <a:endParaRPr lang="fr-FR" sz="1600" b="0" dirty="0"/>
              </a:p>
            </p:txBody>
          </p:sp>
        </mc:Choice>
        <mc:Fallback xmlns="">
          <p:sp>
            <p:nvSpPr>
              <p:cNvPr id="8" name="ZoneTexte 7">
                <a:extLst>
                  <a:ext uri="{FF2B5EF4-FFF2-40B4-BE49-F238E27FC236}">
                    <a16:creationId xmlns:a16="http://schemas.microsoft.com/office/drawing/2014/main" id="{4487273E-D05F-CEA1-971A-C19C7FC12D87}"/>
                  </a:ext>
                </a:extLst>
              </p:cNvPr>
              <p:cNvSpPr txBox="1">
                <a:spLocks noRot="1" noChangeAspect="1" noMove="1" noResize="1" noEditPoints="1" noAdjustHandles="1" noChangeArrowheads="1" noChangeShapeType="1" noTextEdit="1"/>
              </p:cNvSpPr>
              <p:nvPr/>
            </p:nvSpPr>
            <p:spPr>
              <a:xfrm>
                <a:off x="1984022" y="4388627"/>
                <a:ext cx="1123245" cy="584775"/>
              </a:xfrm>
              <a:prstGeom prst="rect">
                <a:avLst/>
              </a:prstGeom>
              <a:blipFill>
                <a:blip r:embed="rId6"/>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C24F6171-1524-ACE6-71A0-7F8013BD75C8}"/>
                  </a:ext>
                </a:extLst>
              </p:cNvPr>
              <p:cNvSpPr txBox="1"/>
              <p:nvPr/>
            </p:nvSpPr>
            <p:spPr>
              <a:xfrm>
                <a:off x="5534377" y="2734805"/>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10" name="ZoneTexte 9">
                <a:extLst>
                  <a:ext uri="{FF2B5EF4-FFF2-40B4-BE49-F238E27FC236}">
                    <a16:creationId xmlns:a16="http://schemas.microsoft.com/office/drawing/2014/main" id="{C24F6171-1524-ACE6-71A0-7F8013BD75C8}"/>
                  </a:ext>
                </a:extLst>
              </p:cNvPr>
              <p:cNvSpPr txBox="1">
                <a:spLocks noRot="1" noChangeAspect="1" noMove="1" noResize="1" noEditPoints="1" noAdjustHandles="1" noChangeArrowheads="1" noChangeShapeType="1" noTextEdit="1"/>
              </p:cNvSpPr>
              <p:nvPr/>
            </p:nvSpPr>
            <p:spPr>
              <a:xfrm>
                <a:off x="5534377" y="2734805"/>
                <a:ext cx="1123245" cy="584775"/>
              </a:xfrm>
              <a:prstGeom prst="rect">
                <a:avLst/>
              </a:prstGeom>
              <a:blipFill>
                <a:blip r:embed="rId7"/>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89C420EC-59A2-910C-73AB-2D61E51E9E49}"/>
                  </a:ext>
                </a:extLst>
              </p:cNvPr>
              <p:cNvSpPr txBox="1"/>
              <p:nvPr/>
            </p:nvSpPr>
            <p:spPr>
              <a:xfrm>
                <a:off x="4860166"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=2</m:t>
                      </m:r>
                    </m:oMath>
                  </m:oMathPara>
                </a14:m>
                <a:endParaRPr lang="fr-FR" sz="1600" b="0" dirty="0"/>
              </a:p>
            </p:txBody>
          </p:sp>
        </mc:Choice>
        <mc:Fallback xmlns="">
          <p:sp>
            <p:nvSpPr>
              <p:cNvPr id="11" name="ZoneTexte 10">
                <a:extLst>
                  <a:ext uri="{FF2B5EF4-FFF2-40B4-BE49-F238E27FC236}">
                    <a16:creationId xmlns:a16="http://schemas.microsoft.com/office/drawing/2014/main" id="{89C420EC-59A2-910C-73AB-2D61E51E9E49}"/>
                  </a:ext>
                </a:extLst>
              </p:cNvPr>
              <p:cNvSpPr txBox="1">
                <a:spLocks noRot="1" noChangeAspect="1" noMove="1" noResize="1" noEditPoints="1" noAdjustHandles="1" noChangeArrowheads="1" noChangeShapeType="1" noTextEdit="1"/>
              </p:cNvSpPr>
              <p:nvPr/>
            </p:nvSpPr>
            <p:spPr>
              <a:xfrm>
                <a:off x="4860166" y="4388627"/>
                <a:ext cx="1123245" cy="584775"/>
              </a:xfrm>
              <a:prstGeom prst="rect">
                <a:avLst/>
              </a:prstGeom>
              <a:blipFill>
                <a:blip r:embed="rId8"/>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684B6B0B-6B95-5C36-2F7F-EE40E6A9B743}"/>
                  </a:ext>
                </a:extLst>
              </p:cNvPr>
              <p:cNvSpPr txBox="1"/>
              <p:nvPr/>
            </p:nvSpPr>
            <p:spPr>
              <a:xfrm>
                <a:off x="8959955"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12" name="ZoneTexte 11">
                <a:extLst>
                  <a:ext uri="{FF2B5EF4-FFF2-40B4-BE49-F238E27FC236}">
                    <a16:creationId xmlns:a16="http://schemas.microsoft.com/office/drawing/2014/main" id="{684B6B0B-6B95-5C36-2F7F-EE40E6A9B743}"/>
                  </a:ext>
                </a:extLst>
              </p:cNvPr>
              <p:cNvSpPr txBox="1">
                <a:spLocks noRot="1" noChangeAspect="1" noMove="1" noResize="1" noEditPoints="1" noAdjustHandles="1" noChangeArrowheads="1" noChangeShapeType="1" noTextEdit="1"/>
              </p:cNvSpPr>
              <p:nvPr/>
            </p:nvSpPr>
            <p:spPr>
              <a:xfrm>
                <a:off x="8959955" y="4388627"/>
                <a:ext cx="1123245" cy="584775"/>
              </a:xfrm>
              <a:prstGeom prst="rect">
                <a:avLst/>
              </a:prstGeom>
              <a:blipFill>
                <a:blip r:embed="rId9"/>
                <a:stretch>
                  <a:fillRect b="-4255"/>
                </a:stretch>
              </a:blipFill>
            </p:spPr>
            <p:txBody>
              <a:bodyPr/>
              <a:lstStyle/>
              <a:p>
                <a:r>
                  <a:rPr lang="fr-FR">
                    <a:noFill/>
                  </a:rPr>
                  <a:t> </a:t>
                </a:r>
              </a:p>
            </p:txBody>
          </p:sp>
        </mc:Fallback>
      </mc:AlternateContent>
    </p:spTree>
    <p:extLst>
      <p:ext uri="{BB962C8B-B14F-4D97-AF65-F5344CB8AC3E}">
        <p14:creationId xmlns:p14="http://schemas.microsoft.com/office/powerpoint/2010/main" val="42696770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829C5-48E3-27F5-43BE-329C4A86B3E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55DB9B0-5431-21B7-9A1B-AD61A7C4262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B2F4EAE6-CD5F-C574-95F4-DB4EA2590F04}"/>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 exemple de calcul des paramètres </a:t>
                </a:r>
                <a14:m>
                  <m:oMath xmlns:m="http://schemas.openxmlformats.org/officeDocument/2006/math">
                    <m:r>
                      <a:rPr lang="fr-FR" sz="2400" b="1" i="1">
                        <a:latin typeface="Cambria Math" panose="02040503050406030204" pitchFamily="18" charset="0"/>
                      </a:rPr>
                      <m:t>𝜶</m:t>
                    </m:r>
                  </m:oMath>
                </a14:m>
                <a:r>
                  <a:rPr lang="fr-FR" sz="2400" dirty="0"/>
                  <a:t> </a:t>
                </a:r>
                <a:r>
                  <a:rPr lang="fr-FR" sz="2400" b="1" dirty="0"/>
                  <a:t>et </a:t>
                </a:r>
                <a14:m>
                  <m:oMath xmlns:m="http://schemas.openxmlformats.org/officeDocument/2006/math">
                    <m:r>
                      <a:rPr lang="fr-FR" sz="2400" b="1" i="1">
                        <a:latin typeface="Cambria Math" panose="02040503050406030204" pitchFamily="18" charset="0"/>
                      </a:rPr>
                      <m:t>𝜷</m:t>
                    </m:r>
                  </m:oMath>
                </a14:m>
                <a:r>
                  <a:rPr lang="fr-FR" sz="2400" dirty="0"/>
                  <a:t> </a:t>
                </a:r>
                <a:r>
                  <a:rPr lang="fr-FR" sz="2400" b="1" dirty="0"/>
                  <a:t>(suite)</a:t>
                </a:r>
              </a:p>
              <a:p>
                <a:endParaRPr lang="fr-FR" sz="2400" dirty="0"/>
              </a:p>
              <a:p>
                <a:pPr marL="342900" indent="-342900">
                  <a:buFont typeface="Arial" panose="020B0604020202020204" pitchFamily="34" charset="0"/>
                  <a:buChar char="•"/>
                </a:pPr>
                <a:r>
                  <a:rPr lang="fr-FR" sz="2400" dirty="0"/>
                  <a:t>En rouge le sommet traité lors de l’appel récursif courant :</a:t>
                </a:r>
              </a:p>
            </p:txBody>
          </p:sp>
        </mc:Choice>
        <mc:Fallback xmlns="">
          <p:sp>
            <p:nvSpPr>
              <p:cNvPr id="3" name="ZoneTexte 2">
                <a:extLst>
                  <a:ext uri="{FF2B5EF4-FFF2-40B4-BE49-F238E27FC236}">
                    <a16:creationId xmlns:a16="http://schemas.microsoft.com/office/drawing/2014/main" id="{B2F4EAE6-CD5F-C574-95F4-DB4EA2590F04}"/>
                  </a:ext>
                </a:extLst>
              </p:cNvPr>
              <p:cNvSpPr txBox="1">
                <a:spLocks noRot="1" noChangeAspect="1" noMove="1" noResize="1" noEditPoints="1" noAdjustHandles="1" noChangeArrowheads="1" noChangeShapeType="1" noTextEdit="1"/>
              </p:cNvSpPr>
              <p:nvPr/>
            </p:nvSpPr>
            <p:spPr>
              <a:xfrm>
                <a:off x="844826" y="1431230"/>
                <a:ext cx="10525539" cy="1200329"/>
              </a:xfrm>
              <a:prstGeom prst="rect">
                <a:avLst/>
              </a:prstGeom>
              <a:blipFill>
                <a:blip r:embed="rId2"/>
                <a:stretch>
                  <a:fillRect l="-843" t="-3125" b="-9375"/>
                </a:stretch>
              </a:blipFill>
            </p:spPr>
            <p:txBody>
              <a:bodyPr/>
              <a:lstStyle/>
              <a:p>
                <a:r>
                  <a:rPr lang="fr-FR">
                    <a:noFill/>
                  </a:rPr>
                  <a:t> </a:t>
                </a:r>
              </a:p>
            </p:txBody>
          </p:sp>
        </mc:Fallback>
      </mc:AlternateContent>
      <p:pic>
        <p:nvPicPr>
          <p:cNvPr id="5" name="Image 4" descr="Une image contenant ligne, diagramme, conception&#10;&#10;Le contenu généré par l’IA peut être incorrect.">
            <a:extLst>
              <a:ext uri="{FF2B5EF4-FFF2-40B4-BE49-F238E27FC236}">
                <a16:creationId xmlns:a16="http://schemas.microsoft.com/office/drawing/2014/main" id="{33A1E48B-1CC1-47F3-6C47-4C392552483B}"/>
              </a:ext>
            </a:extLst>
          </p:cNvPr>
          <p:cNvPicPr>
            <a:picLocks noChangeAspect="1"/>
          </p:cNvPicPr>
          <p:nvPr/>
        </p:nvPicPr>
        <p:blipFill>
          <a:blip r:embed="rId3"/>
          <a:stretch>
            <a:fillRect/>
          </a:stretch>
        </p:blipFill>
        <p:spPr>
          <a:xfrm>
            <a:off x="2210400" y="3240000"/>
            <a:ext cx="7772400" cy="3349904"/>
          </a:xfrm>
          <a:prstGeom prst="rect">
            <a:avLst/>
          </a:prstGeom>
        </p:spPr>
      </p:pic>
      <p:pic>
        <p:nvPicPr>
          <p:cNvPr id="6" name="Graphique 5" descr="Fermer avec un remplissage uni">
            <a:extLst>
              <a:ext uri="{FF2B5EF4-FFF2-40B4-BE49-F238E27FC236}">
                <a16:creationId xmlns:a16="http://schemas.microsoft.com/office/drawing/2014/main" id="{D4EEC4B2-02FE-73D7-08B1-6F476723B4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38884" y="5401843"/>
            <a:ext cx="360000" cy="360000"/>
          </a:xfrm>
          <a:prstGeom prst="rect">
            <a:avLst/>
          </a:prstGeom>
        </p:spPr>
      </p:pic>
      <p:pic>
        <p:nvPicPr>
          <p:cNvPr id="7" name="Graphique 6" descr="Fermer avec un remplissage uni">
            <a:extLst>
              <a:ext uri="{FF2B5EF4-FFF2-40B4-BE49-F238E27FC236}">
                <a16:creationId xmlns:a16="http://schemas.microsoft.com/office/drawing/2014/main" id="{39475BA8-4E4B-1D22-F75B-43E63820CB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33728" y="5401843"/>
            <a:ext cx="360000" cy="360000"/>
          </a:xfrm>
          <a:prstGeom prst="rect">
            <a:avLst/>
          </a:prstGeom>
        </p:spPr>
      </p:pic>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EC8A3395-59C5-DA80-959A-37682136E162}"/>
                  </a:ext>
                </a:extLst>
              </p:cNvPr>
              <p:cNvSpPr txBox="1"/>
              <p:nvPr/>
            </p:nvSpPr>
            <p:spPr>
              <a:xfrm>
                <a:off x="1984022"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=4</m:t>
                      </m:r>
                    </m:oMath>
                  </m:oMathPara>
                </a14:m>
                <a:endParaRPr lang="fr-FR" sz="1600" b="0" dirty="0"/>
              </a:p>
            </p:txBody>
          </p:sp>
        </mc:Choice>
        <mc:Fallback xmlns="">
          <p:sp>
            <p:nvSpPr>
              <p:cNvPr id="8" name="ZoneTexte 7">
                <a:extLst>
                  <a:ext uri="{FF2B5EF4-FFF2-40B4-BE49-F238E27FC236}">
                    <a16:creationId xmlns:a16="http://schemas.microsoft.com/office/drawing/2014/main" id="{EC8A3395-59C5-DA80-959A-37682136E162}"/>
                  </a:ext>
                </a:extLst>
              </p:cNvPr>
              <p:cNvSpPr txBox="1">
                <a:spLocks noRot="1" noChangeAspect="1" noMove="1" noResize="1" noEditPoints="1" noAdjustHandles="1" noChangeArrowheads="1" noChangeShapeType="1" noTextEdit="1"/>
              </p:cNvSpPr>
              <p:nvPr/>
            </p:nvSpPr>
            <p:spPr>
              <a:xfrm>
                <a:off x="1984022" y="4388627"/>
                <a:ext cx="1123245" cy="584775"/>
              </a:xfrm>
              <a:prstGeom prst="rect">
                <a:avLst/>
              </a:prstGeom>
              <a:blipFill>
                <a:blip r:embed="rId6"/>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C66A5CE6-166A-4EF3-D987-1D07D2FEEF83}"/>
                  </a:ext>
                </a:extLst>
              </p:cNvPr>
              <p:cNvSpPr txBox="1"/>
              <p:nvPr/>
            </p:nvSpPr>
            <p:spPr>
              <a:xfrm>
                <a:off x="5534377" y="2734805"/>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9" name="ZoneTexte 8">
                <a:extLst>
                  <a:ext uri="{FF2B5EF4-FFF2-40B4-BE49-F238E27FC236}">
                    <a16:creationId xmlns:a16="http://schemas.microsoft.com/office/drawing/2014/main" id="{C66A5CE6-166A-4EF3-D987-1D07D2FEEF83}"/>
                  </a:ext>
                </a:extLst>
              </p:cNvPr>
              <p:cNvSpPr txBox="1">
                <a:spLocks noRot="1" noChangeAspect="1" noMove="1" noResize="1" noEditPoints="1" noAdjustHandles="1" noChangeArrowheads="1" noChangeShapeType="1" noTextEdit="1"/>
              </p:cNvSpPr>
              <p:nvPr/>
            </p:nvSpPr>
            <p:spPr>
              <a:xfrm>
                <a:off x="5534377" y="2734805"/>
                <a:ext cx="1123245" cy="584775"/>
              </a:xfrm>
              <a:prstGeom prst="rect">
                <a:avLst/>
              </a:prstGeom>
              <a:blipFill>
                <a:blip r:embed="rId7"/>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B0A225A0-D502-E38E-20BD-9A2CABF571E4}"/>
                  </a:ext>
                </a:extLst>
              </p:cNvPr>
              <p:cNvSpPr txBox="1"/>
              <p:nvPr/>
            </p:nvSpPr>
            <p:spPr>
              <a:xfrm>
                <a:off x="4860166"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=2</m:t>
                      </m:r>
                    </m:oMath>
                  </m:oMathPara>
                </a14:m>
                <a:endParaRPr lang="fr-FR" sz="1600" b="0" dirty="0"/>
              </a:p>
            </p:txBody>
          </p:sp>
        </mc:Choice>
        <mc:Fallback xmlns="">
          <p:sp>
            <p:nvSpPr>
              <p:cNvPr id="10" name="ZoneTexte 9">
                <a:extLst>
                  <a:ext uri="{FF2B5EF4-FFF2-40B4-BE49-F238E27FC236}">
                    <a16:creationId xmlns:a16="http://schemas.microsoft.com/office/drawing/2014/main" id="{B0A225A0-D502-E38E-20BD-9A2CABF571E4}"/>
                  </a:ext>
                </a:extLst>
              </p:cNvPr>
              <p:cNvSpPr txBox="1">
                <a:spLocks noRot="1" noChangeAspect="1" noMove="1" noResize="1" noEditPoints="1" noAdjustHandles="1" noChangeArrowheads="1" noChangeShapeType="1" noTextEdit="1"/>
              </p:cNvSpPr>
              <p:nvPr/>
            </p:nvSpPr>
            <p:spPr>
              <a:xfrm>
                <a:off x="4860166" y="4388627"/>
                <a:ext cx="1123245" cy="584775"/>
              </a:xfrm>
              <a:prstGeom prst="rect">
                <a:avLst/>
              </a:prstGeom>
              <a:blipFill>
                <a:blip r:embed="rId8"/>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47B8EFED-C96C-19A0-67F6-5277BD02A9ED}"/>
                  </a:ext>
                </a:extLst>
              </p:cNvPr>
              <p:cNvSpPr txBox="1"/>
              <p:nvPr/>
            </p:nvSpPr>
            <p:spPr>
              <a:xfrm>
                <a:off x="8959955"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=6</m:t>
                      </m:r>
                    </m:oMath>
                  </m:oMathPara>
                </a14:m>
                <a:endParaRPr lang="fr-FR" sz="1600" b="0" dirty="0"/>
              </a:p>
            </p:txBody>
          </p:sp>
        </mc:Choice>
        <mc:Fallback xmlns="">
          <p:sp>
            <p:nvSpPr>
              <p:cNvPr id="11" name="ZoneTexte 10">
                <a:extLst>
                  <a:ext uri="{FF2B5EF4-FFF2-40B4-BE49-F238E27FC236}">
                    <a16:creationId xmlns:a16="http://schemas.microsoft.com/office/drawing/2014/main" id="{47B8EFED-C96C-19A0-67F6-5277BD02A9ED}"/>
                  </a:ext>
                </a:extLst>
              </p:cNvPr>
              <p:cNvSpPr txBox="1">
                <a:spLocks noRot="1" noChangeAspect="1" noMove="1" noResize="1" noEditPoints="1" noAdjustHandles="1" noChangeArrowheads="1" noChangeShapeType="1" noTextEdit="1"/>
              </p:cNvSpPr>
              <p:nvPr/>
            </p:nvSpPr>
            <p:spPr>
              <a:xfrm>
                <a:off x="8959955" y="4388627"/>
                <a:ext cx="1123245" cy="584775"/>
              </a:xfrm>
              <a:prstGeom prst="rect">
                <a:avLst/>
              </a:prstGeom>
              <a:blipFill>
                <a:blip r:embed="rId9"/>
                <a:stretch>
                  <a:fillRect b="-4255"/>
                </a:stretch>
              </a:blipFill>
            </p:spPr>
            <p:txBody>
              <a:bodyPr/>
              <a:lstStyle/>
              <a:p>
                <a:r>
                  <a:rPr lang="fr-FR">
                    <a:noFill/>
                  </a:rPr>
                  <a:t> </a:t>
                </a:r>
              </a:p>
            </p:txBody>
          </p:sp>
        </mc:Fallback>
      </mc:AlternateContent>
    </p:spTree>
    <p:extLst>
      <p:ext uri="{BB962C8B-B14F-4D97-AF65-F5344CB8AC3E}">
        <p14:creationId xmlns:p14="http://schemas.microsoft.com/office/powerpoint/2010/main" val="11408206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E6D29-B0D6-EAE5-1594-23F2887A6F3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DD1C9A-6EEB-FB91-F840-90A0D39B3BB4}"/>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35B5E545-E9A7-B8B2-C760-015BADA9B5FC}"/>
                  </a:ext>
                </a:extLst>
              </p:cNvPr>
              <p:cNvSpPr txBox="1"/>
              <p:nvPr/>
            </p:nvSpPr>
            <p:spPr>
              <a:xfrm>
                <a:off x="844826" y="1431230"/>
                <a:ext cx="10525539" cy="1200329"/>
              </a:xfrm>
              <a:prstGeom prst="rect">
                <a:avLst/>
              </a:prstGeom>
              <a:noFill/>
            </p:spPr>
            <p:txBody>
              <a:bodyPr wrap="square" rtlCol="0">
                <a:spAutoFit/>
              </a:bodyPr>
              <a:lstStyle/>
              <a:p>
                <a:r>
                  <a:rPr lang="fr-FR" sz="2400" b="1" dirty="0"/>
                  <a:t>Élagage alpha / bêta : exemple de calcul des paramètres </a:t>
                </a:r>
                <a14:m>
                  <m:oMath xmlns:m="http://schemas.openxmlformats.org/officeDocument/2006/math">
                    <m:r>
                      <a:rPr lang="fr-FR" sz="2400" b="1" i="1">
                        <a:latin typeface="Cambria Math" panose="02040503050406030204" pitchFamily="18" charset="0"/>
                      </a:rPr>
                      <m:t>𝜶</m:t>
                    </m:r>
                  </m:oMath>
                </a14:m>
                <a:r>
                  <a:rPr lang="fr-FR" sz="2400" dirty="0"/>
                  <a:t> </a:t>
                </a:r>
                <a:r>
                  <a:rPr lang="fr-FR" sz="2400" b="1" dirty="0"/>
                  <a:t>et </a:t>
                </a:r>
                <a14:m>
                  <m:oMath xmlns:m="http://schemas.openxmlformats.org/officeDocument/2006/math">
                    <m:r>
                      <a:rPr lang="fr-FR" sz="2400" b="1" i="1">
                        <a:latin typeface="Cambria Math" panose="02040503050406030204" pitchFamily="18" charset="0"/>
                      </a:rPr>
                      <m:t>𝜷</m:t>
                    </m:r>
                  </m:oMath>
                </a14:m>
                <a:r>
                  <a:rPr lang="fr-FR" sz="2400" dirty="0"/>
                  <a:t> </a:t>
                </a:r>
                <a:r>
                  <a:rPr lang="fr-FR" sz="2400" b="1" dirty="0"/>
                  <a:t>(suite)</a:t>
                </a:r>
              </a:p>
              <a:p>
                <a:endParaRPr lang="fr-FR" sz="2400" dirty="0"/>
              </a:p>
              <a:p>
                <a:pPr marL="342900" indent="-342900">
                  <a:buFont typeface="Arial" panose="020B0604020202020204" pitchFamily="34" charset="0"/>
                  <a:buChar char="•"/>
                </a:pPr>
                <a:r>
                  <a:rPr lang="fr-FR" sz="2400" dirty="0"/>
                  <a:t>En rouge le sommet traité lors de l’appel récursif courant :</a:t>
                </a:r>
              </a:p>
            </p:txBody>
          </p:sp>
        </mc:Choice>
        <mc:Fallback xmlns="">
          <p:sp>
            <p:nvSpPr>
              <p:cNvPr id="3" name="ZoneTexte 2">
                <a:extLst>
                  <a:ext uri="{FF2B5EF4-FFF2-40B4-BE49-F238E27FC236}">
                    <a16:creationId xmlns:a16="http://schemas.microsoft.com/office/drawing/2014/main" id="{35B5E545-E9A7-B8B2-C760-015BADA9B5FC}"/>
                  </a:ext>
                </a:extLst>
              </p:cNvPr>
              <p:cNvSpPr txBox="1">
                <a:spLocks noRot="1" noChangeAspect="1" noMove="1" noResize="1" noEditPoints="1" noAdjustHandles="1" noChangeArrowheads="1" noChangeShapeType="1" noTextEdit="1"/>
              </p:cNvSpPr>
              <p:nvPr/>
            </p:nvSpPr>
            <p:spPr>
              <a:xfrm>
                <a:off x="844826" y="1431230"/>
                <a:ext cx="10525539" cy="1200329"/>
              </a:xfrm>
              <a:prstGeom prst="rect">
                <a:avLst/>
              </a:prstGeom>
              <a:blipFill>
                <a:blip r:embed="rId2"/>
                <a:stretch>
                  <a:fillRect l="-843" t="-3125" b="-9375"/>
                </a:stretch>
              </a:blipFill>
            </p:spPr>
            <p:txBody>
              <a:bodyPr/>
              <a:lstStyle/>
              <a:p>
                <a:r>
                  <a:rPr lang="fr-FR">
                    <a:noFill/>
                  </a:rPr>
                  <a:t> </a:t>
                </a:r>
              </a:p>
            </p:txBody>
          </p:sp>
        </mc:Fallback>
      </mc:AlternateContent>
      <p:pic>
        <p:nvPicPr>
          <p:cNvPr id="5" name="Image 4" descr="Une image contenant ligne, diagramme, conception&#10;&#10;Le contenu généré par l’IA peut être incorrect.">
            <a:extLst>
              <a:ext uri="{FF2B5EF4-FFF2-40B4-BE49-F238E27FC236}">
                <a16:creationId xmlns:a16="http://schemas.microsoft.com/office/drawing/2014/main" id="{63931654-4140-F0AC-F631-E107E792CF19}"/>
              </a:ext>
            </a:extLst>
          </p:cNvPr>
          <p:cNvPicPr>
            <a:picLocks noChangeAspect="1"/>
          </p:cNvPicPr>
          <p:nvPr/>
        </p:nvPicPr>
        <p:blipFill>
          <a:blip r:embed="rId3"/>
          <a:stretch>
            <a:fillRect/>
          </a:stretch>
        </p:blipFill>
        <p:spPr>
          <a:xfrm>
            <a:off x="2210400" y="3240000"/>
            <a:ext cx="7772400" cy="3349904"/>
          </a:xfrm>
          <a:prstGeom prst="rect">
            <a:avLst/>
          </a:prstGeom>
        </p:spPr>
      </p:pic>
      <p:pic>
        <p:nvPicPr>
          <p:cNvPr id="6" name="Graphique 5" descr="Fermer avec un remplissage uni">
            <a:extLst>
              <a:ext uri="{FF2B5EF4-FFF2-40B4-BE49-F238E27FC236}">
                <a16:creationId xmlns:a16="http://schemas.microsoft.com/office/drawing/2014/main" id="{4A4CC964-5A3E-A501-EC65-8C6970EF6DD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38884" y="5401843"/>
            <a:ext cx="360000" cy="360000"/>
          </a:xfrm>
          <a:prstGeom prst="rect">
            <a:avLst/>
          </a:prstGeom>
        </p:spPr>
      </p:pic>
      <p:pic>
        <p:nvPicPr>
          <p:cNvPr id="7" name="Graphique 6" descr="Fermer avec un remplissage uni">
            <a:extLst>
              <a:ext uri="{FF2B5EF4-FFF2-40B4-BE49-F238E27FC236}">
                <a16:creationId xmlns:a16="http://schemas.microsoft.com/office/drawing/2014/main" id="{537ED264-2EF2-7D75-FFE8-0CEAABAD268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33728" y="5401843"/>
            <a:ext cx="360000" cy="360000"/>
          </a:xfrm>
          <a:prstGeom prst="rect">
            <a:avLst/>
          </a:prstGeom>
        </p:spPr>
      </p:pic>
      <p:pic>
        <p:nvPicPr>
          <p:cNvPr id="8" name="Graphique 7" descr="Fermer avec un remplissage uni">
            <a:extLst>
              <a:ext uri="{FF2B5EF4-FFF2-40B4-BE49-F238E27FC236}">
                <a16:creationId xmlns:a16="http://schemas.microsoft.com/office/drawing/2014/main" id="{40A34AE5-803E-20C6-64DB-ED646ABF7DC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48054" y="5401843"/>
            <a:ext cx="360000" cy="360000"/>
          </a:xfrm>
          <a:prstGeom prst="rect">
            <a:avLst/>
          </a:prstGeom>
        </p:spPr>
      </p:pic>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F5D87F0B-AE31-9B2A-0138-A66B63371765}"/>
                  </a:ext>
                </a:extLst>
              </p:cNvPr>
              <p:cNvSpPr txBox="1"/>
              <p:nvPr/>
            </p:nvSpPr>
            <p:spPr>
              <a:xfrm>
                <a:off x="1984022"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=4</m:t>
                      </m:r>
                    </m:oMath>
                  </m:oMathPara>
                </a14:m>
                <a:endParaRPr lang="fr-FR" sz="1600" b="0" dirty="0"/>
              </a:p>
            </p:txBody>
          </p:sp>
        </mc:Choice>
        <mc:Fallback xmlns="">
          <p:sp>
            <p:nvSpPr>
              <p:cNvPr id="9" name="ZoneTexte 8">
                <a:extLst>
                  <a:ext uri="{FF2B5EF4-FFF2-40B4-BE49-F238E27FC236}">
                    <a16:creationId xmlns:a16="http://schemas.microsoft.com/office/drawing/2014/main" id="{F5D87F0B-AE31-9B2A-0138-A66B63371765}"/>
                  </a:ext>
                </a:extLst>
              </p:cNvPr>
              <p:cNvSpPr txBox="1">
                <a:spLocks noRot="1" noChangeAspect="1" noMove="1" noResize="1" noEditPoints="1" noAdjustHandles="1" noChangeArrowheads="1" noChangeShapeType="1" noTextEdit="1"/>
              </p:cNvSpPr>
              <p:nvPr/>
            </p:nvSpPr>
            <p:spPr>
              <a:xfrm>
                <a:off x="1984022" y="4388627"/>
                <a:ext cx="1123245" cy="584775"/>
              </a:xfrm>
              <a:prstGeom prst="rect">
                <a:avLst/>
              </a:prstGeom>
              <a:blipFill>
                <a:blip r:embed="rId6"/>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FF5F091D-E300-685D-E768-B4F9E5F2C40C}"/>
                  </a:ext>
                </a:extLst>
              </p:cNvPr>
              <p:cNvSpPr txBox="1"/>
              <p:nvPr/>
            </p:nvSpPr>
            <p:spPr>
              <a:xfrm>
                <a:off x="5534377" y="2734805"/>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m:t>
                      </m:r>
                    </m:oMath>
                  </m:oMathPara>
                </a14:m>
                <a:endParaRPr lang="fr-FR" sz="1600" b="0" dirty="0"/>
              </a:p>
            </p:txBody>
          </p:sp>
        </mc:Choice>
        <mc:Fallback xmlns="">
          <p:sp>
            <p:nvSpPr>
              <p:cNvPr id="10" name="ZoneTexte 9">
                <a:extLst>
                  <a:ext uri="{FF2B5EF4-FFF2-40B4-BE49-F238E27FC236}">
                    <a16:creationId xmlns:a16="http://schemas.microsoft.com/office/drawing/2014/main" id="{FF5F091D-E300-685D-E768-B4F9E5F2C40C}"/>
                  </a:ext>
                </a:extLst>
              </p:cNvPr>
              <p:cNvSpPr txBox="1">
                <a:spLocks noRot="1" noChangeAspect="1" noMove="1" noResize="1" noEditPoints="1" noAdjustHandles="1" noChangeArrowheads="1" noChangeShapeType="1" noTextEdit="1"/>
              </p:cNvSpPr>
              <p:nvPr/>
            </p:nvSpPr>
            <p:spPr>
              <a:xfrm>
                <a:off x="5534377" y="2734805"/>
                <a:ext cx="1123245" cy="584775"/>
              </a:xfrm>
              <a:prstGeom prst="rect">
                <a:avLst/>
              </a:prstGeom>
              <a:blipFill>
                <a:blip r:embed="rId7"/>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D666017B-6EAE-B45A-193F-4D92C8C3C301}"/>
                  </a:ext>
                </a:extLst>
              </p:cNvPr>
              <p:cNvSpPr txBox="1"/>
              <p:nvPr/>
            </p:nvSpPr>
            <p:spPr>
              <a:xfrm>
                <a:off x="4860166"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=2</m:t>
                      </m:r>
                    </m:oMath>
                  </m:oMathPara>
                </a14:m>
                <a:endParaRPr lang="fr-FR" sz="1600" b="0" dirty="0"/>
              </a:p>
            </p:txBody>
          </p:sp>
        </mc:Choice>
        <mc:Fallback xmlns="">
          <p:sp>
            <p:nvSpPr>
              <p:cNvPr id="11" name="ZoneTexte 10">
                <a:extLst>
                  <a:ext uri="{FF2B5EF4-FFF2-40B4-BE49-F238E27FC236}">
                    <a16:creationId xmlns:a16="http://schemas.microsoft.com/office/drawing/2014/main" id="{D666017B-6EAE-B45A-193F-4D92C8C3C301}"/>
                  </a:ext>
                </a:extLst>
              </p:cNvPr>
              <p:cNvSpPr txBox="1">
                <a:spLocks noRot="1" noChangeAspect="1" noMove="1" noResize="1" noEditPoints="1" noAdjustHandles="1" noChangeArrowheads="1" noChangeShapeType="1" noTextEdit="1"/>
              </p:cNvSpPr>
              <p:nvPr/>
            </p:nvSpPr>
            <p:spPr>
              <a:xfrm>
                <a:off x="4860166" y="4388627"/>
                <a:ext cx="1123245" cy="584775"/>
              </a:xfrm>
              <a:prstGeom prst="rect">
                <a:avLst/>
              </a:prstGeom>
              <a:blipFill>
                <a:blip r:embed="rId8"/>
                <a:stretch>
                  <a:fillRect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9BB1E510-6631-9E4A-0BFE-F8C5514053EC}"/>
                  </a:ext>
                </a:extLst>
              </p:cNvPr>
              <p:cNvSpPr txBox="1"/>
              <p:nvPr/>
            </p:nvSpPr>
            <p:spPr>
              <a:xfrm>
                <a:off x="8959955" y="4388627"/>
                <a:ext cx="112324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=4</m:t>
                      </m:r>
                    </m:oMath>
                  </m:oMathPara>
                </a14:m>
                <a:endParaRPr lang="fr-FR" sz="1600" b="0" dirty="0"/>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𝛽</m:t>
                      </m:r>
                      <m:r>
                        <a:rPr lang="fr-FR" sz="1600" b="0" i="1" smtClean="0">
                          <a:latin typeface="Cambria Math" panose="02040503050406030204" pitchFamily="18" charset="0"/>
                        </a:rPr>
                        <m:t>=1</m:t>
                      </m:r>
                    </m:oMath>
                  </m:oMathPara>
                </a14:m>
                <a:endParaRPr lang="fr-FR" sz="1600" b="0" dirty="0"/>
              </a:p>
            </p:txBody>
          </p:sp>
        </mc:Choice>
        <mc:Fallback xmlns="">
          <p:sp>
            <p:nvSpPr>
              <p:cNvPr id="12" name="ZoneTexte 11">
                <a:extLst>
                  <a:ext uri="{FF2B5EF4-FFF2-40B4-BE49-F238E27FC236}">
                    <a16:creationId xmlns:a16="http://schemas.microsoft.com/office/drawing/2014/main" id="{9BB1E510-6631-9E4A-0BFE-F8C5514053EC}"/>
                  </a:ext>
                </a:extLst>
              </p:cNvPr>
              <p:cNvSpPr txBox="1">
                <a:spLocks noRot="1" noChangeAspect="1" noMove="1" noResize="1" noEditPoints="1" noAdjustHandles="1" noChangeArrowheads="1" noChangeShapeType="1" noTextEdit="1"/>
              </p:cNvSpPr>
              <p:nvPr/>
            </p:nvSpPr>
            <p:spPr>
              <a:xfrm>
                <a:off x="8959955" y="4388627"/>
                <a:ext cx="1123245" cy="584775"/>
              </a:xfrm>
              <a:prstGeom prst="rect">
                <a:avLst/>
              </a:prstGeom>
              <a:blipFill>
                <a:blip r:embed="rId9"/>
                <a:stretch>
                  <a:fillRect b="-4255"/>
                </a:stretch>
              </a:blipFill>
            </p:spPr>
            <p:txBody>
              <a:bodyPr/>
              <a:lstStyle/>
              <a:p>
                <a:r>
                  <a:rPr lang="fr-FR">
                    <a:noFill/>
                  </a:rPr>
                  <a:t> </a:t>
                </a:r>
              </a:p>
            </p:txBody>
          </p:sp>
        </mc:Fallback>
      </mc:AlternateContent>
    </p:spTree>
    <p:extLst>
      <p:ext uri="{BB962C8B-B14F-4D97-AF65-F5344CB8AC3E}">
        <p14:creationId xmlns:p14="http://schemas.microsoft.com/office/powerpoint/2010/main" val="37068252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EAD91-4998-5954-30CF-908AE2DB308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3B4C92-F26C-BE17-61CB-EE52BC44EE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2D5CF3DA-2E49-E45F-07C1-F9CAB0847D0E}"/>
                  </a:ext>
                </a:extLst>
              </p:cNvPr>
              <p:cNvSpPr txBox="1"/>
              <p:nvPr/>
            </p:nvSpPr>
            <p:spPr>
              <a:xfrm>
                <a:off x="844826" y="1431230"/>
                <a:ext cx="10525539" cy="3108543"/>
              </a:xfrm>
              <a:prstGeom prst="rect">
                <a:avLst/>
              </a:prstGeom>
              <a:noFill/>
            </p:spPr>
            <p:txBody>
              <a:bodyPr wrap="square" rtlCol="0">
                <a:spAutoFit/>
              </a:bodyPr>
              <a:lstStyle/>
              <a:p>
                <a:r>
                  <a:rPr lang="fr-FR" sz="2400" b="1" dirty="0"/>
                  <a:t>Élagage alpha / bêta : pseudo-code (suite)</a:t>
                </a:r>
              </a:p>
              <a:p>
                <a:endParaRPr lang="fr-FR" sz="2400" dirty="0"/>
              </a:p>
              <a:p>
                <a:endParaRPr lang="fr-FR" sz="2400" dirty="0"/>
              </a:p>
              <a:p>
                <a:r>
                  <a:rPr lang="fr-FR" sz="2000" dirty="0"/>
                  <a:t>FONCTION </a:t>
                </a:r>
                <a14:m>
                  <m:oMath xmlns:m="http://schemas.openxmlformats.org/officeDocument/2006/math">
                    <m:r>
                      <m:rPr>
                        <m:nor/>
                      </m:rPr>
                      <a:rPr lang="fr-FR" sz="2000" dirty="0">
                        <a:latin typeface="Cambria Math" panose="02040503050406030204" pitchFamily="18" charset="0"/>
                      </a:rPr>
                      <m:t>min</m:t>
                    </m:r>
                    <m:r>
                      <m:rPr>
                        <m:nor/>
                      </m:rPr>
                      <a:rPr lang="fr-FR" sz="2000" dirty="0" err="1">
                        <a:latin typeface="Cambria Math" panose="02040503050406030204" pitchFamily="18" charset="0"/>
                      </a:rPr>
                      <m:t>Max</m:t>
                    </m:r>
                    <m:r>
                      <a:rPr lang="fr-FR" sz="2000" i="1" dirty="0">
                        <a:latin typeface="Cambria Math" panose="02040503050406030204" pitchFamily="18" charset="0"/>
                      </a:rPr>
                      <m:t>(</m:t>
                    </m:r>
                    <m:r>
                      <a:rPr lang="fr-FR" sz="2000" i="1" dirty="0">
                        <a:latin typeface="Cambria Math" panose="02040503050406030204" pitchFamily="18" charset="0"/>
                      </a:rPr>
                      <m:t>𝑗𝑒𝑢</m:t>
                    </m:r>
                    <m:r>
                      <a:rPr lang="fr-FR" sz="2000" i="1" dirty="0">
                        <a:latin typeface="Cambria Math" panose="02040503050406030204" pitchFamily="18" charset="0"/>
                      </a:rPr>
                      <m:t>, </m:t>
                    </m:r>
                    <m:r>
                      <a:rPr lang="fr-FR" sz="2000" i="1" dirty="0">
                        <a:latin typeface="Cambria Math" panose="02040503050406030204" pitchFamily="18" charset="0"/>
                      </a:rPr>
                      <m:t>𝑝𝑜𝑠𝑖𝑡𝑖𝑜𝑛</m:t>
                    </m:r>
                    <m:r>
                      <a:rPr lang="fr-FR" sz="2000" i="1" dirty="0">
                        <a:latin typeface="Cambria Math" panose="02040503050406030204" pitchFamily="18" charset="0"/>
                      </a:rPr>
                      <m:t>, </m:t>
                    </m:r>
                    <m:r>
                      <a:rPr lang="fr-FR" sz="2000" i="1" dirty="0">
                        <a:latin typeface="Cambria Math" panose="02040503050406030204" pitchFamily="18" charset="0"/>
                      </a:rPr>
                      <m:t>𝑗𝑜𝑢𝑒𝑢𝑟</m:t>
                    </m:r>
                    <m:r>
                      <a:rPr lang="fr-FR" sz="2000" i="1" dirty="0">
                        <a:latin typeface="Cambria Math" panose="02040503050406030204" pitchFamily="18" charset="0"/>
                      </a:rPr>
                      <m:t>,</m:t>
                    </m:r>
                    <m:r>
                      <a:rPr lang="fr-FR" sz="2000" i="1" dirty="0">
                        <a:latin typeface="Cambria Math" panose="02040503050406030204" pitchFamily="18" charset="0"/>
                      </a:rPr>
                      <m:t>𝑝𝑟𝑜𝑓𝑜𝑛𝑑𝑒𝑢𝑟</m:t>
                    </m:r>
                    <m:r>
                      <a:rPr lang="fr-FR" sz="2000" b="0" i="1" dirty="0" smtClean="0">
                        <a:latin typeface="Cambria Math" panose="02040503050406030204" pitchFamily="18" charset="0"/>
                      </a:rPr>
                      <m:t>,</m:t>
                    </m:r>
                    <m:r>
                      <a:rPr lang="fr-FR" sz="2000" b="0" i="1" dirty="0" smtClean="0">
                        <a:latin typeface="Cambria Math" panose="02040503050406030204" pitchFamily="18" charset="0"/>
                      </a:rPr>
                      <m:t>𝑎𝑙𝑝h𝑎</m:t>
                    </m:r>
                    <m:r>
                      <a:rPr lang="fr-FR" sz="2000" b="0" i="1" dirty="0" smtClean="0">
                        <a:latin typeface="Cambria Math" panose="02040503050406030204" pitchFamily="18" charset="0"/>
                      </a:rPr>
                      <m:t>,</m:t>
                    </m:r>
                    <m:r>
                      <a:rPr lang="fr-FR" sz="2000" b="0" i="1" dirty="0" smtClean="0">
                        <a:latin typeface="Cambria Math" panose="02040503050406030204" pitchFamily="18" charset="0"/>
                      </a:rPr>
                      <m:t>𝑏</m:t>
                    </m:r>
                    <m:r>
                      <a:rPr lang="fr-FR" sz="2000" i="1" dirty="0">
                        <a:latin typeface="Cambria Math" panose="02040503050406030204" pitchFamily="18" charset="0"/>
                      </a:rPr>
                      <m:t>ê</m:t>
                    </m:r>
                    <m:r>
                      <a:rPr lang="fr-FR" sz="2000" b="0" i="1" dirty="0" smtClean="0">
                        <a:latin typeface="Cambria Math" panose="02040503050406030204" pitchFamily="18" charset="0"/>
                      </a:rPr>
                      <m:t>𝑡𝑎</m:t>
                    </m:r>
                    <m:r>
                      <a:rPr lang="fr-FR" sz="2000" i="1" dirty="0">
                        <a:latin typeface="Cambria Math" panose="02040503050406030204" pitchFamily="18" charset="0"/>
                      </a:rPr>
                      <m:t>)</m:t>
                    </m:r>
                  </m:oMath>
                </a14:m>
                <a:endParaRPr lang="fr-FR" sz="2000" dirty="0"/>
              </a:p>
              <a:p>
                <a:r>
                  <a:rPr lang="fr-FR" sz="2000" dirty="0"/>
                  <a:t>	SI </a:t>
                </a:r>
                <a14:m>
                  <m:oMath xmlns:m="http://schemas.openxmlformats.org/officeDocument/2006/math">
                    <m:r>
                      <a:rPr lang="fr-FR" sz="2000" i="1" dirty="0">
                        <a:latin typeface="Cambria Math" panose="02040503050406030204" pitchFamily="18" charset="0"/>
                      </a:rPr>
                      <m:t>𝑝𝑜𝑠𝑖𝑡𝑖𝑜𝑛</m:t>
                    </m:r>
                  </m:oMath>
                </a14:m>
                <a:r>
                  <a:rPr lang="fr-FR" sz="2000" dirty="0"/>
                  <a:t> est finale ALORS</a:t>
                </a:r>
              </a:p>
              <a:p>
                <a:r>
                  <a:rPr lang="fr-FR" sz="2000" dirty="0"/>
                  <a:t>		RETOURNER </a:t>
                </a:r>
                <a14:m>
                  <m:oMath xmlns:m="http://schemas.openxmlformats.org/officeDocument/2006/math">
                    <m:r>
                      <m:rPr>
                        <m:nor/>
                      </m:rPr>
                      <a:rPr lang="fr-FR" sz="2000" dirty="0">
                        <a:latin typeface="Cambria Math" panose="02040503050406030204" pitchFamily="18" charset="0"/>
                      </a:rPr>
                      <m:t>utilit</m:t>
                    </m:r>
                    <m:r>
                      <m:rPr>
                        <m:nor/>
                      </m:rPr>
                      <a:rPr lang="fr-FR" sz="2000" dirty="0">
                        <a:latin typeface="Cambria Math" panose="02040503050406030204" pitchFamily="18" charset="0"/>
                      </a:rPr>
                      <m:t>é</m:t>
                    </m:r>
                    <m:r>
                      <a:rPr lang="fr-FR" sz="2000" i="1" dirty="0">
                        <a:latin typeface="Cambria Math" panose="02040503050406030204" pitchFamily="18" charset="0"/>
                      </a:rPr>
                      <m:t>(</m:t>
                    </m:r>
                    <m:r>
                      <a:rPr lang="fr-FR" sz="2000" i="1" dirty="0">
                        <a:latin typeface="Cambria Math" panose="02040503050406030204" pitchFamily="18" charset="0"/>
                      </a:rPr>
                      <m:t>𝑗𝑒𝑢</m:t>
                    </m:r>
                    <m:r>
                      <a:rPr lang="fr-FR" sz="2000" i="1" dirty="0">
                        <a:latin typeface="Cambria Math" panose="02040503050406030204" pitchFamily="18" charset="0"/>
                      </a:rPr>
                      <m:t>, </m:t>
                    </m:r>
                    <m:r>
                      <a:rPr lang="fr-FR" sz="2000" i="1" dirty="0">
                        <a:latin typeface="Cambria Math" panose="02040503050406030204" pitchFamily="18" charset="0"/>
                      </a:rPr>
                      <m:t>𝑝𝑜𝑠𝑖𝑡𝑖𝑜𝑛</m:t>
                    </m:r>
                    <m:r>
                      <a:rPr lang="fr-FR" sz="2000" i="1" dirty="0">
                        <a:latin typeface="Cambria Math" panose="02040503050406030204" pitchFamily="18" charset="0"/>
                      </a:rPr>
                      <m:t>, </m:t>
                    </m:r>
                    <m:r>
                      <a:rPr lang="fr-FR" sz="2000" i="1" dirty="0">
                        <a:latin typeface="Cambria Math" panose="02040503050406030204" pitchFamily="18" charset="0"/>
                      </a:rPr>
                      <m:t>𝑗𝑜𝑢𝑒𝑢𝑟</m:t>
                    </m:r>
                    <m:r>
                      <a:rPr lang="fr-FR" sz="2000" i="1" dirty="0">
                        <a:latin typeface="Cambria Math" panose="02040503050406030204" pitchFamily="18" charset="0"/>
                      </a:rPr>
                      <m:t>), </m:t>
                    </m:r>
                    <m:r>
                      <m:rPr>
                        <m:nor/>
                      </m:rPr>
                      <a:rPr lang="fr-FR" sz="2000" dirty="0">
                        <a:latin typeface="Cambria Math" panose="02040503050406030204" pitchFamily="18" charset="0"/>
                      </a:rPr>
                      <m:t>None</m:t>
                    </m:r>
                  </m:oMath>
                </a14:m>
                <a:endParaRPr lang="fr-FR" sz="2000" dirty="0"/>
              </a:p>
              <a:p>
                <a:r>
                  <a:rPr lang="fr-FR" sz="2000" dirty="0"/>
                  <a:t>	SINON SI </a:t>
                </a:r>
                <a14:m>
                  <m:oMath xmlns:m="http://schemas.openxmlformats.org/officeDocument/2006/math">
                    <m:r>
                      <a:rPr lang="fr-FR" sz="2000" i="1" dirty="0">
                        <a:latin typeface="Cambria Math" panose="02040503050406030204" pitchFamily="18" charset="0"/>
                      </a:rPr>
                      <m:t>𝑝𝑟𝑜𝑓𝑜𝑛𝑑𝑒𝑢𝑟</m:t>
                    </m:r>
                    <m:r>
                      <a:rPr lang="fr-FR" sz="2000" i="1" dirty="0">
                        <a:latin typeface="Cambria Math" panose="02040503050406030204" pitchFamily="18" charset="0"/>
                      </a:rPr>
                      <m:t>==0</m:t>
                    </m:r>
                  </m:oMath>
                </a14:m>
                <a:r>
                  <a:rPr lang="fr-FR" sz="2000" dirty="0"/>
                  <a:t> ALORS</a:t>
                </a:r>
              </a:p>
              <a:p>
                <a:r>
                  <a:rPr lang="fr-FR" sz="2000" dirty="0"/>
                  <a:t>		RETOURNER heuristique</a:t>
                </a:r>
                <a14:m>
                  <m:oMath xmlns:m="http://schemas.openxmlformats.org/officeDocument/2006/math">
                    <m:r>
                      <a:rPr lang="fr-FR" sz="2000" i="1" dirty="0">
                        <a:latin typeface="Cambria Math" panose="02040503050406030204" pitchFamily="18" charset="0"/>
                      </a:rPr>
                      <m:t>(</m:t>
                    </m:r>
                    <m:r>
                      <a:rPr lang="fr-FR" sz="2000" i="1" dirty="0">
                        <a:latin typeface="Cambria Math" panose="02040503050406030204" pitchFamily="18" charset="0"/>
                      </a:rPr>
                      <m:t>𝑗𝑒𝑢</m:t>
                    </m:r>
                    <m:r>
                      <a:rPr lang="fr-FR" sz="2000" i="1" dirty="0">
                        <a:latin typeface="Cambria Math" panose="02040503050406030204" pitchFamily="18" charset="0"/>
                      </a:rPr>
                      <m:t>, </m:t>
                    </m:r>
                    <m:r>
                      <a:rPr lang="fr-FR" sz="2000" i="1" dirty="0">
                        <a:latin typeface="Cambria Math" panose="02040503050406030204" pitchFamily="18" charset="0"/>
                      </a:rPr>
                      <m:t>𝑝𝑜𝑠𝑖𝑡𝑖𝑜𝑛</m:t>
                    </m:r>
                    <m:r>
                      <a:rPr lang="fr-FR" sz="2000" i="1" dirty="0">
                        <a:latin typeface="Cambria Math" panose="02040503050406030204" pitchFamily="18" charset="0"/>
                      </a:rPr>
                      <m:t>, </m:t>
                    </m:r>
                    <m:r>
                      <a:rPr lang="fr-FR" sz="2000" i="1" dirty="0">
                        <a:latin typeface="Cambria Math" panose="02040503050406030204" pitchFamily="18" charset="0"/>
                      </a:rPr>
                      <m:t>𝑗𝑜𝑢𝑒𝑢𝑟</m:t>
                    </m:r>
                    <m:r>
                      <a:rPr lang="fr-FR" sz="2000" i="1" dirty="0">
                        <a:latin typeface="Cambria Math" panose="02040503050406030204" pitchFamily="18" charset="0"/>
                      </a:rPr>
                      <m:t>)</m:t>
                    </m:r>
                  </m:oMath>
                </a14:m>
                <a:endParaRPr lang="fr-FR" sz="2000" dirty="0"/>
              </a:p>
              <a:p>
                <a:endParaRPr lang="fr-FR" sz="2400" dirty="0"/>
              </a:p>
            </p:txBody>
          </p:sp>
        </mc:Choice>
        <mc:Fallback xmlns="">
          <p:sp>
            <p:nvSpPr>
              <p:cNvPr id="3" name="ZoneTexte 2">
                <a:extLst>
                  <a:ext uri="{FF2B5EF4-FFF2-40B4-BE49-F238E27FC236}">
                    <a16:creationId xmlns:a16="http://schemas.microsoft.com/office/drawing/2014/main" id="{2D5CF3DA-2E49-E45F-07C1-F9CAB0847D0E}"/>
                  </a:ext>
                </a:extLst>
              </p:cNvPr>
              <p:cNvSpPr txBox="1">
                <a:spLocks noRot="1" noChangeAspect="1" noMove="1" noResize="1" noEditPoints="1" noAdjustHandles="1" noChangeArrowheads="1" noChangeShapeType="1" noTextEdit="1"/>
              </p:cNvSpPr>
              <p:nvPr/>
            </p:nvSpPr>
            <p:spPr>
              <a:xfrm>
                <a:off x="844826" y="1431230"/>
                <a:ext cx="10525539" cy="3108543"/>
              </a:xfrm>
              <a:prstGeom prst="rect">
                <a:avLst/>
              </a:prstGeom>
              <a:blipFill>
                <a:blip r:embed="rId3"/>
                <a:stretch>
                  <a:fillRect l="-843" t="-1626"/>
                </a:stretch>
              </a:blipFill>
            </p:spPr>
            <p:txBody>
              <a:bodyPr/>
              <a:lstStyle/>
              <a:p>
                <a:r>
                  <a:rPr lang="fr-FR">
                    <a:noFill/>
                  </a:rPr>
                  <a:t> </a:t>
                </a:r>
              </a:p>
            </p:txBody>
          </p:sp>
        </mc:Fallback>
      </mc:AlternateContent>
    </p:spTree>
    <p:extLst>
      <p:ext uri="{BB962C8B-B14F-4D97-AF65-F5344CB8AC3E}">
        <p14:creationId xmlns:p14="http://schemas.microsoft.com/office/powerpoint/2010/main" val="5996363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B2DE3-D355-8A63-7DC4-937FF69BFF5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6F55046-FA96-0DD5-0D89-504896C2EDCE}"/>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5EE786F7-7B2A-7252-B2A1-9C5BCE6F917D}"/>
                  </a:ext>
                </a:extLst>
              </p:cNvPr>
              <p:cNvSpPr txBox="1"/>
              <p:nvPr/>
            </p:nvSpPr>
            <p:spPr>
              <a:xfrm>
                <a:off x="844826" y="1431230"/>
                <a:ext cx="11189130" cy="5139869"/>
              </a:xfrm>
              <a:prstGeom prst="rect">
                <a:avLst/>
              </a:prstGeom>
              <a:noFill/>
            </p:spPr>
            <p:txBody>
              <a:bodyPr wrap="square" rtlCol="0">
                <a:spAutoFit/>
              </a:bodyPr>
              <a:lstStyle/>
              <a:p>
                <a:r>
                  <a:rPr lang="fr-FR" sz="2400" b="1" dirty="0"/>
                  <a:t>Élagage alpha / bêta : pseudo-code (suite)</a:t>
                </a:r>
              </a:p>
              <a:p>
                <a:endParaRPr lang="fr-FR" sz="2400" dirty="0"/>
              </a:p>
              <a:p>
                <a:pPr lvl="0"/>
                <a:r>
                  <a:rPr lang="fr-FR" sz="2000" dirty="0">
                    <a:solidFill>
                      <a:prstClr val="black"/>
                    </a:solidFill>
                  </a:rPr>
                  <a:t>SINON SI </a:t>
                </a:r>
                <a14:m>
                  <m:oMath xmlns:m="http://schemas.openxmlformats.org/officeDocument/2006/math">
                    <m:r>
                      <a:rPr lang="fr-FR" sz="2000" i="1" dirty="0">
                        <a:solidFill>
                          <a:prstClr val="black"/>
                        </a:solidFill>
                        <a:latin typeface="Cambria Math" panose="02040503050406030204" pitchFamily="18" charset="0"/>
                      </a:rPr>
                      <m:t>𝑗𝑜𝑢𝑒𝑢𝑟</m:t>
                    </m:r>
                    <m:r>
                      <a:rPr lang="fr-FR" sz="2000" i="1" dirty="0">
                        <a:solidFill>
                          <a:prstClr val="black"/>
                        </a:solidFill>
                        <a:latin typeface="Cambria Math" panose="02040503050406030204" pitchFamily="18" charset="0"/>
                      </a:rPr>
                      <m:t>==1</m:t>
                    </m:r>
                  </m:oMath>
                </a14:m>
                <a:r>
                  <a:rPr lang="fr-FR" sz="2000" dirty="0">
                    <a:solidFill>
                      <a:prstClr val="black"/>
                    </a:solidFill>
                  </a:rPr>
                  <a:t> ALORS</a:t>
                </a: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𝑣𝑎𝑙𝑒𝑢𝑟𝑀𝑎𝑥𝑖</m:t>
                    </m:r>
                    <m:r>
                      <a:rPr lang="fr-FR" sz="2000" i="1" dirty="0">
                        <a:solidFill>
                          <a:prstClr val="black"/>
                        </a:solidFill>
                        <a:latin typeface="Cambria Math" panose="02040503050406030204" pitchFamily="18" charset="0"/>
                        <a:ea typeface="Cambria Math" panose="02040503050406030204" pitchFamily="18" charset="0"/>
                      </a:rPr>
                      <m:t>←</m:t>
                    </m:r>
                    <m:r>
                      <a:rPr lang="fr-FR" sz="2000" i="1" dirty="0">
                        <a:solidFill>
                          <a:prstClr val="black"/>
                        </a:solidFill>
                        <a:latin typeface="Cambria Math" panose="02040503050406030204" pitchFamily="18" charset="0"/>
                      </a:rPr>
                      <m:t>−∞</m:t>
                    </m:r>
                  </m:oMath>
                </a14:m>
                <a:r>
                  <a:rPr lang="fr-FR" sz="2000" dirty="0">
                    <a:solidFill>
                      <a:prstClr val="black"/>
                    </a:solidFill>
                  </a:rPr>
                  <a:t> </a:t>
                </a: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𝑐𝑜𝑢𝑝𝑀𝑎𝑥𝑖</m:t>
                    </m:r>
                    <m:r>
                      <a:rPr lang="fr-FR" sz="2000" i="1" dirty="0">
                        <a:solidFill>
                          <a:prstClr val="black"/>
                        </a:solidFill>
                        <a:latin typeface="Cambria Math" panose="02040503050406030204" pitchFamily="18" charset="0"/>
                        <a:ea typeface="Cambria Math" panose="02040503050406030204" pitchFamily="18" charset="0"/>
                      </a:rPr>
                      <m:t>←</m:t>
                    </m:r>
                    <m:r>
                      <m:rPr>
                        <m:nor/>
                      </m:rPr>
                      <a:rPr lang="fr-FR" sz="2000" dirty="0">
                        <a:solidFill>
                          <a:prstClr val="black"/>
                        </a:solidFill>
                        <a:latin typeface="Cambria Math" panose="02040503050406030204" pitchFamily="18" charset="0"/>
                        <a:ea typeface="Cambria Math" panose="02040503050406030204" pitchFamily="18" charset="0"/>
                      </a:rPr>
                      <m:t>None</m:t>
                    </m:r>
                    <m:r>
                      <a:rPr lang="fr-FR" sz="2000" i="1" dirty="0">
                        <a:solidFill>
                          <a:prstClr val="black"/>
                        </a:solidFill>
                        <a:latin typeface="Cambria Math" panose="02040503050406030204" pitchFamily="18" charset="0"/>
                      </a:rPr>
                      <m:t> </m:t>
                    </m:r>
                  </m:oMath>
                </a14:m>
                <a:endParaRPr lang="fr-FR" sz="2000" dirty="0">
                  <a:solidFill>
                    <a:prstClr val="black"/>
                  </a:solidFill>
                </a:endParaRPr>
              </a:p>
              <a:p>
                <a:pPr lvl="0"/>
                <a:r>
                  <a:rPr lang="fr-FR" sz="2000" dirty="0">
                    <a:solidFill>
                      <a:prstClr val="black"/>
                    </a:solidFill>
                  </a:rPr>
                  <a:t>	POUR TOUT </a:t>
                </a:r>
                <a14:m>
                  <m:oMath xmlns:m="http://schemas.openxmlformats.org/officeDocument/2006/math">
                    <m:r>
                      <a:rPr lang="fr-FR" sz="2000" i="1" dirty="0">
                        <a:solidFill>
                          <a:prstClr val="black"/>
                        </a:solidFill>
                        <a:latin typeface="Cambria Math" panose="02040503050406030204" pitchFamily="18" charset="0"/>
                      </a:rPr>
                      <m:t>𝑐𝑜𝑢𝑝</m:t>
                    </m:r>
                  </m:oMath>
                </a14:m>
                <a:r>
                  <a:rPr lang="fr-FR" sz="2000" dirty="0">
                    <a:solidFill>
                      <a:prstClr val="black"/>
                    </a:solidFill>
                  </a:rPr>
                  <a:t> possible par </a:t>
                </a:r>
                <a14:m>
                  <m:oMath xmlns:m="http://schemas.openxmlformats.org/officeDocument/2006/math">
                    <m:r>
                      <a:rPr lang="fr-FR" sz="2000" i="1">
                        <a:solidFill>
                          <a:prstClr val="black"/>
                        </a:solidFill>
                        <a:latin typeface="Cambria Math" panose="02040503050406030204" pitchFamily="18" charset="0"/>
                      </a:rPr>
                      <m:t>𝑗𝑜𝑢𝑒𝑢𝑟</m:t>
                    </m:r>
                  </m:oMath>
                </a14:m>
                <a:r>
                  <a:rPr lang="fr-FR" sz="2000" dirty="0">
                    <a:solidFill>
                      <a:prstClr val="black"/>
                    </a:solidFill>
                  </a:rPr>
                  <a:t> depuis </a:t>
                </a:r>
                <a14:m>
                  <m:oMath xmlns:m="http://schemas.openxmlformats.org/officeDocument/2006/math">
                    <m:r>
                      <a:rPr lang="fr-FR" sz="2000" i="1">
                        <a:solidFill>
                          <a:prstClr val="black"/>
                        </a:solidFill>
                        <a:latin typeface="Cambria Math" panose="02040503050406030204" pitchFamily="18" charset="0"/>
                      </a:rPr>
                      <m:t>𝑝𝑜𝑠𝑖𝑡𝑖𝑜𝑛</m:t>
                    </m:r>
                  </m:oMath>
                </a14:m>
                <a:r>
                  <a:rPr lang="fr-FR" sz="2000" dirty="0">
                    <a:solidFill>
                      <a:prstClr val="black"/>
                    </a:solidFill>
                  </a:rPr>
                  <a:t> FAIRE</a:t>
                </a: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𝑝𝑜𝑠𝑖𝑡𝑖𝑜𝑛𝑁𝑜𝑢𝑣𝑒𝑙𝑙𝑒</m:t>
                    </m:r>
                    <m:r>
                      <a:rPr lang="fr-FR" sz="2000" i="1" dirty="0">
                        <a:solidFill>
                          <a:prstClr val="black"/>
                        </a:solidFill>
                        <a:latin typeface="Cambria Math" panose="02040503050406030204" pitchFamily="18" charset="0"/>
                        <a:ea typeface="Cambria Math" panose="02040503050406030204" pitchFamily="18" charset="0"/>
                      </a:rPr>
                      <m:t>←</m:t>
                    </m:r>
                    <m:r>
                      <m:rPr>
                        <m:nor/>
                      </m:rPr>
                      <a:rPr lang="fr-FR" sz="2000" dirty="0" err="1">
                        <a:solidFill>
                          <a:prstClr val="black"/>
                        </a:solidFill>
                        <a:latin typeface="Cambria Math" panose="02040503050406030204" pitchFamily="18" charset="0"/>
                      </a:rPr>
                      <m:t>joueCoup</m:t>
                    </m:r>
                    <m:r>
                      <a:rPr lang="fr-FR" sz="2000" i="1" dirty="0">
                        <a:solidFill>
                          <a:prstClr val="black"/>
                        </a:solidFill>
                        <a:latin typeface="Cambria Math" panose="02040503050406030204" pitchFamily="18" charset="0"/>
                      </a:rPr>
                      <m:t>(</m:t>
                    </m:r>
                    <m:r>
                      <a:rPr lang="fr-FR" sz="2000" i="1" dirty="0">
                        <a:solidFill>
                          <a:prstClr val="black"/>
                        </a:solidFill>
                        <a:latin typeface="Cambria Math" panose="02040503050406030204" pitchFamily="18" charset="0"/>
                      </a:rPr>
                      <m:t>𝑗𝑒𝑢</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𝑝𝑜𝑠𝑖𝑡𝑖𝑜𝑛</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𝑗𝑜𝑢𝑒𝑢𝑟</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𝑐𝑜𝑢𝑝</m:t>
                    </m:r>
                    <m:r>
                      <a:rPr lang="fr-FR" sz="2000" i="1" dirty="0">
                        <a:solidFill>
                          <a:prstClr val="black"/>
                        </a:solidFill>
                        <a:latin typeface="Cambria Math" panose="02040503050406030204" pitchFamily="18" charset="0"/>
                      </a:rPr>
                      <m:t>)</m:t>
                    </m:r>
                  </m:oMath>
                </a14:m>
                <a:endParaRPr lang="fr-FR" sz="2000" dirty="0">
                  <a:solidFill>
                    <a:prstClr val="black"/>
                  </a:solidFill>
                </a:endParaRP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𝑣𝑎𝑙𝑒𝑢𝑟</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𝑐𝑜𝑢𝑝</m:t>
                    </m:r>
                    <m:r>
                      <a:rPr lang="fr-FR" sz="2000" i="1" dirty="0">
                        <a:solidFill>
                          <a:prstClr val="black"/>
                        </a:solidFill>
                        <a:latin typeface="Cambria Math" panose="02040503050406030204" pitchFamily="18" charset="0"/>
                        <a:ea typeface="Cambria Math" panose="02040503050406030204" pitchFamily="18" charset="0"/>
                      </a:rPr>
                      <m:t>←</m:t>
                    </m:r>
                    <m:r>
                      <m:rPr>
                        <m:nor/>
                      </m:rPr>
                      <a:rPr lang="fr-FR" sz="2000" dirty="0" err="1">
                        <a:solidFill>
                          <a:prstClr val="black"/>
                        </a:solidFill>
                        <a:latin typeface="Cambria Math" panose="02040503050406030204" pitchFamily="18" charset="0"/>
                      </a:rPr>
                      <m:t>minMax</m:t>
                    </m:r>
                    <m:r>
                      <a:rPr lang="fr-FR" sz="2000" i="1" dirty="0">
                        <a:solidFill>
                          <a:prstClr val="black"/>
                        </a:solidFill>
                        <a:latin typeface="Cambria Math" panose="02040503050406030204" pitchFamily="18" charset="0"/>
                      </a:rPr>
                      <m:t>(</m:t>
                    </m:r>
                    <m:r>
                      <a:rPr lang="fr-FR" sz="2000" i="1" dirty="0">
                        <a:solidFill>
                          <a:prstClr val="black"/>
                        </a:solidFill>
                        <a:latin typeface="Cambria Math" panose="02040503050406030204" pitchFamily="18" charset="0"/>
                      </a:rPr>
                      <m:t>𝑗𝑒𝑢</m:t>
                    </m:r>
                    <m:r>
                      <a:rPr lang="fr-FR" sz="2000" i="1" dirty="0">
                        <a:solidFill>
                          <a:prstClr val="black"/>
                        </a:solidFill>
                        <a:latin typeface="Cambria Math" panose="02040503050406030204" pitchFamily="18" charset="0"/>
                      </a:rPr>
                      <m:t>, </m:t>
                    </m:r>
                    <m:r>
                      <a:rPr lang="fr-FR" sz="2000" i="1" dirty="0" err="1">
                        <a:solidFill>
                          <a:prstClr val="black"/>
                        </a:solidFill>
                        <a:latin typeface="Cambria Math" panose="02040503050406030204" pitchFamily="18" charset="0"/>
                      </a:rPr>
                      <m:t>𝑝𝑜𝑠𝑖𝑡𝑖𝑜𝑛𝑁𝑜𝑢𝑣𝑒𝑙𝑙𝑒</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𝑎𝑑𝑣𝑒𝑟𝑠𝑎𝑖𝑟𝑒</m:t>
                    </m:r>
                    <m:r>
                      <a:rPr lang="fr-FR" sz="2000" i="1" dirty="0">
                        <a:solidFill>
                          <a:prstClr val="black"/>
                        </a:solidFill>
                        <a:latin typeface="Cambria Math" panose="02040503050406030204" pitchFamily="18" charset="0"/>
                      </a:rPr>
                      <m:t>,</m:t>
                    </m:r>
                    <m:r>
                      <a:rPr lang="fr-FR" sz="2000" i="1" dirty="0">
                        <a:solidFill>
                          <a:prstClr val="black"/>
                        </a:solidFill>
                        <a:latin typeface="Cambria Math" panose="02040503050406030204" pitchFamily="18" charset="0"/>
                      </a:rPr>
                      <m:t>𝑝𝑟𝑜𝑓𝑜𝑛𝑑𝑒𝑢𝑟</m:t>
                    </m:r>
                    <m:r>
                      <a:rPr lang="fr-FR" sz="2000" i="1" dirty="0">
                        <a:solidFill>
                          <a:prstClr val="black"/>
                        </a:solidFill>
                        <a:latin typeface="Cambria Math" panose="02040503050406030204" pitchFamily="18" charset="0"/>
                      </a:rPr>
                      <m:t>−1</m:t>
                    </m:r>
                  </m:oMath>
                </a14:m>
                <a:br>
                  <a:rPr lang="fr-FR" sz="2000" i="1" dirty="0">
                    <a:solidFill>
                      <a:prstClr val="black"/>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fr-FR" sz="2000" b="0" i="1" dirty="0" smtClean="0">
                          <a:solidFill>
                            <a:prstClr val="black"/>
                          </a:solidFill>
                          <a:latin typeface="Cambria Math" panose="02040503050406030204" pitchFamily="18" charset="0"/>
                        </a:rPr>
                        <m:t>𝑎𝑙𝑝h𝑎</m:t>
                      </m:r>
                      <m:r>
                        <a:rPr lang="fr-FR" sz="2000" b="0" i="1" dirty="0" smtClean="0">
                          <a:solidFill>
                            <a:prstClr val="black"/>
                          </a:solidFill>
                          <a:latin typeface="Cambria Math" panose="02040503050406030204" pitchFamily="18" charset="0"/>
                        </a:rPr>
                        <m:t>,</m:t>
                      </m:r>
                      <m:r>
                        <a:rPr lang="fr-FR" sz="2000" b="0" i="1" dirty="0" smtClean="0">
                          <a:solidFill>
                            <a:prstClr val="black"/>
                          </a:solidFill>
                          <a:latin typeface="Cambria Math" panose="02040503050406030204" pitchFamily="18" charset="0"/>
                        </a:rPr>
                        <m:t>𝑏</m:t>
                      </m:r>
                      <m:r>
                        <a:rPr lang="fr-FR" sz="2000" i="1" dirty="0">
                          <a:solidFill>
                            <a:prstClr val="black"/>
                          </a:solidFill>
                          <a:latin typeface="Cambria Math" panose="02040503050406030204" pitchFamily="18" charset="0"/>
                        </a:rPr>
                        <m:t>ê</m:t>
                      </m:r>
                      <m:r>
                        <a:rPr lang="fr-FR" sz="2000" b="0" i="1" dirty="0" smtClean="0">
                          <a:solidFill>
                            <a:prstClr val="black"/>
                          </a:solidFill>
                          <a:latin typeface="Cambria Math" panose="02040503050406030204" pitchFamily="18" charset="0"/>
                        </a:rPr>
                        <m:t>𝑡𝑎</m:t>
                      </m:r>
                      <m:r>
                        <a:rPr lang="fr-FR" sz="2000" i="1" dirty="0">
                          <a:solidFill>
                            <a:prstClr val="black"/>
                          </a:solidFill>
                          <a:latin typeface="Cambria Math" panose="02040503050406030204" pitchFamily="18" charset="0"/>
                        </a:rPr>
                        <m:t>)</m:t>
                      </m:r>
                    </m:oMath>
                  </m:oMathPara>
                </a14:m>
                <a:endParaRPr lang="fr-FR" sz="2000" dirty="0">
                  <a:solidFill>
                    <a:prstClr val="black"/>
                  </a:solidFill>
                </a:endParaRPr>
              </a:p>
              <a:p>
                <a:pPr lvl="0"/>
                <a:r>
                  <a:rPr lang="fr-FR" sz="2000" dirty="0">
                    <a:solidFill>
                      <a:prstClr val="black"/>
                    </a:solidFill>
                  </a:rPr>
                  <a:t>		SI </a:t>
                </a:r>
                <a14:m>
                  <m:oMath xmlns:m="http://schemas.openxmlformats.org/officeDocument/2006/math">
                    <m:r>
                      <a:rPr lang="fr-FR" sz="2000" i="1" dirty="0">
                        <a:solidFill>
                          <a:prstClr val="black"/>
                        </a:solidFill>
                        <a:latin typeface="Cambria Math" panose="02040503050406030204" pitchFamily="18" charset="0"/>
                      </a:rPr>
                      <m:t>𝑣𝑎𝑙𝑒𝑢𝑟</m:t>
                    </m:r>
                    <m:r>
                      <a:rPr lang="fr-FR" sz="2000" i="1" dirty="0">
                        <a:solidFill>
                          <a:prstClr val="black"/>
                        </a:solidFill>
                        <a:latin typeface="Cambria Math" panose="02040503050406030204" pitchFamily="18" charset="0"/>
                      </a:rPr>
                      <m:t>&gt;</m:t>
                    </m:r>
                    <m:r>
                      <a:rPr lang="fr-FR" sz="2000" i="1" dirty="0">
                        <a:solidFill>
                          <a:prstClr val="black"/>
                        </a:solidFill>
                        <a:latin typeface="Cambria Math" panose="02040503050406030204" pitchFamily="18" charset="0"/>
                      </a:rPr>
                      <m:t>𝑣𝑎𝑙𝑒𝑢𝑟𝑀𝑎𝑥𝑖</m:t>
                    </m:r>
                  </m:oMath>
                </a14:m>
                <a:r>
                  <a:rPr lang="fr-FR" sz="2000" dirty="0">
                    <a:solidFill>
                      <a:prstClr val="black"/>
                    </a:solidFill>
                  </a:rPr>
                  <a:t> ALORS</a:t>
                </a: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𝑣𝑎𝑙𝑒𝑢𝑟𝑀𝑎𝑥𝑖</m:t>
                    </m:r>
                    <m:r>
                      <a:rPr lang="fr-FR" sz="2000" i="1" dirty="0">
                        <a:solidFill>
                          <a:prstClr val="black"/>
                        </a:solidFill>
                        <a:latin typeface="Cambria Math" panose="02040503050406030204" pitchFamily="18" charset="0"/>
                        <a:ea typeface="Cambria Math" panose="02040503050406030204" pitchFamily="18" charset="0"/>
                      </a:rPr>
                      <m:t>←</m:t>
                    </m:r>
                    <m:r>
                      <a:rPr lang="fr-FR" sz="2000" i="1" dirty="0">
                        <a:solidFill>
                          <a:prstClr val="black"/>
                        </a:solidFill>
                        <a:latin typeface="Cambria Math" panose="02040503050406030204" pitchFamily="18" charset="0"/>
                      </a:rPr>
                      <m:t>𝑣𝑎𝑙𝑒𝑢𝑟</m:t>
                    </m:r>
                  </m:oMath>
                </a14:m>
                <a:endParaRPr lang="fr-FR" sz="2000" dirty="0">
                  <a:solidFill>
                    <a:prstClr val="black"/>
                  </a:solidFill>
                </a:endParaRP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𝑐𝑜𝑢𝑝𝑀𝑎𝑥𝑖</m:t>
                    </m:r>
                    <m:r>
                      <a:rPr lang="fr-FR" sz="2000" i="1" dirty="0">
                        <a:solidFill>
                          <a:prstClr val="black"/>
                        </a:solidFill>
                        <a:latin typeface="Cambria Math" panose="02040503050406030204" pitchFamily="18" charset="0"/>
                        <a:ea typeface="Cambria Math" panose="02040503050406030204" pitchFamily="18" charset="0"/>
                      </a:rPr>
                      <m:t>←</m:t>
                    </m:r>
                    <m:r>
                      <a:rPr lang="fr-FR" sz="2000" i="1" dirty="0">
                        <a:solidFill>
                          <a:prstClr val="black"/>
                        </a:solidFill>
                        <a:latin typeface="Cambria Math" panose="02040503050406030204" pitchFamily="18" charset="0"/>
                      </a:rPr>
                      <m:t>𝑐𝑜𝑢𝑝</m:t>
                    </m:r>
                  </m:oMath>
                </a14:m>
                <a:endParaRPr lang="fr-FR" sz="2000" dirty="0">
                  <a:solidFill>
                    <a:prstClr val="black"/>
                  </a:solidFill>
                </a:endParaRPr>
              </a:p>
              <a:p>
                <a:pPr lvl="0"/>
                <a:r>
                  <a:rPr lang="fr-FR" sz="2000" dirty="0">
                    <a:solidFill>
                      <a:prstClr val="black"/>
                    </a:solidFill>
                  </a:rPr>
                  <a:t>			</a:t>
                </a:r>
                <a14:m>
                  <m:oMath xmlns:m="http://schemas.openxmlformats.org/officeDocument/2006/math">
                    <m:r>
                      <a:rPr lang="fr-FR" sz="2000" b="0" i="1" smtClean="0">
                        <a:solidFill>
                          <a:prstClr val="black"/>
                        </a:solidFill>
                        <a:latin typeface="Cambria Math" panose="02040503050406030204" pitchFamily="18" charset="0"/>
                      </a:rPr>
                      <m:t>𝑎𝑙𝑝h𝑎</m:t>
                    </m:r>
                    <m:r>
                      <a:rPr lang="fr-FR" sz="2000" b="0" i="1" smtClean="0">
                        <a:solidFill>
                          <a:prstClr val="black"/>
                        </a:solidFill>
                        <a:latin typeface="Cambria Math" panose="02040503050406030204" pitchFamily="18" charset="0"/>
                        <a:ea typeface="Cambria Math" panose="02040503050406030204" pitchFamily="18" charset="0"/>
                      </a:rPr>
                      <m:t>←</m:t>
                    </m:r>
                    <m:func>
                      <m:funcPr>
                        <m:ctrlPr>
                          <a:rPr lang="fr-FR" sz="2000" b="0" i="1" smtClean="0">
                            <a:solidFill>
                              <a:prstClr val="black"/>
                            </a:solidFill>
                            <a:latin typeface="Cambria Math" panose="02040503050406030204" pitchFamily="18" charset="0"/>
                            <a:ea typeface="Cambria Math" panose="02040503050406030204" pitchFamily="18" charset="0"/>
                          </a:rPr>
                        </m:ctrlPr>
                      </m:funcPr>
                      <m:fName>
                        <m:r>
                          <m:rPr>
                            <m:sty m:val="p"/>
                          </m:rPr>
                          <a:rPr lang="fr-FR" sz="2000" b="0" i="0" smtClean="0">
                            <a:solidFill>
                              <a:prstClr val="black"/>
                            </a:solidFill>
                            <a:latin typeface="Cambria Math" panose="02040503050406030204" pitchFamily="18" charset="0"/>
                            <a:ea typeface="Cambria Math" panose="02040503050406030204" pitchFamily="18" charset="0"/>
                          </a:rPr>
                          <m:t>max</m:t>
                        </m:r>
                      </m:fName>
                      <m:e>
                        <m:d>
                          <m:dPr>
                            <m:ctrlPr>
                              <a:rPr lang="fr-FR" sz="2000" b="0" i="1" smtClean="0">
                                <a:solidFill>
                                  <a:prstClr val="black"/>
                                </a:solidFill>
                                <a:latin typeface="Cambria Math" panose="02040503050406030204" pitchFamily="18" charset="0"/>
                                <a:ea typeface="Cambria Math" panose="02040503050406030204" pitchFamily="18" charset="0"/>
                              </a:rPr>
                            </m:ctrlPr>
                          </m:dPr>
                          <m:e>
                            <m:r>
                              <a:rPr lang="fr-FR" sz="2000" b="0" i="1" smtClean="0">
                                <a:solidFill>
                                  <a:prstClr val="black"/>
                                </a:solidFill>
                                <a:latin typeface="Cambria Math" panose="02040503050406030204" pitchFamily="18" charset="0"/>
                                <a:ea typeface="Cambria Math" panose="02040503050406030204" pitchFamily="18" charset="0"/>
                              </a:rPr>
                              <m:t>𝑎𝑙𝑝h𝑎</m:t>
                            </m:r>
                            <m:r>
                              <a:rPr lang="fr-FR" sz="2000" b="0" i="1" smtClean="0">
                                <a:solidFill>
                                  <a:prstClr val="black"/>
                                </a:solidFill>
                                <a:latin typeface="Cambria Math" panose="02040503050406030204" pitchFamily="18" charset="0"/>
                                <a:ea typeface="Cambria Math" panose="02040503050406030204" pitchFamily="18" charset="0"/>
                              </a:rPr>
                              <m:t>,</m:t>
                            </m:r>
                            <m:r>
                              <a:rPr lang="fr-FR" sz="2000" b="0" i="1" smtClean="0">
                                <a:solidFill>
                                  <a:prstClr val="black"/>
                                </a:solidFill>
                                <a:latin typeface="Cambria Math" panose="02040503050406030204" pitchFamily="18" charset="0"/>
                                <a:ea typeface="Cambria Math" panose="02040503050406030204" pitchFamily="18" charset="0"/>
                              </a:rPr>
                              <m:t>𝑣𝑎𝑙𝑒𝑢𝑟</m:t>
                            </m:r>
                          </m:e>
                        </m:d>
                      </m:e>
                    </m:func>
                  </m:oMath>
                </a14:m>
                <a:endParaRPr lang="fr-FR" sz="2000" b="0" dirty="0">
                  <a:solidFill>
                    <a:prstClr val="black"/>
                  </a:solidFill>
                  <a:ea typeface="Cambria Math" panose="02040503050406030204" pitchFamily="18" charset="0"/>
                </a:endParaRPr>
              </a:p>
              <a:p>
                <a:pPr lvl="0"/>
                <a:r>
                  <a:rPr lang="fr-FR" sz="2000" dirty="0">
                    <a:solidFill>
                      <a:prstClr val="black"/>
                    </a:solidFill>
                  </a:rPr>
                  <a:t>		SI </a:t>
                </a:r>
                <a14:m>
                  <m:oMath xmlns:m="http://schemas.openxmlformats.org/officeDocument/2006/math">
                    <m:r>
                      <a:rPr lang="fr-FR" sz="2000" b="0" i="1" smtClean="0">
                        <a:solidFill>
                          <a:prstClr val="black"/>
                        </a:solidFill>
                        <a:latin typeface="Cambria Math" panose="02040503050406030204" pitchFamily="18" charset="0"/>
                      </a:rPr>
                      <m:t>𝑣𝑎𝑙𝑒𝑢𝑟</m:t>
                    </m:r>
                    <m:r>
                      <a:rPr lang="fr-FR" sz="2000" b="0" i="1" smtClean="0">
                        <a:solidFill>
                          <a:prstClr val="black"/>
                        </a:solidFill>
                        <a:latin typeface="Cambria Math" panose="02040503050406030204" pitchFamily="18" charset="0"/>
                      </a:rPr>
                      <m:t>≥</m:t>
                    </m:r>
                    <m:r>
                      <a:rPr lang="fr-FR" sz="2000" b="0" i="1" smtClean="0">
                        <a:solidFill>
                          <a:prstClr val="black"/>
                        </a:solidFill>
                        <a:latin typeface="Cambria Math" panose="02040503050406030204" pitchFamily="18" charset="0"/>
                      </a:rPr>
                      <m:t>𝑏</m:t>
                    </m:r>
                    <m:r>
                      <a:rPr lang="fr-FR" sz="2000" i="1">
                        <a:solidFill>
                          <a:prstClr val="black"/>
                        </a:solidFill>
                        <a:latin typeface="Cambria Math" panose="02040503050406030204" pitchFamily="18" charset="0"/>
                      </a:rPr>
                      <m:t>ê</m:t>
                    </m:r>
                    <m:r>
                      <a:rPr lang="fr-FR" sz="2000" b="0" i="1" smtClean="0">
                        <a:solidFill>
                          <a:prstClr val="black"/>
                        </a:solidFill>
                        <a:latin typeface="Cambria Math" panose="02040503050406030204" pitchFamily="18" charset="0"/>
                      </a:rPr>
                      <m:t>𝑡𝑎</m:t>
                    </m:r>
                  </m:oMath>
                </a14:m>
                <a:r>
                  <a:rPr lang="fr-FR" sz="2000" b="0" dirty="0">
                    <a:solidFill>
                      <a:prstClr val="black"/>
                    </a:solidFill>
                  </a:rPr>
                  <a:t> ALORS</a:t>
                </a:r>
              </a:p>
              <a:p>
                <a:pPr lvl="0"/>
                <a:r>
                  <a:rPr lang="fr-FR" sz="2000" dirty="0">
                    <a:solidFill>
                      <a:prstClr val="black"/>
                    </a:solidFill>
                  </a:rPr>
                  <a:t>			RETOURNER </a:t>
                </a:r>
                <a14:m>
                  <m:oMath xmlns:m="http://schemas.openxmlformats.org/officeDocument/2006/math">
                    <m:r>
                      <a:rPr lang="fr-FR" sz="2000" i="1" dirty="0">
                        <a:solidFill>
                          <a:prstClr val="black"/>
                        </a:solidFill>
                        <a:latin typeface="Cambria Math" panose="02040503050406030204" pitchFamily="18" charset="0"/>
                      </a:rPr>
                      <m:t>𝑣𝑎𝑙𝑒𝑢𝑟𝑀𝑎𝑥𝑖</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𝑐𝑜𝑢𝑝𝑀𝑎𝑥𝑖</m:t>
                    </m:r>
                  </m:oMath>
                </a14:m>
                <a:endParaRPr lang="fr-FR" sz="2000" dirty="0">
                  <a:solidFill>
                    <a:prstClr val="black"/>
                  </a:solidFill>
                </a:endParaRPr>
              </a:p>
              <a:p>
                <a:pPr lvl="0"/>
                <a:r>
                  <a:rPr lang="fr-FR" sz="2000" dirty="0">
                    <a:solidFill>
                      <a:prstClr val="black"/>
                    </a:solidFill>
                  </a:rPr>
                  <a:t>	RETOURNER </a:t>
                </a:r>
                <a14:m>
                  <m:oMath xmlns:m="http://schemas.openxmlformats.org/officeDocument/2006/math">
                    <m:r>
                      <a:rPr lang="fr-FR" sz="2000" i="1" dirty="0">
                        <a:solidFill>
                          <a:prstClr val="black"/>
                        </a:solidFill>
                        <a:latin typeface="Cambria Math" panose="02040503050406030204" pitchFamily="18" charset="0"/>
                      </a:rPr>
                      <m:t>𝑣𝑎𝑙𝑒𝑢𝑟𝑀𝑎𝑥𝑖</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𝑐𝑜𝑢𝑝𝑀𝑎𝑥𝑖</m:t>
                    </m:r>
                  </m:oMath>
                </a14:m>
                <a:endParaRPr lang="fr-FR" sz="2400" dirty="0"/>
              </a:p>
            </p:txBody>
          </p:sp>
        </mc:Choice>
        <mc:Fallback xmlns="">
          <p:sp>
            <p:nvSpPr>
              <p:cNvPr id="3" name="ZoneTexte 2">
                <a:extLst>
                  <a:ext uri="{FF2B5EF4-FFF2-40B4-BE49-F238E27FC236}">
                    <a16:creationId xmlns:a16="http://schemas.microsoft.com/office/drawing/2014/main" id="{5EE786F7-7B2A-7252-B2A1-9C5BCE6F917D}"/>
                  </a:ext>
                </a:extLst>
              </p:cNvPr>
              <p:cNvSpPr txBox="1">
                <a:spLocks noRot="1" noChangeAspect="1" noMove="1" noResize="1" noEditPoints="1" noAdjustHandles="1" noChangeArrowheads="1" noChangeShapeType="1" noTextEdit="1"/>
              </p:cNvSpPr>
              <p:nvPr/>
            </p:nvSpPr>
            <p:spPr>
              <a:xfrm>
                <a:off x="844826" y="1431230"/>
                <a:ext cx="11189130" cy="5139869"/>
              </a:xfrm>
              <a:prstGeom prst="rect">
                <a:avLst/>
              </a:prstGeom>
              <a:blipFill>
                <a:blip r:embed="rId2"/>
                <a:stretch>
                  <a:fillRect l="-794" t="-985" b="-985"/>
                </a:stretch>
              </a:blipFill>
            </p:spPr>
            <p:txBody>
              <a:bodyPr/>
              <a:lstStyle/>
              <a:p>
                <a:r>
                  <a:rPr lang="fr-FR">
                    <a:noFill/>
                  </a:rPr>
                  <a:t> </a:t>
                </a:r>
              </a:p>
            </p:txBody>
          </p:sp>
        </mc:Fallback>
      </mc:AlternateContent>
    </p:spTree>
    <p:extLst>
      <p:ext uri="{BB962C8B-B14F-4D97-AF65-F5344CB8AC3E}">
        <p14:creationId xmlns:p14="http://schemas.microsoft.com/office/powerpoint/2010/main" val="20500192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CE9B1-9969-45DA-0B07-AFF0AD12F94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DA179BA-897F-8E8A-4B97-C22C3DCCF067}"/>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383D0697-BD3D-0D3A-FF88-D153B5DE8A3F}"/>
                  </a:ext>
                </a:extLst>
              </p:cNvPr>
              <p:cNvSpPr txBox="1"/>
              <p:nvPr/>
            </p:nvSpPr>
            <p:spPr>
              <a:xfrm>
                <a:off x="844826" y="1431230"/>
                <a:ext cx="11143974" cy="5139869"/>
              </a:xfrm>
              <a:prstGeom prst="rect">
                <a:avLst/>
              </a:prstGeom>
              <a:noFill/>
            </p:spPr>
            <p:txBody>
              <a:bodyPr wrap="square" rtlCol="0">
                <a:spAutoFit/>
              </a:bodyPr>
              <a:lstStyle/>
              <a:p>
                <a:r>
                  <a:rPr lang="fr-FR" sz="2400" b="1" dirty="0"/>
                  <a:t>Élagage alpha / bêta : pseudo-code (suite)</a:t>
                </a:r>
              </a:p>
              <a:p>
                <a:endParaRPr lang="fr-FR" sz="2400" dirty="0"/>
              </a:p>
              <a:p>
                <a:pPr lvl="0"/>
                <a:r>
                  <a:rPr lang="fr-FR" sz="2000" dirty="0">
                    <a:solidFill>
                      <a:prstClr val="black"/>
                    </a:solidFill>
                  </a:rPr>
                  <a:t>SINON SI </a:t>
                </a:r>
                <a14:m>
                  <m:oMath xmlns:m="http://schemas.openxmlformats.org/officeDocument/2006/math">
                    <m:r>
                      <a:rPr lang="fr-FR" sz="2000" i="1" dirty="0">
                        <a:solidFill>
                          <a:prstClr val="black"/>
                        </a:solidFill>
                        <a:latin typeface="Cambria Math" panose="02040503050406030204" pitchFamily="18" charset="0"/>
                      </a:rPr>
                      <m:t>𝑗𝑜𝑢𝑒𝑢𝑟</m:t>
                    </m:r>
                    <m:r>
                      <a:rPr lang="fr-FR" sz="2000" i="1" dirty="0">
                        <a:solidFill>
                          <a:prstClr val="black"/>
                        </a:solidFill>
                        <a:latin typeface="Cambria Math" panose="02040503050406030204" pitchFamily="18" charset="0"/>
                      </a:rPr>
                      <m:t>==2</m:t>
                    </m:r>
                  </m:oMath>
                </a14:m>
                <a:endParaRPr lang="fr-FR" sz="2000" dirty="0">
                  <a:solidFill>
                    <a:prstClr val="black"/>
                  </a:solidFill>
                </a:endParaRP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𝑣𝑎𝑙𝑒𝑢𝑟𝑀𝑖𝑛𝑖</m:t>
                    </m:r>
                    <m:r>
                      <a:rPr lang="fr-FR" sz="2000" i="1" dirty="0">
                        <a:solidFill>
                          <a:prstClr val="black"/>
                        </a:solidFill>
                        <a:latin typeface="Cambria Math" panose="02040503050406030204" pitchFamily="18" charset="0"/>
                        <a:ea typeface="Cambria Math" panose="02040503050406030204" pitchFamily="18" charset="0"/>
                      </a:rPr>
                      <m:t>←+</m:t>
                    </m:r>
                    <m:r>
                      <a:rPr lang="fr-FR" sz="2000" i="1" dirty="0">
                        <a:solidFill>
                          <a:prstClr val="black"/>
                        </a:solidFill>
                        <a:latin typeface="Cambria Math" panose="02040503050406030204" pitchFamily="18" charset="0"/>
                      </a:rPr>
                      <m:t>∞</m:t>
                    </m:r>
                  </m:oMath>
                </a14:m>
                <a:r>
                  <a:rPr lang="fr-FR" sz="2000" dirty="0">
                    <a:solidFill>
                      <a:prstClr val="black"/>
                    </a:solidFill>
                  </a:rPr>
                  <a:t> </a:t>
                </a: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𝑐𝑜𝑢𝑝𝑀𝑖𝑛𝑖</m:t>
                    </m:r>
                    <m:r>
                      <a:rPr lang="fr-FR" sz="2000" i="1" dirty="0">
                        <a:solidFill>
                          <a:prstClr val="black"/>
                        </a:solidFill>
                        <a:latin typeface="Cambria Math" panose="02040503050406030204" pitchFamily="18" charset="0"/>
                        <a:ea typeface="Cambria Math" panose="02040503050406030204" pitchFamily="18" charset="0"/>
                      </a:rPr>
                      <m:t>←</m:t>
                    </m:r>
                    <m:r>
                      <m:rPr>
                        <m:nor/>
                      </m:rPr>
                      <a:rPr lang="fr-FR" sz="2000" dirty="0">
                        <a:solidFill>
                          <a:prstClr val="black"/>
                        </a:solidFill>
                        <a:latin typeface="Cambria Math" panose="02040503050406030204" pitchFamily="18" charset="0"/>
                        <a:ea typeface="Cambria Math" panose="02040503050406030204" pitchFamily="18" charset="0"/>
                      </a:rPr>
                      <m:t>None</m:t>
                    </m:r>
                    <m:r>
                      <a:rPr lang="fr-FR" sz="2000" i="1" dirty="0">
                        <a:solidFill>
                          <a:prstClr val="black"/>
                        </a:solidFill>
                        <a:latin typeface="Cambria Math" panose="02040503050406030204" pitchFamily="18" charset="0"/>
                      </a:rPr>
                      <m:t> </m:t>
                    </m:r>
                  </m:oMath>
                </a14:m>
                <a:endParaRPr lang="fr-FR" sz="2000" dirty="0">
                  <a:solidFill>
                    <a:prstClr val="black"/>
                  </a:solidFill>
                </a:endParaRPr>
              </a:p>
              <a:p>
                <a:pPr lvl="0"/>
                <a:r>
                  <a:rPr lang="fr-FR" sz="2000" dirty="0">
                    <a:solidFill>
                      <a:prstClr val="black"/>
                    </a:solidFill>
                  </a:rPr>
                  <a:t>	POUR TOUT </a:t>
                </a:r>
                <a14:m>
                  <m:oMath xmlns:m="http://schemas.openxmlformats.org/officeDocument/2006/math">
                    <m:r>
                      <a:rPr lang="fr-FR" sz="2000" i="1" dirty="0">
                        <a:solidFill>
                          <a:prstClr val="black"/>
                        </a:solidFill>
                        <a:latin typeface="Cambria Math" panose="02040503050406030204" pitchFamily="18" charset="0"/>
                      </a:rPr>
                      <m:t>𝑐𝑜𝑢𝑝</m:t>
                    </m:r>
                  </m:oMath>
                </a14:m>
                <a:r>
                  <a:rPr lang="fr-FR" sz="2000" dirty="0">
                    <a:solidFill>
                      <a:prstClr val="black"/>
                    </a:solidFill>
                  </a:rPr>
                  <a:t> possible par </a:t>
                </a:r>
                <a14:m>
                  <m:oMath xmlns:m="http://schemas.openxmlformats.org/officeDocument/2006/math">
                    <m:r>
                      <a:rPr lang="fr-FR" sz="2000" i="1">
                        <a:solidFill>
                          <a:prstClr val="black"/>
                        </a:solidFill>
                        <a:latin typeface="Cambria Math" panose="02040503050406030204" pitchFamily="18" charset="0"/>
                      </a:rPr>
                      <m:t>𝑗𝑜𝑢𝑒𝑢𝑟</m:t>
                    </m:r>
                  </m:oMath>
                </a14:m>
                <a:r>
                  <a:rPr lang="fr-FR" sz="2000" dirty="0">
                    <a:solidFill>
                      <a:prstClr val="black"/>
                    </a:solidFill>
                  </a:rPr>
                  <a:t> depuis </a:t>
                </a:r>
                <a14:m>
                  <m:oMath xmlns:m="http://schemas.openxmlformats.org/officeDocument/2006/math">
                    <m:r>
                      <a:rPr lang="fr-FR" sz="2000" i="1">
                        <a:solidFill>
                          <a:prstClr val="black"/>
                        </a:solidFill>
                        <a:latin typeface="Cambria Math" panose="02040503050406030204" pitchFamily="18" charset="0"/>
                      </a:rPr>
                      <m:t>𝑝𝑜𝑠𝑖𝑡𝑖𝑜𝑛</m:t>
                    </m:r>
                  </m:oMath>
                </a14:m>
                <a:r>
                  <a:rPr lang="fr-FR" sz="2000" dirty="0">
                    <a:solidFill>
                      <a:prstClr val="black"/>
                    </a:solidFill>
                  </a:rPr>
                  <a:t> FAIRE</a:t>
                </a: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𝑝𝑜𝑠𝑖𝑡𝑖𝑜𝑛𝑁𝑜𝑢𝑣𝑒𝑙𝑙𝑒</m:t>
                    </m:r>
                    <m:r>
                      <a:rPr lang="fr-FR" sz="2000" i="1" dirty="0">
                        <a:solidFill>
                          <a:prstClr val="black"/>
                        </a:solidFill>
                        <a:latin typeface="Cambria Math" panose="02040503050406030204" pitchFamily="18" charset="0"/>
                        <a:ea typeface="Cambria Math" panose="02040503050406030204" pitchFamily="18" charset="0"/>
                      </a:rPr>
                      <m:t>←</m:t>
                    </m:r>
                    <m:r>
                      <m:rPr>
                        <m:nor/>
                      </m:rPr>
                      <a:rPr lang="fr-FR" sz="2000" dirty="0" err="1">
                        <a:solidFill>
                          <a:prstClr val="black"/>
                        </a:solidFill>
                        <a:latin typeface="Cambria Math" panose="02040503050406030204" pitchFamily="18" charset="0"/>
                      </a:rPr>
                      <m:t>joueCoup</m:t>
                    </m:r>
                    <m:r>
                      <a:rPr lang="fr-FR" sz="2000" i="1" dirty="0">
                        <a:solidFill>
                          <a:prstClr val="black"/>
                        </a:solidFill>
                        <a:latin typeface="Cambria Math" panose="02040503050406030204" pitchFamily="18" charset="0"/>
                      </a:rPr>
                      <m:t>(</m:t>
                    </m:r>
                    <m:r>
                      <a:rPr lang="fr-FR" sz="2000" i="1" dirty="0">
                        <a:solidFill>
                          <a:prstClr val="black"/>
                        </a:solidFill>
                        <a:latin typeface="Cambria Math" panose="02040503050406030204" pitchFamily="18" charset="0"/>
                      </a:rPr>
                      <m:t>𝑗𝑒𝑢</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𝑝𝑜𝑠𝑖𝑡𝑖𝑜𝑛</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𝑗𝑜𝑢𝑒𝑢𝑟</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𝑐𝑜𝑢𝑝</m:t>
                    </m:r>
                    <m:r>
                      <a:rPr lang="fr-FR" sz="2000" i="1" dirty="0">
                        <a:solidFill>
                          <a:prstClr val="black"/>
                        </a:solidFill>
                        <a:latin typeface="Cambria Math" panose="02040503050406030204" pitchFamily="18" charset="0"/>
                      </a:rPr>
                      <m:t>)</m:t>
                    </m:r>
                  </m:oMath>
                </a14:m>
                <a:endParaRPr lang="fr-FR" sz="2000" dirty="0">
                  <a:solidFill>
                    <a:prstClr val="black"/>
                  </a:solidFill>
                </a:endParaRP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𝑣𝑎𝑙𝑒𝑢𝑟</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𝑐𝑜𝑢𝑝</m:t>
                    </m:r>
                    <m:r>
                      <a:rPr lang="fr-FR" sz="2000" i="1" dirty="0">
                        <a:solidFill>
                          <a:prstClr val="black"/>
                        </a:solidFill>
                        <a:latin typeface="Cambria Math" panose="02040503050406030204" pitchFamily="18" charset="0"/>
                        <a:ea typeface="Cambria Math" panose="02040503050406030204" pitchFamily="18" charset="0"/>
                      </a:rPr>
                      <m:t>←</m:t>
                    </m:r>
                    <m:r>
                      <m:rPr>
                        <m:nor/>
                      </m:rPr>
                      <a:rPr lang="fr-FR" sz="2000" dirty="0" err="1">
                        <a:solidFill>
                          <a:prstClr val="black"/>
                        </a:solidFill>
                        <a:latin typeface="Cambria Math" panose="02040503050406030204" pitchFamily="18" charset="0"/>
                      </a:rPr>
                      <m:t>minMax</m:t>
                    </m:r>
                    <m:r>
                      <a:rPr lang="fr-FR" sz="2000" i="1" dirty="0">
                        <a:solidFill>
                          <a:prstClr val="black"/>
                        </a:solidFill>
                        <a:latin typeface="Cambria Math" panose="02040503050406030204" pitchFamily="18" charset="0"/>
                      </a:rPr>
                      <m:t>(</m:t>
                    </m:r>
                    <m:r>
                      <a:rPr lang="fr-FR" sz="2000" i="1" dirty="0">
                        <a:solidFill>
                          <a:prstClr val="black"/>
                        </a:solidFill>
                        <a:latin typeface="Cambria Math" panose="02040503050406030204" pitchFamily="18" charset="0"/>
                      </a:rPr>
                      <m:t>𝑗𝑒𝑢</m:t>
                    </m:r>
                    <m:r>
                      <a:rPr lang="fr-FR" sz="2000" i="1" dirty="0">
                        <a:solidFill>
                          <a:prstClr val="black"/>
                        </a:solidFill>
                        <a:latin typeface="Cambria Math" panose="02040503050406030204" pitchFamily="18" charset="0"/>
                      </a:rPr>
                      <m:t>, </m:t>
                    </m:r>
                    <m:r>
                      <a:rPr lang="fr-FR" sz="2000" i="1" dirty="0" err="1">
                        <a:solidFill>
                          <a:prstClr val="black"/>
                        </a:solidFill>
                        <a:latin typeface="Cambria Math" panose="02040503050406030204" pitchFamily="18" charset="0"/>
                      </a:rPr>
                      <m:t>𝑝𝑜𝑠𝑖𝑡𝑖𝑜𝑛𝑁𝑜𝑢𝑣𝑒𝑙𝑙𝑒</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𝑎𝑑𝑣𝑒𝑟𝑠𝑎𝑖𝑟𝑒</m:t>
                    </m:r>
                    <m:r>
                      <a:rPr lang="fr-FR" sz="2000" i="1" dirty="0">
                        <a:solidFill>
                          <a:prstClr val="black"/>
                        </a:solidFill>
                        <a:latin typeface="Cambria Math" panose="02040503050406030204" pitchFamily="18" charset="0"/>
                      </a:rPr>
                      <m:t>,</m:t>
                    </m:r>
                    <m:r>
                      <a:rPr lang="fr-FR" sz="2000" i="1" dirty="0">
                        <a:solidFill>
                          <a:prstClr val="black"/>
                        </a:solidFill>
                        <a:latin typeface="Cambria Math" panose="02040503050406030204" pitchFamily="18" charset="0"/>
                      </a:rPr>
                      <m:t>𝑝𝑟𝑜𝑓𝑜𝑛𝑑𝑒𝑢𝑟</m:t>
                    </m:r>
                    <m:r>
                      <a:rPr lang="fr-FR" sz="2000" i="1" dirty="0">
                        <a:solidFill>
                          <a:prstClr val="black"/>
                        </a:solidFill>
                        <a:latin typeface="Cambria Math" panose="02040503050406030204" pitchFamily="18" charset="0"/>
                      </a:rPr>
                      <m:t>−1</m:t>
                    </m:r>
                  </m:oMath>
                </a14:m>
                <a:endParaRPr lang="fr-FR" sz="2000" i="1" dirty="0">
                  <a:solidFill>
                    <a:prstClr val="black"/>
                  </a:solidFill>
                  <a:latin typeface="Cambria Math" panose="02040503050406030204" pitchFamily="18" charset="0"/>
                </a:endParaRPr>
              </a:p>
              <a:p>
                <a:pPr lvl="0"/>
                <a14:m>
                  <m:oMathPara xmlns:m="http://schemas.openxmlformats.org/officeDocument/2006/math">
                    <m:oMathParaPr>
                      <m:jc m:val="centerGroup"/>
                    </m:oMathParaPr>
                    <m:oMath xmlns:m="http://schemas.openxmlformats.org/officeDocument/2006/math">
                      <m:r>
                        <a:rPr lang="fr-FR" sz="2000" b="0" i="1" dirty="0" smtClean="0">
                          <a:solidFill>
                            <a:prstClr val="black"/>
                          </a:solidFill>
                          <a:latin typeface="Cambria Math" panose="02040503050406030204" pitchFamily="18" charset="0"/>
                        </a:rPr>
                        <m:t>𝑎𝑙𝑝h𝑎</m:t>
                      </m:r>
                      <m:r>
                        <a:rPr lang="fr-FR" sz="2000" b="0" i="1" dirty="0" smtClean="0">
                          <a:solidFill>
                            <a:prstClr val="black"/>
                          </a:solidFill>
                          <a:latin typeface="Cambria Math" panose="02040503050406030204" pitchFamily="18" charset="0"/>
                        </a:rPr>
                        <m:t>,</m:t>
                      </m:r>
                      <m:r>
                        <a:rPr lang="fr-FR" sz="2000" b="0" i="1" dirty="0" smtClean="0">
                          <a:solidFill>
                            <a:prstClr val="black"/>
                          </a:solidFill>
                          <a:latin typeface="Cambria Math" panose="02040503050406030204" pitchFamily="18" charset="0"/>
                        </a:rPr>
                        <m:t>𝑏</m:t>
                      </m:r>
                      <m:r>
                        <a:rPr lang="fr-FR" sz="2000" i="1" dirty="0">
                          <a:solidFill>
                            <a:prstClr val="black"/>
                          </a:solidFill>
                          <a:latin typeface="Cambria Math" panose="02040503050406030204" pitchFamily="18" charset="0"/>
                        </a:rPr>
                        <m:t>ê</m:t>
                      </m:r>
                      <m:r>
                        <a:rPr lang="fr-FR" sz="2000" b="0" i="1" dirty="0" smtClean="0">
                          <a:solidFill>
                            <a:prstClr val="black"/>
                          </a:solidFill>
                          <a:latin typeface="Cambria Math" panose="02040503050406030204" pitchFamily="18" charset="0"/>
                        </a:rPr>
                        <m:t>𝑡𝑎</m:t>
                      </m:r>
                      <m:r>
                        <a:rPr lang="fr-FR" sz="2000" i="1" dirty="0">
                          <a:solidFill>
                            <a:prstClr val="black"/>
                          </a:solidFill>
                          <a:latin typeface="Cambria Math" panose="02040503050406030204" pitchFamily="18" charset="0"/>
                        </a:rPr>
                        <m:t>)</m:t>
                      </m:r>
                    </m:oMath>
                  </m:oMathPara>
                </a14:m>
                <a:endParaRPr lang="fr-FR" sz="2000" dirty="0">
                  <a:solidFill>
                    <a:prstClr val="black"/>
                  </a:solidFill>
                </a:endParaRPr>
              </a:p>
              <a:p>
                <a:pPr lvl="0"/>
                <a:r>
                  <a:rPr lang="fr-FR" sz="2000" dirty="0">
                    <a:solidFill>
                      <a:prstClr val="black"/>
                    </a:solidFill>
                  </a:rPr>
                  <a:t>		SI </a:t>
                </a:r>
                <a14:m>
                  <m:oMath xmlns:m="http://schemas.openxmlformats.org/officeDocument/2006/math">
                    <m:r>
                      <a:rPr lang="fr-FR" sz="2000" i="1" dirty="0">
                        <a:solidFill>
                          <a:prstClr val="black"/>
                        </a:solidFill>
                        <a:latin typeface="Cambria Math" panose="02040503050406030204" pitchFamily="18" charset="0"/>
                      </a:rPr>
                      <m:t>𝑣𝑎𝑙𝑒𝑢𝑟</m:t>
                    </m:r>
                    <m:r>
                      <a:rPr lang="fr-FR" sz="2000" i="1" dirty="0">
                        <a:solidFill>
                          <a:prstClr val="black"/>
                        </a:solidFill>
                        <a:latin typeface="Cambria Math" panose="02040503050406030204" pitchFamily="18" charset="0"/>
                      </a:rPr>
                      <m:t>&lt;</m:t>
                    </m:r>
                    <m:r>
                      <a:rPr lang="fr-FR" sz="2000" i="1" dirty="0">
                        <a:solidFill>
                          <a:prstClr val="black"/>
                        </a:solidFill>
                        <a:latin typeface="Cambria Math" panose="02040503050406030204" pitchFamily="18" charset="0"/>
                      </a:rPr>
                      <m:t>𝑣𝑎𝑙𝑒𝑢𝑟𝑀𝑖𝑛𝑖</m:t>
                    </m:r>
                  </m:oMath>
                </a14:m>
                <a:r>
                  <a:rPr lang="fr-FR" sz="2000" dirty="0">
                    <a:solidFill>
                      <a:prstClr val="black"/>
                    </a:solidFill>
                  </a:rPr>
                  <a:t> ALORS</a:t>
                </a: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𝑣𝑎𝑙𝑒𝑢𝑟𝑀𝑖𝑛𝑖</m:t>
                    </m:r>
                    <m:r>
                      <a:rPr lang="fr-FR" sz="2000" i="1" dirty="0">
                        <a:solidFill>
                          <a:prstClr val="black"/>
                        </a:solidFill>
                        <a:latin typeface="Cambria Math" panose="02040503050406030204" pitchFamily="18" charset="0"/>
                        <a:ea typeface="Cambria Math" panose="02040503050406030204" pitchFamily="18" charset="0"/>
                      </a:rPr>
                      <m:t>←</m:t>
                    </m:r>
                    <m:r>
                      <a:rPr lang="fr-FR" sz="2000" i="1" dirty="0">
                        <a:solidFill>
                          <a:prstClr val="black"/>
                        </a:solidFill>
                        <a:latin typeface="Cambria Math" panose="02040503050406030204" pitchFamily="18" charset="0"/>
                      </a:rPr>
                      <m:t>𝑣𝑎𝑙𝑒𝑢𝑟</m:t>
                    </m:r>
                  </m:oMath>
                </a14:m>
                <a:endParaRPr lang="fr-FR" sz="2000" dirty="0">
                  <a:solidFill>
                    <a:prstClr val="black"/>
                  </a:solidFill>
                </a:endParaRP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𝑐𝑜𝑢𝑝𝑀𝑖𝑛𝑖</m:t>
                    </m:r>
                    <m:r>
                      <a:rPr lang="fr-FR" sz="2000" i="1" dirty="0">
                        <a:solidFill>
                          <a:prstClr val="black"/>
                        </a:solidFill>
                        <a:latin typeface="Cambria Math" panose="02040503050406030204" pitchFamily="18" charset="0"/>
                        <a:ea typeface="Cambria Math" panose="02040503050406030204" pitchFamily="18" charset="0"/>
                      </a:rPr>
                      <m:t>←</m:t>
                    </m:r>
                    <m:r>
                      <a:rPr lang="fr-FR" sz="2000" i="1" dirty="0">
                        <a:solidFill>
                          <a:prstClr val="black"/>
                        </a:solidFill>
                        <a:latin typeface="Cambria Math" panose="02040503050406030204" pitchFamily="18" charset="0"/>
                      </a:rPr>
                      <m:t>𝑐𝑜𝑢𝑝</m:t>
                    </m:r>
                  </m:oMath>
                </a14:m>
                <a:endParaRPr lang="fr-FR" sz="2000" dirty="0">
                  <a:solidFill>
                    <a:prstClr val="black"/>
                  </a:solidFill>
                </a:endParaRPr>
              </a:p>
              <a:p>
                <a:pPr lvl="0"/>
                <a:r>
                  <a:rPr lang="fr-FR" sz="2000" dirty="0">
                    <a:solidFill>
                      <a:prstClr val="black"/>
                    </a:solidFill>
                  </a:rPr>
                  <a:t>			</a:t>
                </a:r>
                <a14:m>
                  <m:oMath xmlns:m="http://schemas.openxmlformats.org/officeDocument/2006/math">
                    <m:r>
                      <a:rPr lang="fr-FR" sz="2000" b="0" i="1" smtClean="0">
                        <a:solidFill>
                          <a:prstClr val="black"/>
                        </a:solidFill>
                        <a:latin typeface="Cambria Math" panose="02040503050406030204" pitchFamily="18" charset="0"/>
                      </a:rPr>
                      <m:t>𝑏</m:t>
                    </m:r>
                    <m:r>
                      <a:rPr lang="fr-FR" sz="2000" i="1">
                        <a:solidFill>
                          <a:prstClr val="black"/>
                        </a:solidFill>
                        <a:latin typeface="Cambria Math" panose="02040503050406030204" pitchFamily="18" charset="0"/>
                      </a:rPr>
                      <m:t>ê</m:t>
                    </m:r>
                    <m:r>
                      <a:rPr lang="fr-FR" sz="2000" b="0" i="1" smtClean="0">
                        <a:solidFill>
                          <a:prstClr val="black"/>
                        </a:solidFill>
                        <a:latin typeface="Cambria Math" panose="02040503050406030204" pitchFamily="18" charset="0"/>
                      </a:rPr>
                      <m:t>𝑡𝑎</m:t>
                    </m:r>
                    <m:r>
                      <a:rPr lang="fr-FR" sz="2000" b="0" i="1" smtClean="0">
                        <a:solidFill>
                          <a:prstClr val="black"/>
                        </a:solidFill>
                        <a:latin typeface="Cambria Math" panose="02040503050406030204" pitchFamily="18" charset="0"/>
                        <a:ea typeface="Cambria Math" panose="02040503050406030204" pitchFamily="18" charset="0"/>
                      </a:rPr>
                      <m:t>←</m:t>
                    </m:r>
                    <m:func>
                      <m:funcPr>
                        <m:ctrlPr>
                          <a:rPr lang="fr-FR" sz="2000" b="0" i="1" smtClean="0">
                            <a:solidFill>
                              <a:prstClr val="black"/>
                            </a:solidFill>
                            <a:latin typeface="Cambria Math" panose="02040503050406030204" pitchFamily="18" charset="0"/>
                            <a:ea typeface="Cambria Math" panose="02040503050406030204" pitchFamily="18" charset="0"/>
                          </a:rPr>
                        </m:ctrlPr>
                      </m:funcPr>
                      <m:fName>
                        <m:r>
                          <m:rPr>
                            <m:sty m:val="p"/>
                          </m:rPr>
                          <a:rPr lang="fr-FR" sz="2000" b="0" i="0" smtClean="0">
                            <a:solidFill>
                              <a:prstClr val="black"/>
                            </a:solidFill>
                            <a:latin typeface="Cambria Math" panose="02040503050406030204" pitchFamily="18" charset="0"/>
                            <a:ea typeface="Cambria Math" panose="02040503050406030204" pitchFamily="18" charset="0"/>
                          </a:rPr>
                          <m:t>min</m:t>
                        </m:r>
                      </m:fName>
                      <m:e>
                        <m:d>
                          <m:dPr>
                            <m:ctrlPr>
                              <a:rPr lang="fr-FR" sz="2000" b="0" i="1" smtClean="0">
                                <a:solidFill>
                                  <a:prstClr val="black"/>
                                </a:solidFill>
                                <a:latin typeface="Cambria Math" panose="02040503050406030204" pitchFamily="18" charset="0"/>
                                <a:ea typeface="Cambria Math" panose="02040503050406030204" pitchFamily="18" charset="0"/>
                              </a:rPr>
                            </m:ctrlPr>
                          </m:dPr>
                          <m:e>
                            <m:r>
                              <a:rPr lang="fr-FR" sz="2000" b="0" i="1" smtClean="0">
                                <a:solidFill>
                                  <a:prstClr val="black"/>
                                </a:solidFill>
                                <a:latin typeface="Cambria Math" panose="02040503050406030204" pitchFamily="18" charset="0"/>
                                <a:ea typeface="Cambria Math" panose="02040503050406030204" pitchFamily="18" charset="0"/>
                              </a:rPr>
                              <m:t>𝑏</m:t>
                            </m:r>
                            <m:r>
                              <a:rPr lang="fr-FR" sz="2000" i="1">
                                <a:solidFill>
                                  <a:prstClr val="black"/>
                                </a:solidFill>
                                <a:latin typeface="Cambria Math" panose="02040503050406030204" pitchFamily="18" charset="0"/>
                                <a:ea typeface="Cambria Math" panose="02040503050406030204" pitchFamily="18" charset="0"/>
                              </a:rPr>
                              <m:t>ê</m:t>
                            </m:r>
                            <m:r>
                              <a:rPr lang="fr-FR" sz="2000" b="0" i="1" smtClean="0">
                                <a:solidFill>
                                  <a:prstClr val="black"/>
                                </a:solidFill>
                                <a:latin typeface="Cambria Math" panose="02040503050406030204" pitchFamily="18" charset="0"/>
                                <a:ea typeface="Cambria Math" panose="02040503050406030204" pitchFamily="18" charset="0"/>
                              </a:rPr>
                              <m:t>𝑡𝑎</m:t>
                            </m:r>
                            <m:r>
                              <a:rPr lang="fr-FR" sz="2000" b="0" i="1" smtClean="0">
                                <a:solidFill>
                                  <a:prstClr val="black"/>
                                </a:solidFill>
                                <a:latin typeface="Cambria Math" panose="02040503050406030204" pitchFamily="18" charset="0"/>
                                <a:ea typeface="Cambria Math" panose="02040503050406030204" pitchFamily="18" charset="0"/>
                              </a:rPr>
                              <m:t>,</m:t>
                            </m:r>
                            <m:r>
                              <a:rPr lang="fr-FR" sz="2000" b="0" i="1" smtClean="0">
                                <a:solidFill>
                                  <a:prstClr val="black"/>
                                </a:solidFill>
                                <a:latin typeface="Cambria Math" panose="02040503050406030204" pitchFamily="18" charset="0"/>
                                <a:ea typeface="Cambria Math" panose="02040503050406030204" pitchFamily="18" charset="0"/>
                              </a:rPr>
                              <m:t>𝑣𝑎𝑙𝑒𝑢𝑟</m:t>
                            </m:r>
                          </m:e>
                        </m:d>
                      </m:e>
                    </m:func>
                  </m:oMath>
                </a14:m>
                <a:endParaRPr lang="fr-FR" sz="2000" b="0" dirty="0">
                  <a:solidFill>
                    <a:prstClr val="black"/>
                  </a:solidFill>
                  <a:ea typeface="Cambria Math" panose="02040503050406030204" pitchFamily="18" charset="0"/>
                </a:endParaRPr>
              </a:p>
              <a:p>
                <a:pPr lvl="0"/>
                <a:r>
                  <a:rPr lang="fr-FR" sz="2000" dirty="0">
                    <a:solidFill>
                      <a:prstClr val="black"/>
                    </a:solidFill>
                  </a:rPr>
                  <a:t>		SI </a:t>
                </a:r>
                <a14:m>
                  <m:oMath xmlns:m="http://schemas.openxmlformats.org/officeDocument/2006/math">
                    <m:r>
                      <a:rPr lang="fr-FR" sz="2000" b="0" i="1" smtClean="0">
                        <a:solidFill>
                          <a:prstClr val="black"/>
                        </a:solidFill>
                        <a:latin typeface="Cambria Math" panose="02040503050406030204" pitchFamily="18" charset="0"/>
                      </a:rPr>
                      <m:t>𝑣𝑎𝑙𝑒𝑢𝑟</m:t>
                    </m:r>
                    <m:r>
                      <a:rPr lang="fr-FR" sz="2000" b="0" i="1" smtClean="0">
                        <a:solidFill>
                          <a:prstClr val="black"/>
                        </a:solidFill>
                        <a:latin typeface="Cambria Math" panose="02040503050406030204" pitchFamily="18" charset="0"/>
                      </a:rPr>
                      <m:t>≤</m:t>
                    </m:r>
                    <m:r>
                      <a:rPr lang="fr-FR" sz="2000" b="0" i="1" smtClean="0">
                        <a:solidFill>
                          <a:prstClr val="black"/>
                        </a:solidFill>
                        <a:latin typeface="Cambria Math" panose="02040503050406030204" pitchFamily="18" charset="0"/>
                      </a:rPr>
                      <m:t>𝑎𝑙𝑝h𝑎</m:t>
                    </m:r>
                  </m:oMath>
                </a14:m>
                <a:r>
                  <a:rPr lang="fr-FR" sz="2000" b="0" dirty="0">
                    <a:solidFill>
                      <a:prstClr val="black"/>
                    </a:solidFill>
                  </a:rPr>
                  <a:t> ALORS</a:t>
                </a:r>
              </a:p>
              <a:p>
                <a:pPr lvl="0"/>
                <a:r>
                  <a:rPr lang="fr-FR" sz="2000" dirty="0">
                    <a:solidFill>
                      <a:prstClr val="black"/>
                    </a:solidFill>
                  </a:rPr>
                  <a:t>			 RETOURNER </a:t>
                </a:r>
                <a14:m>
                  <m:oMath xmlns:m="http://schemas.openxmlformats.org/officeDocument/2006/math">
                    <m:r>
                      <a:rPr lang="fr-FR" sz="2000" i="1" dirty="0">
                        <a:solidFill>
                          <a:prstClr val="black"/>
                        </a:solidFill>
                        <a:latin typeface="Cambria Math" panose="02040503050406030204" pitchFamily="18" charset="0"/>
                      </a:rPr>
                      <m:t>𝑣𝑎𝑙𝑒𝑢𝑟𝑀𝑖𝑛𝑖</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𝑐𝑜𝑢𝑝𝑀𝑖𝑛𝑖</m:t>
                    </m:r>
                  </m:oMath>
                </a14:m>
                <a:endParaRPr lang="fr-FR" sz="2000" dirty="0">
                  <a:solidFill>
                    <a:prstClr val="black"/>
                  </a:solidFill>
                </a:endParaRPr>
              </a:p>
              <a:p>
                <a:pPr lvl="0"/>
                <a:r>
                  <a:rPr lang="fr-FR" sz="2000" dirty="0">
                    <a:solidFill>
                      <a:prstClr val="black"/>
                    </a:solidFill>
                  </a:rPr>
                  <a:t>	RETOURNER </a:t>
                </a:r>
                <a14:m>
                  <m:oMath xmlns:m="http://schemas.openxmlformats.org/officeDocument/2006/math">
                    <m:r>
                      <a:rPr lang="fr-FR" sz="2000" i="1" dirty="0">
                        <a:solidFill>
                          <a:prstClr val="black"/>
                        </a:solidFill>
                        <a:latin typeface="Cambria Math" panose="02040503050406030204" pitchFamily="18" charset="0"/>
                      </a:rPr>
                      <m:t>𝑣𝑎𝑙𝑒𝑢𝑟𝑀𝑖𝑛𝑖</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𝑐𝑜𝑢𝑝𝑀𝑖𝑛𝑖</m:t>
                    </m:r>
                  </m:oMath>
                </a14:m>
                <a:endParaRPr lang="fr-FR" sz="2400" dirty="0"/>
              </a:p>
            </p:txBody>
          </p:sp>
        </mc:Choice>
        <mc:Fallback xmlns="">
          <p:sp>
            <p:nvSpPr>
              <p:cNvPr id="3" name="ZoneTexte 2">
                <a:extLst>
                  <a:ext uri="{FF2B5EF4-FFF2-40B4-BE49-F238E27FC236}">
                    <a16:creationId xmlns:a16="http://schemas.microsoft.com/office/drawing/2014/main" id="{383D0697-BD3D-0D3A-FF88-D153B5DE8A3F}"/>
                  </a:ext>
                </a:extLst>
              </p:cNvPr>
              <p:cNvSpPr txBox="1">
                <a:spLocks noRot="1" noChangeAspect="1" noMove="1" noResize="1" noEditPoints="1" noAdjustHandles="1" noChangeArrowheads="1" noChangeShapeType="1" noTextEdit="1"/>
              </p:cNvSpPr>
              <p:nvPr/>
            </p:nvSpPr>
            <p:spPr>
              <a:xfrm>
                <a:off x="844826" y="1431230"/>
                <a:ext cx="11143974" cy="5139869"/>
              </a:xfrm>
              <a:prstGeom prst="rect">
                <a:avLst/>
              </a:prstGeom>
              <a:blipFill>
                <a:blip r:embed="rId2"/>
                <a:stretch>
                  <a:fillRect l="-796" t="-985" b="-985"/>
                </a:stretch>
              </a:blipFill>
            </p:spPr>
            <p:txBody>
              <a:bodyPr/>
              <a:lstStyle/>
              <a:p>
                <a:r>
                  <a:rPr lang="fr-FR">
                    <a:noFill/>
                  </a:rPr>
                  <a:t> </a:t>
                </a:r>
              </a:p>
            </p:txBody>
          </p:sp>
        </mc:Fallback>
      </mc:AlternateContent>
    </p:spTree>
    <p:extLst>
      <p:ext uri="{BB962C8B-B14F-4D97-AF65-F5344CB8AC3E}">
        <p14:creationId xmlns:p14="http://schemas.microsoft.com/office/powerpoint/2010/main" val="23749237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C4776-B713-AAEF-A6C9-7AB13F2FC3B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570E225-707A-DD54-9290-58442A63716A}"/>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F71B1AEB-37B5-763E-DF66-CAED091BA77B}"/>
                  </a:ext>
                </a:extLst>
              </p:cNvPr>
              <p:cNvSpPr txBox="1"/>
              <p:nvPr/>
            </p:nvSpPr>
            <p:spPr>
              <a:xfrm>
                <a:off x="844826" y="1431230"/>
                <a:ext cx="10525539" cy="3046988"/>
              </a:xfrm>
              <a:prstGeom prst="rect">
                <a:avLst/>
              </a:prstGeom>
              <a:noFill/>
            </p:spPr>
            <p:txBody>
              <a:bodyPr wrap="square" rtlCol="0">
                <a:spAutoFit/>
              </a:bodyPr>
              <a:lstStyle/>
              <a:p>
                <a:r>
                  <a:rPr lang="fr-FR" sz="2400" b="1" dirty="0"/>
                  <a:t>Élagage alpha / bêta : pseudo-code (suite)</a:t>
                </a:r>
              </a:p>
              <a:p>
                <a:endParaRPr lang="fr-FR" sz="2400" dirty="0"/>
              </a:p>
              <a:p>
                <a:pPr marL="342900" indent="-342900">
                  <a:buFont typeface="Arial" panose="020B0604020202020204" pitchFamily="34" charset="0"/>
                  <a:buChar char="•"/>
                </a:pPr>
                <a:r>
                  <a:rPr lang="fr-FR" sz="2400" dirty="0"/>
                  <a:t>Pour un sommet donné, le premier appel de la fonction récursive </a:t>
                </a:r>
                <a14:m>
                  <m:oMath xmlns:m="http://schemas.openxmlformats.org/officeDocument/2006/math">
                    <m:r>
                      <m:rPr>
                        <m:sty m:val="p"/>
                      </m:rPr>
                      <a:rPr lang="fr-FR" sz="2400" i="1">
                        <a:latin typeface="Cambria Math" panose="02040503050406030204" pitchFamily="18" charset="0"/>
                      </a:rPr>
                      <m:t>minMax</m:t>
                    </m:r>
                  </m:oMath>
                </a14:m>
                <a:r>
                  <a:rPr lang="fr-FR" sz="2400" dirty="0"/>
                  <a:t> se fera en passant en paramètre la profondeur maximale souhaitée et en initialisant </a:t>
                </a:r>
                <a14:m>
                  <m:oMath xmlns:m="http://schemas.openxmlformats.org/officeDocument/2006/math">
                    <m:r>
                      <a:rPr lang="fr-FR" sz="2400" b="0" i="1" smtClean="0">
                        <a:latin typeface="Cambria Math" panose="02040503050406030204" pitchFamily="18" charset="0"/>
                      </a:rPr>
                      <m:t>𝑎𝑙𝑝h𝑎</m:t>
                    </m:r>
                  </m:oMath>
                </a14:m>
                <a:r>
                  <a:rPr lang="fr-FR" sz="2400" dirty="0"/>
                  <a:t> et </a:t>
                </a:r>
                <a14:m>
                  <m:oMath xmlns:m="http://schemas.openxmlformats.org/officeDocument/2006/math">
                    <m:r>
                      <a:rPr lang="fr-FR" sz="2400" b="0" i="1" smtClean="0">
                        <a:latin typeface="Cambria Math" panose="02040503050406030204" pitchFamily="18" charset="0"/>
                      </a:rPr>
                      <m:t>𝑏</m:t>
                    </m:r>
                    <m:r>
                      <a:rPr lang="fr-FR" sz="2400" i="1">
                        <a:latin typeface="Cambria Math" panose="02040503050406030204" pitchFamily="18" charset="0"/>
                      </a:rPr>
                      <m:t>ê</m:t>
                    </m:r>
                    <m:r>
                      <a:rPr lang="fr-FR" sz="2400" b="0" i="1" smtClean="0">
                        <a:latin typeface="Cambria Math" panose="02040503050406030204" pitchFamily="18" charset="0"/>
                      </a:rPr>
                      <m:t>𝑡𝑎</m:t>
                    </m:r>
                  </m:oMath>
                </a14:m>
                <a:r>
                  <a:rPr lang="fr-FR" sz="2400" dirty="0"/>
                  <a:t> à respectivement </a:t>
                </a:r>
                <a14:m>
                  <m:oMath xmlns:m="http://schemas.openxmlformats.org/officeDocument/2006/math">
                    <m:r>
                      <a:rPr lang="fr-FR" sz="2400" b="0" i="1" smtClean="0">
                        <a:latin typeface="Cambria Math" panose="02040503050406030204" pitchFamily="18" charset="0"/>
                      </a:rPr>
                      <m:t>−∞</m:t>
                    </m:r>
                  </m:oMath>
                </a14:m>
                <a:r>
                  <a:rPr lang="fr-FR" sz="2400" dirty="0"/>
                  <a:t> et </a:t>
                </a:r>
                <a14:m>
                  <m:oMath xmlns:m="http://schemas.openxmlformats.org/officeDocument/2006/math">
                    <m:r>
                      <a:rPr lang="fr-FR" sz="2400" b="0" i="1" smtClean="0">
                        <a:latin typeface="Cambria Math" panose="02040503050406030204" pitchFamily="18" charset="0"/>
                      </a:rPr>
                      <m:t>+∞</m:t>
                    </m:r>
                  </m:oMath>
                </a14:m>
                <a:r>
                  <a:rPr lang="fr-FR" sz="2400" dirty="0"/>
                  <a:t> :</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a14:m>
                  <m:oMathPara xmlns:m="http://schemas.openxmlformats.org/officeDocument/2006/math">
                    <m:oMathParaPr>
                      <m:jc m:val="centerGroup"/>
                    </m:oMathParaPr>
                    <m:oMath xmlns:m="http://schemas.openxmlformats.org/officeDocument/2006/math">
                      <m:r>
                        <m:rPr>
                          <m:nor/>
                        </m:rPr>
                        <a:rPr lang="fr-FR" sz="2400" dirty="0">
                          <a:latin typeface="Cambria Math" panose="02040503050406030204" pitchFamily="18" charset="0"/>
                        </a:rPr>
                        <m:t>minMax</m:t>
                      </m:r>
                      <m:r>
                        <a:rPr lang="fr-FR" sz="2400" i="1" dirty="0">
                          <a:latin typeface="Cambria Math" panose="02040503050406030204" pitchFamily="18" charset="0"/>
                        </a:rPr>
                        <m:t>(</m:t>
                      </m:r>
                      <m:r>
                        <a:rPr lang="fr-FR" sz="2400" i="1" dirty="0">
                          <a:latin typeface="Cambria Math" panose="02040503050406030204" pitchFamily="18" charset="0"/>
                        </a:rPr>
                        <m:t>𝑗𝑒𝑢</m:t>
                      </m:r>
                      <m:r>
                        <a:rPr lang="fr-FR" sz="2400" i="1" dirty="0">
                          <a:latin typeface="Cambria Math" panose="02040503050406030204" pitchFamily="18" charset="0"/>
                        </a:rPr>
                        <m:t>, </m:t>
                      </m:r>
                      <m:r>
                        <a:rPr lang="fr-FR" sz="2400" i="1" dirty="0">
                          <a:latin typeface="Cambria Math" panose="02040503050406030204" pitchFamily="18" charset="0"/>
                        </a:rPr>
                        <m:t>𝑝𝑜𝑠𝑖𝑡𝑖𝑜𝑛</m:t>
                      </m:r>
                      <m:r>
                        <a:rPr lang="fr-FR" sz="2400" i="1" dirty="0">
                          <a:latin typeface="Cambria Math" panose="02040503050406030204" pitchFamily="18" charset="0"/>
                        </a:rPr>
                        <m:t>, </m:t>
                      </m:r>
                      <m:r>
                        <a:rPr lang="fr-FR" sz="2400" i="1" dirty="0">
                          <a:latin typeface="Cambria Math" panose="02040503050406030204" pitchFamily="18" charset="0"/>
                        </a:rPr>
                        <m:t>𝑗𝑜𝑢𝑒𝑢𝑟</m:t>
                      </m:r>
                      <m:r>
                        <a:rPr lang="fr-FR" sz="2400" i="1" dirty="0">
                          <a:latin typeface="Cambria Math" panose="02040503050406030204" pitchFamily="18" charset="0"/>
                        </a:rPr>
                        <m:t>,</m:t>
                      </m:r>
                      <m:r>
                        <a:rPr lang="fr-FR" sz="2400" i="1" dirty="0">
                          <a:latin typeface="Cambria Math" panose="02040503050406030204" pitchFamily="18" charset="0"/>
                        </a:rPr>
                        <m:t>𝑝𝑟𝑜𝑓𝑜𝑛𝑑𝑒𝑢𝑟𝑀𝑎𝑥𝑖𝑚𝑎𝑙𝑒</m:t>
                      </m:r>
                      <m:r>
                        <a:rPr lang="fr-FR" sz="2400" b="0" i="1" dirty="0" smtClean="0">
                          <a:latin typeface="Cambria Math" panose="02040503050406030204" pitchFamily="18" charset="0"/>
                        </a:rPr>
                        <m:t>,−∞,+∞</m:t>
                      </m:r>
                      <m:r>
                        <a:rPr lang="fr-FR" sz="2400" i="1" dirty="0">
                          <a:latin typeface="Cambria Math" panose="02040503050406030204" pitchFamily="18" charset="0"/>
                        </a:rPr>
                        <m:t>)</m:t>
                      </m:r>
                    </m:oMath>
                  </m:oMathPara>
                </a14:m>
                <a:endParaRPr lang="fr-FR" sz="2400" dirty="0"/>
              </a:p>
            </p:txBody>
          </p:sp>
        </mc:Choice>
        <mc:Fallback xmlns="">
          <p:sp>
            <p:nvSpPr>
              <p:cNvPr id="3" name="ZoneTexte 2">
                <a:extLst>
                  <a:ext uri="{FF2B5EF4-FFF2-40B4-BE49-F238E27FC236}">
                    <a16:creationId xmlns:a16="http://schemas.microsoft.com/office/drawing/2014/main" id="{F71B1AEB-37B5-763E-DF66-CAED091BA77B}"/>
                  </a:ext>
                </a:extLst>
              </p:cNvPr>
              <p:cNvSpPr txBox="1">
                <a:spLocks noRot="1" noChangeAspect="1" noMove="1" noResize="1" noEditPoints="1" noAdjustHandles="1" noChangeArrowheads="1" noChangeShapeType="1" noTextEdit="1"/>
              </p:cNvSpPr>
              <p:nvPr/>
            </p:nvSpPr>
            <p:spPr>
              <a:xfrm>
                <a:off x="844826" y="1431230"/>
                <a:ext cx="10525539" cy="3046988"/>
              </a:xfrm>
              <a:prstGeom prst="rect">
                <a:avLst/>
              </a:prstGeom>
              <a:blipFill>
                <a:blip r:embed="rId2"/>
                <a:stretch>
                  <a:fillRect l="-843" t="-1660" b="-1660"/>
                </a:stretch>
              </a:blipFill>
            </p:spPr>
            <p:txBody>
              <a:bodyPr/>
              <a:lstStyle/>
              <a:p>
                <a:r>
                  <a:rPr lang="fr-FR">
                    <a:noFill/>
                  </a:rPr>
                  <a:t> </a:t>
                </a:r>
              </a:p>
            </p:txBody>
          </p:sp>
        </mc:Fallback>
      </mc:AlternateContent>
      <p:pic>
        <p:nvPicPr>
          <p:cNvPr id="5" name="Graphique 4" descr="Infini avec un remplissage uni">
            <a:extLst>
              <a:ext uri="{FF2B5EF4-FFF2-40B4-BE49-F238E27FC236}">
                <a16:creationId xmlns:a16="http://schemas.microsoft.com/office/drawing/2014/main" id="{E7979179-8D56-8B13-ACC0-06FC4FC9A4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4136637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F8715-3A87-0E05-B1C2-717C168FEDC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34AB702-72D4-B5A0-F34F-3170B5631329}"/>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D59DFD59-C6F4-15D9-FBF7-DCAF232A1119}"/>
              </a:ext>
            </a:extLst>
          </p:cNvPr>
          <p:cNvSpPr txBox="1"/>
          <p:nvPr/>
        </p:nvSpPr>
        <p:spPr>
          <a:xfrm>
            <a:off x="844826" y="1431230"/>
            <a:ext cx="10525539" cy="1938992"/>
          </a:xfrm>
          <a:prstGeom prst="rect">
            <a:avLst/>
          </a:prstGeom>
          <a:noFill/>
        </p:spPr>
        <p:txBody>
          <a:bodyPr wrap="square" rtlCol="0">
            <a:spAutoFit/>
          </a:bodyPr>
          <a:lstStyle/>
          <a:p>
            <a:r>
              <a:rPr lang="fr-FR" sz="2400" b="1" dirty="0"/>
              <a:t>Expectimax : principe général</a:t>
            </a:r>
          </a:p>
          <a:p>
            <a:endParaRPr lang="fr-FR" sz="2400" dirty="0"/>
          </a:p>
          <a:p>
            <a:pPr marL="342900" indent="-342900">
              <a:buFont typeface="Arial" panose="020B0604020202020204" pitchFamily="34" charset="0"/>
              <a:buChar char="•"/>
            </a:pPr>
            <a:r>
              <a:rPr lang="fr-FR" sz="2400" dirty="0"/>
              <a:t>On peut facilement étendre l’algorithme MinMax aux jeux où un adversaire joue seul mais avec une intervention du hasard entre chacun de ses coups. Par exemple les jeux 2048 ou Just Get Ten :</a:t>
            </a:r>
          </a:p>
        </p:txBody>
      </p:sp>
      <p:pic>
        <p:nvPicPr>
          <p:cNvPr id="5" name="Image 4" descr="Une image contenant capture d’écran, carré, Rectangle&#10;&#10;Le contenu généré par l’IA peut être incorrect.">
            <a:extLst>
              <a:ext uri="{FF2B5EF4-FFF2-40B4-BE49-F238E27FC236}">
                <a16:creationId xmlns:a16="http://schemas.microsoft.com/office/drawing/2014/main" id="{72FCE247-8BB8-675A-70CF-C86A0E3945D9}"/>
              </a:ext>
            </a:extLst>
          </p:cNvPr>
          <p:cNvPicPr>
            <a:picLocks noChangeAspect="1"/>
          </p:cNvPicPr>
          <p:nvPr/>
        </p:nvPicPr>
        <p:blipFill>
          <a:blip r:embed="rId2"/>
          <a:stretch>
            <a:fillRect/>
          </a:stretch>
        </p:blipFill>
        <p:spPr>
          <a:xfrm>
            <a:off x="7045156" y="3600000"/>
            <a:ext cx="2880000" cy="2880000"/>
          </a:xfrm>
          <a:prstGeom prst="rect">
            <a:avLst/>
          </a:prstGeom>
        </p:spPr>
      </p:pic>
      <p:pic>
        <p:nvPicPr>
          <p:cNvPr id="7" name="Image 6" descr="Une image contenant capture d’écran, texte, carré, nombre&#10;&#10;Le contenu généré par l’IA peut être incorrect.">
            <a:extLst>
              <a:ext uri="{FF2B5EF4-FFF2-40B4-BE49-F238E27FC236}">
                <a16:creationId xmlns:a16="http://schemas.microsoft.com/office/drawing/2014/main" id="{D66FFF21-6B4F-4580-E78D-3BAA3A238EB1}"/>
              </a:ext>
            </a:extLst>
          </p:cNvPr>
          <p:cNvPicPr>
            <a:picLocks noChangeAspect="1"/>
          </p:cNvPicPr>
          <p:nvPr/>
        </p:nvPicPr>
        <p:blipFill>
          <a:blip r:embed="rId3"/>
          <a:stretch>
            <a:fillRect/>
          </a:stretch>
        </p:blipFill>
        <p:spPr>
          <a:xfrm>
            <a:off x="2266846" y="3600000"/>
            <a:ext cx="2880000" cy="2885256"/>
          </a:xfrm>
          <a:prstGeom prst="rect">
            <a:avLst/>
          </a:prstGeom>
        </p:spPr>
      </p:pic>
    </p:spTree>
    <p:extLst>
      <p:ext uri="{BB962C8B-B14F-4D97-AF65-F5344CB8AC3E}">
        <p14:creationId xmlns:p14="http://schemas.microsoft.com/office/powerpoint/2010/main" val="8119714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5FD3F-5CF6-8EBC-7EF1-80CDDE166BE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683194B-616A-ED70-E45F-4B95E4115932}"/>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B6D8A4F1-EC39-4018-BF56-48B3DF560111}"/>
              </a:ext>
            </a:extLst>
          </p:cNvPr>
          <p:cNvSpPr txBox="1"/>
          <p:nvPr/>
        </p:nvSpPr>
        <p:spPr>
          <a:xfrm>
            <a:off x="844826" y="1431230"/>
            <a:ext cx="10525539" cy="3416320"/>
          </a:xfrm>
          <a:prstGeom prst="rect">
            <a:avLst/>
          </a:prstGeom>
          <a:noFill/>
        </p:spPr>
        <p:txBody>
          <a:bodyPr wrap="square" rtlCol="0">
            <a:spAutoFit/>
          </a:bodyPr>
          <a:lstStyle/>
          <a:p>
            <a:r>
              <a:rPr lang="fr-FR" sz="2400" b="1" dirty="0"/>
              <a:t>Expectimax : principe général (suite)</a:t>
            </a:r>
          </a:p>
          <a:p>
            <a:endParaRPr lang="fr-FR" sz="2400" dirty="0"/>
          </a:p>
          <a:p>
            <a:pPr marL="342900" indent="-342900">
              <a:buFont typeface="Arial" panose="020B0604020202020204" pitchFamily="34" charset="0"/>
              <a:buChar char="•"/>
            </a:pPr>
            <a:r>
              <a:rPr lang="fr-FR" sz="2400" dirty="0"/>
              <a:t>Si l’on déploie l’arborescence des coups, les sommets “maximum“ resteront inchangés mais les sommets “minimum“ seront remplacés par de sommets où l’on calculera l’espérance des valeurs des sommets suivants.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Cela sous-entend bien sûr que l’on connaît les probabilités d’apparition des positions suivantes.</a:t>
            </a:r>
          </a:p>
        </p:txBody>
      </p:sp>
      <p:pic>
        <p:nvPicPr>
          <p:cNvPr id="5" name="Graphique 4" descr="Dé avec un remplissage uni">
            <a:extLst>
              <a:ext uri="{FF2B5EF4-FFF2-40B4-BE49-F238E27FC236}">
                <a16:creationId xmlns:a16="http://schemas.microsoft.com/office/drawing/2014/main" id="{AACDF7A3-C370-5C94-023D-F59ADF9645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7415661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9A307-B973-232E-F4C6-1A9265FDE17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3867175-9401-80EC-FB96-9B911EAF9732}"/>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953F262E-EF94-179C-9121-2495CFE6206F}"/>
              </a:ext>
            </a:extLst>
          </p:cNvPr>
          <p:cNvSpPr txBox="1"/>
          <p:nvPr/>
        </p:nvSpPr>
        <p:spPr>
          <a:xfrm>
            <a:off x="844826" y="1431230"/>
            <a:ext cx="10525539" cy="461665"/>
          </a:xfrm>
          <a:prstGeom prst="rect">
            <a:avLst/>
          </a:prstGeom>
          <a:noFill/>
        </p:spPr>
        <p:txBody>
          <a:bodyPr wrap="square" rtlCol="0">
            <a:spAutoFit/>
          </a:bodyPr>
          <a:lstStyle/>
          <a:p>
            <a:r>
              <a:rPr lang="fr-FR" sz="2400" b="1" dirty="0"/>
              <a:t>Expectimax : exemple de propagation de l’heuristique </a:t>
            </a:r>
          </a:p>
        </p:txBody>
      </p:sp>
      <p:pic>
        <p:nvPicPr>
          <p:cNvPr id="5" name="Image 4" descr="Une image contenant ligne, diagramme&#10;&#10;Le contenu généré par l’IA peut être incorrect.">
            <a:extLst>
              <a:ext uri="{FF2B5EF4-FFF2-40B4-BE49-F238E27FC236}">
                <a16:creationId xmlns:a16="http://schemas.microsoft.com/office/drawing/2014/main" id="{8ED978DB-7F5B-4EBF-4163-B68FB5CDC1D9}"/>
              </a:ext>
            </a:extLst>
          </p:cNvPr>
          <p:cNvPicPr>
            <a:picLocks noChangeAspect="1"/>
          </p:cNvPicPr>
          <p:nvPr/>
        </p:nvPicPr>
        <p:blipFill>
          <a:blip r:embed="rId2"/>
          <a:stretch>
            <a:fillRect/>
          </a:stretch>
        </p:blipFill>
        <p:spPr>
          <a:xfrm>
            <a:off x="2209800" y="2720736"/>
            <a:ext cx="7772400" cy="3349904"/>
          </a:xfrm>
          <a:prstGeom prst="rect">
            <a:avLst/>
          </a:prstGeom>
        </p:spPr>
      </p:pic>
    </p:spTree>
    <p:extLst>
      <p:ext uri="{BB962C8B-B14F-4D97-AF65-F5344CB8AC3E}">
        <p14:creationId xmlns:p14="http://schemas.microsoft.com/office/powerpoint/2010/main" val="34400614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99AE1-7EA5-5EC8-2372-F98F205BA2C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8F80AD8-E397-F2EF-B1B4-2125279B18E0}"/>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8C7E7276-AF73-BFFF-ADB6-7C57D9056A05}"/>
              </a:ext>
            </a:extLst>
          </p:cNvPr>
          <p:cNvSpPr txBox="1"/>
          <p:nvPr/>
        </p:nvSpPr>
        <p:spPr>
          <a:xfrm>
            <a:off x="844826" y="1431230"/>
            <a:ext cx="10525539" cy="461665"/>
          </a:xfrm>
          <a:prstGeom prst="rect">
            <a:avLst/>
          </a:prstGeom>
          <a:noFill/>
        </p:spPr>
        <p:txBody>
          <a:bodyPr wrap="square" rtlCol="0">
            <a:spAutoFit/>
          </a:bodyPr>
          <a:lstStyle/>
          <a:p>
            <a:r>
              <a:rPr lang="fr-FR" sz="2400" b="1" dirty="0"/>
              <a:t>Expectimax : exemple de propagation de l’heuristique (suite)</a:t>
            </a:r>
          </a:p>
        </p:txBody>
      </p:sp>
      <p:pic>
        <p:nvPicPr>
          <p:cNvPr id="5" name="Image 4" descr="Une image contenant ligne, diagramme&#10;&#10;Le contenu généré par l’IA peut être incorrect.">
            <a:extLst>
              <a:ext uri="{FF2B5EF4-FFF2-40B4-BE49-F238E27FC236}">
                <a16:creationId xmlns:a16="http://schemas.microsoft.com/office/drawing/2014/main" id="{6D09625C-527B-9B22-4E2A-8ED8955FDAAB}"/>
              </a:ext>
            </a:extLst>
          </p:cNvPr>
          <p:cNvPicPr>
            <a:picLocks noChangeAspect="1"/>
          </p:cNvPicPr>
          <p:nvPr/>
        </p:nvPicPr>
        <p:blipFill>
          <a:blip r:embed="rId2"/>
          <a:stretch>
            <a:fillRect/>
          </a:stretch>
        </p:blipFill>
        <p:spPr>
          <a:xfrm>
            <a:off x="2209800" y="2720734"/>
            <a:ext cx="7772400" cy="3349904"/>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98365451-4E31-8A5C-F409-15EBFB886D42}"/>
                  </a:ext>
                </a:extLst>
              </p:cNvPr>
              <p:cNvSpPr txBox="1"/>
              <p:nvPr/>
            </p:nvSpPr>
            <p:spPr>
              <a:xfrm>
                <a:off x="293511" y="2946400"/>
                <a:ext cx="339795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0,6×5+0,3×3+0,1×10=4,9</m:t>
                      </m:r>
                    </m:oMath>
                  </m:oMathPara>
                </a14:m>
                <a:endParaRPr lang="fr-FR" sz="1600" dirty="0"/>
              </a:p>
            </p:txBody>
          </p:sp>
        </mc:Choice>
        <mc:Fallback xmlns="">
          <p:sp>
            <p:nvSpPr>
              <p:cNvPr id="6" name="ZoneTexte 5">
                <a:extLst>
                  <a:ext uri="{FF2B5EF4-FFF2-40B4-BE49-F238E27FC236}">
                    <a16:creationId xmlns:a16="http://schemas.microsoft.com/office/drawing/2014/main" id="{98365451-4E31-8A5C-F409-15EBFB886D42}"/>
                  </a:ext>
                </a:extLst>
              </p:cNvPr>
              <p:cNvSpPr txBox="1">
                <a:spLocks noRot="1" noChangeAspect="1" noMove="1" noResize="1" noEditPoints="1" noAdjustHandles="1" noChangeArrowheads="1" noChangeShapeType="1" noTextEdit="1"/>
              </p:cNvSpPr>
              <p:nvPr/>
            </p:nvSpPr>
            <p:spPr>
              <a:xfrm>
                <a:off x="293511" y="2946400"/>
                <a:ext cx="3397956" cy="338554"/>
              </a:xfrm>
              <a:prstGeom prst="rect">
                <a:avLst/>
              </a:prstGeom>
              <a:blipFill>
                <a:blip r:embed="rId3"/>
                <a:stretch>
                  <a:fillRect/>
                </a:stretch>
              </a:blipFill>
            </p:spPr>
            <p:txBody>
              <a:bodyPr/>
              <a:lstStyle/>
              <a:p>
                <a:r>
                  <a:rPr lang="fr-FR">
                    <a:noFill/>
                  </a:rPr>
                  <a:t> </a:t>
                </a:r>
              </a:p>
            </p:txBody>
          </p:sp>
        </mc:Fallback>
      </mc:AlternateContent>
      <p:cxnSp>
        <p:nvCxnSpPr>
          <p:cNvPr id="8" name="Connecteur droit avec flèche 7">
            <a:extLst>
              <a:ext uri="{FF2B5EF4-FFF2-40B4-BE49-F238E27FC236}">
                <a16:creationId xmlns:a16="http://schemas.microsoft.com/office/drawing/2014/main" id="{4EF9264F-EE69-0B27-C87F-224AE774B8C5}"/>
              </a:ext>
            </a:extLst>
          </p:cNvPr>
          <p:cNvCxnSpPr>
            <a:cxnSpLocks/>
          </p:cNvCxnSpPr>
          <p:nvPr/>
        </p:nvCxnSpPr>
        <p:spPr>
          <a:xfrm>
            <a:off x="1862667" y="3429000"/>
            <a:ext cx="1241777" cy="488244"/>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82926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13DC4-0F31-15A1-806E-42E034D3B05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CDD1460-3747-13E5-9725-63EED4CE135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p:sp>
        <p:nvSpPr>
          <p:cNvPr id="3" name="ZoneTexte 2">
            <a:extLst>
              <a:ext uri="{FF2B5EF4-FFF2-40B4-BE49-F238E27FC236}">
                <a16:creationId xmlns:a16="http://schemas.microsoft.com/office/drawing/2014/main" id="{2579FE20-B73D-387A-673F-5BE084390259}"/>
              </a:ext>
            </a:extLst>
          </p:cNvPr>
          <p:cNvSpPr txBox="1"/>
          <p:nvPr/>
        </p:nvSpPr>
        <p:spPr>
          <a:xfrm>
            <a:off x="844826" y="1431230"/>
            <a:ext cx="10525539" cy="461665"/>
          </a:xfrm>
          <a:prstGeom prst="rect">
            <a:avLst/>
          </a:prstGeom>
          <a:noFill/>
        </p:spPr>
        <p:txBody>
          <a:bodyPr wrap="square" rtlCol="0">
            <a:spAutoFit/>
          </a:bodyPr>
          <a:lstStyle/>
          <a:p>
            <a:r>
              <a:rPr lang="fr-FR" sz="2400" b="1" dirty="0"/>
              <a:t>Expectimax : exemple de propagation de l’heuristique (suite)</a:t>
            </a:r>
          </a:p>
        </p:txBody>
      </p:sp>
      <p:pic>
        <p:nvPicPr>
          <p:cNvPr id="5" name="Image 4" descr="Une image contenant ligne, diagramme&#10;&#10;Le contenu généré par l’IA peut être incorrect.">
            <a:extLst>
              <a:ext uri="{FF2B5EF4-FFF2-40B4-BE49-F238E27FC236}">
                <a16:creationId xmlns:a16="http://schemas.microsoft.com/office/drawing/2014/main" id="{BF9F261A-75DA-152C-5718-EB6E33C2EF05}"/>
              </a:ext>
            </a:extLst>
          </p:cNvPr>
          <p:cNvPicPr>
            <a:picLocks noChangeAspect="1"/>
          </p:cNvPicPr>
          <p:nvPr/>
        </p:nvPicPr>
        <p:blipFill>
          <a:blip r:embed="rId2"/>
          <a:stretch>
            <a:fillRect/>
          </a:stretch>
        </p:blipFill>
        <p:spPr>
          <a:xfrm>
            <a:off x="2209800" y="2481507"/>
            <a:ext cx="7772400" cy="3583076"/>
          </a:xfrm>
          <a:prstGeom prst="rect">
            <a:avLst/>
          </a:prstGeom>
        </p:spPr>
      </p:pic>
    </p:spTree>
    <p:extLst>
      <p:ext uri="{BB962C8B-B14F-4D97-AF65-F5344CB8AC3E}">
        <p14:creationId xmlns:p14="http://schemas.microsoft.com/office/powerpoint/2010/main" val="4405219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77254-59E8-3AE9-D8F0-38567FE4053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EE33720-3310-C108-E1F8-CDDD0798F10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6D6B5E78-56F9-63B5-8B05-64CF4AC5882F}"/>
                  </a:ext>
                </a:extLst>
              </p:cNvPr>
              <p:cNvSpPr txBox="1"/>
              <p:nvPr/>
            </p:nvSpPr>
            <p:spPr>
              <a:xfrm>
                <a:off x="844826" y="1431230"/>
                <a:ext cx="10525539" cy="4462760"/>
              </a:xfrm>
              <a:prstGeom prst="rect">
                <a:avLst/>
              </a:prstGeom>
              <a:noFill/>
            </p:spPr>
            <p:txBody>
              <a:bodyPr wrap="square" rtlCol="0">
                <a:spAutoFit/>
              </a:bodyPr>
              <a:lstStyle/>
              <a:p>
                <a:r>
                  <a:rPr lang="fr-FR" sz="2400" b="1" dirty="0"/>
                  <a:t>Expectimax : pseudo-code</a:t>
                </a:r>
              </a:p>
              <a:p>
                <a:endParaRPr lang="fr-FR" sz="2400" dirty="0"/>
              </a:p>
              <a:p>
                <a:pPr marL="342900" indent="-342900">
                  <a:buFont typeface="Arial" panose="020B0604020202020204" pitchFamily="34" charset="0"/>
                  <a:buChar char="•"/>
                </a:pPr>
                <a:r>
                  <a:rPr lang="fr-FR" sz="2400" dirty="0"/>
                  <a:t>Dans le pseudo-code, il faudra simplement changer la partie concernant le second joueur :</a:t>
                </a:r>
              </a:p>
              <a:p>
                <a:pPr marL="342900" indent="-342900">
                  <a:buFont typeface="Arial" panose="020B0604020202020204" pitchFamily="34" charset="0"/>
                  <a:buChar char="•"/>
                </a:pPr>
                <a:endParaRPr lang="fr-FR" sz="2400" dirty="0"/>
              </a:p>
              <a:p>
                <a:pPr lvl="0"/>
                <a:endParaRPr lang="fr-FR" sz="2400" dirty="0">
                  <a:solidFill>
                    <a:prstClr val="black"/>
                  </a:solidFill>
                </a:endParaRPr>
              </a:p>
              <a:p>
                <a:pPr lvl="0"/>
                <a:r>
                  <a:rPr lang="fr-FR" sz="2000" dirty="0">
                    <a:solidFill>
                      <a:prstClr val="black"/>
                    </a:solidFill>
                  </a:rPr>
                  <a:t>SINON SI </a:t>
                </a:r>
                <a14:m>
                  <m:oMath xmlns:m="http://schemas.openxmlformats.org/officeDocument/2006/math">
                    <m:r>
                      <a:rPr lang="fr-FR" sz="2000" i="1" dirty="0">
                        <a:solidFill>
                          <a:prstClr val="black"/>
                        </a:solidFill>
                        <a:latin typeface="Cambria Math" panose="02040503050406030204" pitchFamily="18" charset="0"/>
                      </a:rPr>
                      <m:t>𝑗𝑜𝑢𝑒𝑢𝑟</m:t>
                    </m:r>
                    <m:r>
                      <a:rPr lang="fr-FR" sz="2000" i="1" dirty="0">
                        <a:solidFill>
                          <a:prstClr val="black"/>
                        </a:solidFill>
                        <a:latin typeface="Cambria Math" panose="02040503050406030204" pitchFamily="18" charset="0"/>
                      </a:rPr>
                      <m:t>==2</m:t>
                    </m:r>
                  </m:oMath>
                </a14:m>
                <a:r>
                  <a:rPr lang="fr-FR" sz="2000" dirty="0">
                    <a:solidFill>
                      <a:prstClr val="black"/>
                    </a:solidFill>
                  </a:rPr>
                  <a:t> ALORS</a:t>
                </a: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𝑣𝑎𝑙𝑒𝑢𝑟𝑀𝑜𝑦𝑒𝑛𝑛𝑒</m:t>
                    </m:r>
                    <m:r>
                      <a:rPr lang="fr-FR" sz="2000" i="1" dirty="0">
                        <a:solidFill>
                          <a:prstClr val="black"/>
                        </a:solidFill>
                        <a:latin typeface="Cambria Math" panose="02040503050406030204" pitchFamily="18" charset="0"/>
                        <a:ea typeface="Cambria Math" panose="02040503050406030204" pitchFamily="18" charset="0"/>
                      </a:rPr>
                      <m:t>←0</m:t>
                    </m:r>
                  </m:oMath>
                </a14:m>
                <a:r>
                  <a:rPr lang="fr-FR" sz="2000" dirty="0">
                    <a:solidFill>
                      <a:prstClr val="black"/>
                    </a:solidFill>
                  </a:rPr>
                  <a:t> </a:t>
                </a:r>
              </a:p>
              <a:p>
                <a:pPr lvl="0"/>
                <a:r>
                  <a:rPr lang="fr-FR" sz="2000" dirty="0">
                    <a:solidFill>
                      <a:prstClr val="black"/>
                    </a:solidFill>
                  </a:rPr>
                  <a:t>	POUR TOUT </a:t>
                </a:r>
                <a14:m>
                  <m:oMath xmlns:m="http://schemas.openxmlformats.org/officeDocument/2006/math">
                    <m:r>
                      <a:rPr lang="fr-FR" sz="2000" i="1" dirty="0">
                        <a:solidFill>
                          <a:prstClr val="black"/>
                        </a:solidFill>
                        <a:latin typeface="Cambria Math" panose="02040503050406030204" pitchFamily="18" charset="0"/>
                      </a:rPr>
                      <m:t>𝑐𝑜𝑢𝑝</m:t>
                    </m:r>
                  </m:oMath>
                </a14:m>
                <a:r>
                  <a:rPr lang="fr-FR" sz="2000" dirty="0">
                    <a:solidFill>
                      <a:prstClr val="black"/>
                    </a:solidFill>
                  </a:rPr>
                  <a:t> possible par </a:t>
                </a:r>
                <a14:m>
                  <m:oMath xmlns:m="http://schemas.openxmlformats.org/officeDocument/2006/math">
                    <m:r>
                      <a:rPr lang="fr-FR" sz="2000" i="1">
                        <a:solidFill>
                          <a:prstClr val="black"/>
                        </a:solidFill>
                        <a:latin typeface="Cambria Math" panose="02040503050406030204" pitchFamily="18" charset="0"/>
                      </a:rPr>
                      <m:t>𝑗𝑜𝑢𝑒𝑢𝑟𝐴𝑙</m:t>
                    </m:r>
                    <m:r>
                      <a:rPr lang="fr-FR" sz="2000" i="1">
                        <a:solidFill>
                          <a:prstClr val="black"/>
                        </a:solidFill>
                        <a:latin typeface="Cambria Math" panose="02040503050406030204" pitchFamily="18" charset="0"/>
                      </a:rPr>
                      <m:t>é</m:t>
                    </m:r>
                    <m:r>
                      <a:rPr lang="fr-FR" sz="2000" i="1">
                        <a:solidFill>
                          <a:prstClr val="black"/>
                        </a:solidFill>
                        <a:latin typeface="Cambria Math" panose="02040503050406030204" pitchFamily="18" charset="0"/>
                      </a:rPr>
                      <m:t>𝑎𝑡𝑜𝑖𝑟𝑒</m:t>
                    </m:r>
                  </m:oMath>
                </a14:m>
                <a:r>
                  <a:rPr lang="fr-FR" sz="2000" dirty="0">
                    <a:solidFill>
                      <a:prstClr val="black"/>
                    </a:solidFill>
                  </a:rPr>
                  <a:t> depuis </a:t>
                </a:r>
                <a14:m>
                  <m:oMath xmlns:m="http://schemas.openxmlformats.org/officeDocument/2006/math">
                    <m:r>
                      <a:rPr lang="fr-FR" sz="2000" i="1">
                        <a:solidFill>
                          <a:prstClr val="black"/>
                        </a:solidFill>
                        <a:latin typeface="Cambria Math" panose="02040503050406030204" pitchFamily="18" charset="0"/>
                      </a:rPr>
                      <m:t>𝑝𝑜𝑠𝑖𝑡𝑖𝑜𝑛</m:t>
                    </m:r>
                  </m:oMath>
                </a14:m>
                <a:r>
                  <a:rPr lang="fr-FR" sz="2000" dirty="0">
                    <a:solidFill>
                      <a:prstClr val="black"/>
                    </a:solidFill>
                  </a:rPr>
                  <a:t> FAIRE</a:t>
                </a: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𝑝𝑜𝑠𝑖𝑡𝑖𝑜𝑛𝑁𝑜𝑢𝑣𝑒𝑙𝑙𝑒</m:t>
                    </m:r>
                    <m:r>
                      <a:rPr lang="fr-FR" sz="2000" i="1" dirty="0">
                        <a:solidFill>
                          <a:prstClr val="black"/>
                        </a:solidFill>
                        <a:latin typeface="Cambria Math" panose="02040503050406030204" pitchFamily="18" charset="0"/>
                        <a:ea typeface="Cambria Math" panose="02040503050406030204" pitchFamily="18" charset="0"/>
                      </a:rPr>
                      <m:t>←</m:t>
                    </m:r>
                    <m:r>
                      <m:rPr>
                        <m:nor/>
                      </m:rPr>
                      <a:rPr lang="fr-FR" sz="2000" dirty="0" err="1">
                        <a:solidFill>
                          <a:prstClr val="black"/>
                        </a:solidFill>
                        <a:latin typeface="Cambria Math" panose="02040503050406030204" pitchFamily="18" charset="0"/>
                      </a:rPr>
                      <m:t>joueCoup</m:t>
                    </m:r>
                    <m:r>
                      <a:rPr lang="fr-FR" sz="2000" i="1" dirty="0">
                        <a:solidFill>
                          <a:prstClr val="black"/>
                        </a:solidFill>
                        <a:latin typeface="Cambria Math" panose="02040503050406030204" pitchFamily="18" charset="0"/>
                      </a:rPr>
                      <m:t>(</m:t>
                    </m:r>
                    <m:r>
                      <a:rPr lang="fr-FR" sz="2000" i="1" dirty="0">
                        <a:solidFill>
                          <a:prstClr val="black"/>
                        </a:solidFill>
                        <a:latin typeface="Cambria Math" panose="02040503050406030204" pitchFamily="18" charset="0"/>
                      </a:rPr>
                      <m:t>𝑗𝑒𝑢</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𝑝𝑜𝑠𝑖𝑡𝑖𝑜𝑛</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𝑗𝑜𝑢𝑒𝑢𝑟</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𝑐𝑜𝑢𝑝</m:t>
                    </m:r>
                    <m:r>
                      <a:rPr lang="fr-FR" sz="2000" i="1" dirty="0">
                        <a:solidFill>
                          <a:prstClr val="black"/>
                        </a:solidFill>
                        <a:latin typeface="Cambria Math" panose="02040503050406030204" pitchFamily="18" charset="0"/>
                      </a:rPr>
                      <m:t>)</m:t>
                    </m:r>
                  </m:oMath>
                </a14:m>
                <a:endParaRPr lang="fr-FR" sz="2000" dirty="0">
                  <a:solidFill>
                    <a:prstClr val="black"/>
                  </a:solidFill>
                </a:endParaRPr>
              </a:p>
              <a:p>
                <a:pPr lvl="0"/>
                <a:r>
                  <a:rPr lang="fr-FR" sz="2000" dirty="0">
                    <a:solidFill>
                      <a:prstClr val="black"/>
                    </a:solidFill>
                  </a:rPr>
                  <a:t>		</a:t>
                </a:r>
                <a14:m>
                  <m:oMath xmlns:m="http://schemas.openxmlformats.org/officeDocument/2006/math">
                    <m:r>
                      <a:rPr lang="fr-FR" sz="2000" i="1" dirty="0">
                        <a:solidFill>
                          <a:prstClr val="black"/>
                        </a:solidFill>
                        <a:latin typeface="Cambria Math" panose="02040503050406030204" pitchFamily="18" charset="0"/>
                      </a:rPr>
                      <m:t>𝑣𝑎𝑙𝑒𝑢𝑟</m:t>
                    </m:r>
                    <m:r>
                      <a:rPr lang="fr-FR" sz="2000" i="1" dirty="0">
                        <a:solidFill>
                          <a:prstClr val="black"/>
                        </a:solidFill>
                        <a:latin typeface="Cambria Math" panose="02040503050406030204" pitchFamily="18" charset="0"/>
                        <a:ea typeface="Cambria Math" panose="02040503050406030204" pitchFamily="18" charset="0"/>
                      </a:rPr>
                      <m:t>←</m:t>
                    </m:r>
                    <m:r>
                      <m:rPr>
                        <m:nor/>
                      </m:rPr>
                      <a:rPr lang="fr-FR" sz="2000">
                        <a:solidFill>
                          <a:prstClr val="black"/>
                        </a:solidFill>
                        <a:latin typeface="Cambria Math" panose="02040503050406030204" pitchFamily="18" charset="0"/>
                      </a:rPr>
                      <m:t>expectiMax</m:t>
                    </m:r>
                    <m:r>
                      <a:rPr lang="fr-FR" sz="2000" i="1" dirty="0">
                        <a:solidFill>
                          <a:prstClr val="black"/>
                        </a:solidFill>
                        <a:latin typeface="Cambria Math" panose="02040503050406030204" pitchFamily="18" charset="0"/>
                      </a:rPr>
                      <m:t>(</m:t>
                    </m:r>
                    <m:r>
                      <a:rPr lang="fr-FR" sz="2000" i="1" dirty="0">
                        <a:solidFill>
                          <a:prstClr val="black"/>
                        </a:solidFill>
                        <a:latin typeface="Cambria Math" panose="02040503050406030204" pitchFamily="18" charset="0"/>
                      </a:rPr>
                      <m:t>𝑗𝑒𝑢</m:t>
                    </m:r>
                    <m:r>
                      <a:rPr lang="fr-FR" sz="2000" i="1" dirty="0">
                        <a:solidFill>
                          <a:prstClr val="black"/>
                        </a:solidFill>
                        <a:latin typeface="Cambria Math" panose="02040503050406030204" pitchFamily="18" charset="0"/>
                      </a:rPr>
                      <m:t>, </m:t>
                    </m:r>
                    <m:r>
                      <a:rPr lang="fr-FR" sz="2000" i="1" dirty="0" err="1">
                        <a:solidFill>
                          <a:prstClr val="black"/>
                        </a:solidFill>
                        <a:latin typeface="Cambria Math" panose="02040503050406030204" pitchFamily="18" charset="0"/>
                      </a:rPr>
                      <m:t>𝑝𝑜𝑠𝑖𝑡𝑖𝑜𝑛𝑁𝑜𝑢𝑣𝑒𝑙𝑙𝑒</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𝑎𝑑𝑣𝑒𝑟𝑠𝑎𝑖𝑟𝑒</m:t>
                    </m:r>
                    <m:r>
                      <a:rPr lang="fr-FR" sz="2000" i="1" dirty="0">
                        <a:solidFill>
                          <a:prstClr val="black"/>
                        </a:solidFill>
                        <a:latin typeface="Cambria Math" panose="02040503050406030204" pitchFamily="18" charset="0"/>
                      </a:rPr>
                      <m:t>,</m:t>
                    </m:r>
                    <m:r>
                      <a:rPr lang="fr-FR" sz="2000" i="1" dirty="0">
                        <a:solidFill>
                          <a:prstClr val="black"/>
                        </a:solidFill>
                        <a:latin typeface="Cambria Math" panose="02040503050406030204" pitchFamily="18" charset="0"/>
                      </a:rPr>
                      <m:t>𝑝𝑟𝑜𝑓𝑜𝑛𝑑𝑒𝑢𝑟</m:t>
                    </m:r>
                    <m:r>
                      <a:rPr lang="fr-FR" sz="2000" i="1" dirty="0">
                        <a:solidFill>
                          <a:prstClr val="black"/>
                        </a:solidFill>
                        <a:latin typeface="Cambria Math" panose="02040503050406030204" pitchFamily="18" charset="0"/>
                      </a:rPr>
                      <m:t>−1)</m:t>
                    </m:r>
                  </m:oMath>
                </a14:m>
                <a:endParaRPr lang="fr-FR" sz="2000" dirty="0">
                  <a:solidFill>
                    <a:prstClr val="black"/>
                  </a:solidFill>
                </a:endParaRPr>
              </a:p>
              <a:p>
                <a:pPr lvl="0"/>
                <a:r>
                  <a:rPr lang="fr-FR" sz="2000" dirty="0">
                    <a:solidFill>
                      <a:prstClr val="black"/>
                    </a:solidFill>
                  </a:rPr>
                  <a:t>		</a:t>
                </a:r>
                <a14:m>
                  <m:oMath xmlns:m="http://schemas.openxmlformats.org/officeDocument/2006/math">
                    <m:r>
                      <a:rPr lang="fr-FR" sz="2000" i="1">
                        <a:solidFill>
                          <a:prstClr val="black"/>
                        </a:solidFill>
                        <a:latin typeface="Cambria Math" panose="02040503050406030204" pitchFamily="18" charset="0"/>
                      </a:rPr>
                      <m:t>𝑣𝑎𝑙𝑒𝑢𝑟𝑀𝑜𝑦𝑒𝑛𝑛𝑒</m:t>
                    </m:r>
                    <m:r>
                      <a:rPr lang="fr-FR" sz="2000" i="1">
                        <a:solidFill>
                          <a:prstClr val="black"/>
                        </a:solidFill>
                        <a:latin typeface="Cambria Math" panose="02040503050406030204" pitchFamily="18" charset="0"/>
                        <a:ea typeface="Cambria Math" panose="02040503050406030204" pitchFamily="18" charset="0"/>
                      </a:rPr>
                      <m:t>←</m:t>
                    </m:r>
                    <m:r>
                      <a:rPr lang="fr-FR" sz="2000" i="1">
                        <a:solidFill>
                          <a:prstClr val="black"/>
                        </a:solidFill>
                        <a:latin typeface="Cambria Math" panose="02040503050406030204" pitchFamily="18" charset="0"/>
                        <a:ea typeface="Cambria Math" panose="02040503050406030204" pitchFamily="18" charset="0"/>
                      </a:rPr>
                      <m:t>𝑣𝑎𝑙𝑒𝑢𝑟𝑀𝑜𝑦𝑒𝑛𝑛𝑒</m:t>
                    </m:r>
                    <m:r>
                      <a:rPr lang="fr-FR" sz="2000" i="1">
                        <a:solidFill>
                          <a:prstClr val="black"/>
                        </a:solidFill>
                        <a:latin typeface="Cambria Math" panose="02040503050406030204" pitchFamily="18" charset="0"/>
                        <a:ea typeface="Cambria Math" panose="02040503050406030204" pitchFamily="18" charset="0"/>
                      </a:rPr>
                      <m:t>+</m:t>
                    </m:r>
                    <m:r>
                      <a:rPr lang="fr-FR" sz="2000" i="1">
                        <a:solidFill>
                          <a:prstClr val="black"/>
                        </a:solidFill>
                        <a:latin typeface="Cambria Math" panose="02040503050406030204" pitchFamily="18" charset="0"/>
                        <a:ea typeface="Cambria Math" panose="02040503050406030204" pitchFamily="18" charset="0"/>
                      </a:rPr>
                      <m:t>ℙ</m:t>
                    </m:r>
                    <m:d>
                      <m:dPr>
                        <m:ctrlPr>
                          <a:rPr lang="fr-FR" sz="2000" i="1">
                            <a:solidFill>
                              <a:prstClr val="black"/>
                            </a:solidFill>
                            <a:latin typeface="Cambria Math" panose="02040503050406030204" pitchFamily="18" charset="0"/>
                            <a:ea typeface="Cambria Math" panose="02040503050406030204" pitchFamily="18" charset="0"/>
                          </a:rPr>
                        </m:ctrlPr>
                      </m:dPr>
                      <m:e>
                        <m:r>
                          <a:rPr lang="fr-FR" sz="2000" i="1">
                            <a:solidFill>
                              <a:prstClr val="black"/>
                            </a:solidFill>
                            <a:latin typeface="Cambria Math" panose="02040503050406030204" pitchFamily="18" charset="0"/>
                            <a:ea typeface="Cambria Math" panose="02040503050406030204" pitchFamily="18" charset="0"/>
                          </a:rPr>
                          <m:t>𝑝𝑜𝑠𝑖𝑡𝑖𝑜𝑛𝑁𝑜𝑢𝑣𝑒𝑙𝑙𝑒</m:t>
                        </m:r>
                      </m:e>
                    </m:d>
                    <m:r>
                      <a:rPr lang="fr-FR" sz="2000" i="1">
                        <a:solidFill>
                          <a:prstClr val="black"/>
                        </a:solidFill>
                        <a:latin typeface="Cambria Math" panose="02040503050406030204" pitchFamily="18" charset="0"/>
                        <a:ea typeface="Cambria Math" panose="02040503050406030204" pitchFamily="18" charset="0"/>
                      </a:rPr>
                      <m:t>×</m:t>
                    </m:r>
                    <m:r>
                      <a:rPr lang="fr-FR" sz="2000" i="1">
                        <a:solidFill>
                          <a:prstClr val="black"/>
                        </a:solidFill>
                        <a:latin typeface="Cambria Math" panose="02040503050406030204" pitchFamily="18" charset="0"/>
                        <a:ea typeface="Cambria Math" panose="02040503050406030204" pitchFamily="18" charset="0"/>
                      </a:rPr>
                      <m:t>𝑣𝑎𝑙𝑒𝑢𝑟</m:t>
                    </m:r>
                  </m:oMath>
                </a14:m>
                <a:endParaRPr lang="fr-FR" sz="2000" dirty="0">
                  <a:solidFill>
                    <a:prstClr val="black"/>
                  </a:solidFill>
                </a:endParaRPr>
              </a:p>
              <a:p>
                <a:pPr lvl="0"/>
                <a:r>
                  <a:rPr lang="fr-FR" sz="2000" dirty="0">
                    <a:solidFill>
                      <a:prstClr val="black"/>
                    </a:solidFill>
                  </a:rPr>
                  <a:t>	RETOURNER </a:t>
                </a:r>
                <a14:m>
                  <m:oMath xmlns:m="http://schemas.openxmlformats.org/officeDocument/2006/math">
                    <m:r>
                      <a:rPr lang="fr-FR" sz="2000" i="1" dirty="0">
                        <a:solidFill>
                          <a:prstClr val="black"/>
                        </a:solidFill>
                        <a:latin typeface="Cambria Math" panose="02040503050406030204" pitchFamily="18" charset="0"/>
                      </a:rPr>
                      <m:t>𝑣𝑎𝑙𝑒𝑢𝑟𝑀𝑜𝑦𝑒𝑛𝑛𝑒</m:t>
                    </m:r>
                  </m:oMath>
                </a14:m>
                <a:endParaRPr lang="fr-FR" sz="2400" dirty="0">
                  <a:solidFill>
                    <a:prstClr val="black"/>
                  </a:solidFill>
                </a:endParaRPr>
              </a:p>
            </p:txBody>
          </p:sp>
        </mc:Choice>
        <mc:Fallback xmlns="">
          <p:sp>
            <p:nvSpPr>
              <p:cNvPr id="3" name="ZoneTexte 2">
                <a:extLst>
                  <a:ext uri="{FF2B5EF4-FFF2-40B4-BE49-F238E27FC236}">
                    <a16:creationId xmlns:a16="http://schemas.microsoft.com/office/drawing/2014/main" id="{6D6B5E78-56F9-63B5-8B05-64CF4AC5882F}"/>
                  </a:ext>
                </a:extLst>
              </p:cNvPr>
              <p:cNvSpPr txBox="1">
                <a:spLocks noRot="1" noChangeAspect="1" noMove="1" noResize="1" noEditPoints="1" noAdjustHandles="1" noChangeArrowheads="1" noChangeShapeType="1" noTextEdit="1"/>
              </p:cNvSpPr>
              <p:nvPr/>
            </p:nvSpPr>
            <p:spPr>
              <a:xfrm>
                <a:off x="844826" y="1431230"/>
                <a:ext cx="10525539" cy="4462760"/>
              </a:xfrm>
              <a:prstGeom prst="rect">
                <a:avLst/>
              </a:prstGeom>
              <a:blipFill>
                <a:blip r:embed="rId2"/>
                <a:stretch>
                  <a:fillRect l="-843" t="-1133" b="-1416"/>
                </a:stretch>
              </a:blipFill>
            </p:spPr>
            <p:txBody>
              <a:bodyPr/>
              <a:lstStyle/>
              <a:p>
                <a:r>
                  <a:rPr lang="fr-FR">
                    <a:noFill/>
                  </a:rPr>
                  <a:t> </a:t>
                </a:r>
              </a:p>
            </p:txBody>
          </p:sp>
        </mc:Fallback>
      </mc:AlternateContent>
    </p:spTree>
    <p:extLst>
      <p:ext uri="{BB962C8B-B14F-4D97-AF65-F5344CB8AC3E}">
        <p14:creationId xmlns:p14="http://schemas.microsoft.com/office/powerpoint/2010/main" val="4155814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F8940-47C3-84AD-0AB0-992C095E6AA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9EA7747-603A-A38B-17CA-5AE844E56C42}"/>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Algorithme MinMax.</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490F9BB7-4ACD-B946-2214-F7FAE7ADC2D2}"/>
                  </a:ext>
                </a:extLst>
              </p:cNvPr>
              <p:cNvSpPr txBox="1"/>
              <p:nvPr/>
            </p:nvSpPr>
            <p:spPr>
              <a:xfrm>
                <a:off x="844826" y="1431230"/>
                <a:ext cx="10525539" cy="4154984"/>
              </a:xfrm>
              <a:prstGeom prst="rect">
                <a:avLst/>
              </a:prstGeom>
              <a:noFill/>
            </p:spPr>
            <p:txBody>
              <a:bodyPr wrap="square" rtlCol="0">
                <a:spAutoFit/>
              </a:bodyPr>
              <a:lstStyle/>
              <a:p>
                <a:r>
                  <a:rPr lang="fr-FR" sz="2400" b="1" dirty="0"/>
                  <a:t>Expectimax : pseudo-code (suite)</a:t>
                </a:r>
              </a:p>
              <a:p>
                <a:endParaRPr lang="fr-FR" sz="2400" dirty="0"/>
              </a:p>
              <a:p>
                <a:pPr marL="342900" indent="-342900">
                  <a:buFont typeface="Arial" panose="020B0604020202020204" pitchFamily="34" charset="0"/>
                  <a:buChar char="•"/>
                </a:pPr>
                <a:r>
                  <a:rPr lang="fr-FR" sz="2400" dirty="0"/>
                  <a:t>À noter que cela n’a plus de sens maintenant de retourner un coup optimal puisque l’on calcule une moyenne sur plusieurs coups.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C’est uniquement à l’issue des parcours que l’on déterminera le coup à effectuer par le premier joueur en choisissant celui correspondant à la valeur maximale.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L’élagage alpha / bêta sera plus difficile à mettre en place car le successeur d’un sommet “moyenne“ pourra tout à fait avoir une valeur sortant de la plage définie par </a:t>
                </a:r>
                <a14:m>
                  <m:oMath xmlns:m="http://schemas.openxmlformats.org/officeDocument/2006/math">
                    <m:r>
                      <a:rPr lang="fr-FR" sz="2400" b="0" i="1" smtClean="0">
                        <a:latin typeface="Cambria Math" panose="02040503050406030204" pitchFamily="18" charset="0"/>
                      </a:rPr>
                      <m:t>𝛼</m:t>
                    </m:r>
                  </m:oMath>
                </a14:m>
                <a:r>
                  <a:rPr lang="fr-FR" sz="2400" dirty="0"/>
                  <a:t> et </a:t>
                </a:r>
                <a14:m>
                  <m:oMath xmlns:m="http://schemas.openxmlformats.org/officeDocument/2006/math">
                    <m:r>
                      <a:rPr lang="fr-FR" sz="2400" b="0" i="1" smtClean="0">
                        <a:latin typeface="Cambria Math" panose="02040503050406030204" pitchFamily="18" charset="0"/>
                      </a:rPr>
                      <m:t>𝛽</m:t>
                    </m:r>
                  </m:oMath>
                </a14:m>
                <a:r>
                  <a:rPr lang="fr-FR" sz="2400" dirty="0"/>
                  <a:t> alors que la moyenne pondérée restera dans cette plage.</a:t>
                </a:r>
              </a:p>
            </p:txBody>
          </p:sp>
        </mc:Choice>
        <mc:Fallback xmlns="">
          <p:sp>
            <p:nvSpPr>
              <p:cNvPr id="3" name="ZoneTexte 2">
                <a:extLst>
                  <a:ext uri="{FF2B5EF4-FFF2-40B4-BE49-F238E27FC236}">
                    <a16:creationId xmlns:a16="http://schemas.microsoft.com/office/drawing/2014/main" id="{490F9BB7-4ACD-B946-2214-F7FAE7ADC2D2}"/>
                  </a:ext>
                </a:extLst>
              </p:cNvPr>
              <p:cNvSpPr txBox="1">
                <a:spLocks noRot="1" noChangeAspect="1" noMove="1" noResize="1" noEditPoints="1" noAdjustHandles="1" noChangeArrowheads="1" noChangeShapeType="1" noTextEdit="1"/>
              </p:cNvSpPr>
              <p:nvPr/>
            </p:nvSpPr>
            <p:spPr>
              <a:xfrm>
                <a:off x="844826" y="1431230"/>
                <a:ext cx="10525539" cy="4154984"/>
              </a:xfrm>
              <a:prstGeom prst="rect">
                <a:avLst/>
              </a:prstGeom>
              <a:blipFill>
                <a:blip r:embed="rId3"/>
                <a:stretch>
                  <a:fillRect l="-843" t="-1220" r="-723" b="-2439"/>
                </a:stretch>
              </a:blipFill>
            </p:spPr>
            <p:txBody>
              <a:bodyPr/>
              <a:lstStyle/>
              <a:p>
                <a:r>
                  <a:rPr lang="fr-FR">
                    <a:noFill/>
                  </a:rPr>
                  <a:t> </a:t>
                </a:r>
              </a:p>
            </p:txBody>
          </p:sp>
        </mc:Fallback>
      </mc:AlternateContent>
    </p:spTree>
    <p:extLst>
      <p:ext uri="{BB962C8B-B14F-4D97-AF65-F5344CB8AC3E}">
        <p14:creationId xmlns:p14="http://schemas.microsoft.com/office/powerpoint/2010/main" val="20510060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117F3F9E-E45E-9844-8215-AA148A5923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
        <p:nvSpPr>
          <p:cNvPr id="6" name="Titre 1">
            <a:extLst>
              <a:ext uri="{FF2B5EF4-FFF2-40B4-BE49-F238E27FC236}">
                <a16:creationId xmlns:a16="http://schemas.microsoft.com/office/drawing/2014/main" id="{6784514D-DFE8-6540-A8D9-ED1329C44D3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olidFill>
                  <a:schemeClr val="bg1"/>
                </a:solidFill>
              </a:rPr>
              <a:t>2. Algorithme MinMax.</a:t>
            </a:r>
          </a:p>
        </p:txBody>
      </p:sp>
    </p:spTree>
    <p:extLst>
      <p:ext uri="{BB962C8B-B14F-4D97-AF65-F5344CB8AC3E}">
        <p14:creationId xmlns:p14="http://schemas.microsoft.com/office/powerpoint/2010/main" val="11844676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1709738"/>
            <a:ext cx="10515600" cy="2851200"/>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5400" dirty="0"/>
          </a:p>
          <a:p>
            <a:endParaRPr lang="fr-FR" sz="5400" dirty="0"/>
          </a:p>
          <a:p>
            <a:endParaRPr lang="fr-FR" sz="5400" dirty="0"/>
          </a:p>
          <a:p>
            <a:r>
              <a:rPr lang="fr-FR" sz="5400" dirty="0">
                <a:solidFill>
                  <a:schemeClr val="bg1"/>
                </a:solidFill>
              </a:rPr>
              <a:t>3. Monte Carlo Tree Search.</a:t>
            </a:r>
          </a:p>
        </p:txBody>
      </p:sp>
    </p:spTree>
    <p:extLst>
      <p:ext uri="{BB962C8B-B14F-4D97-AF65-F5344CB8AC3E}">
        <p14:creationId xmlns:p14="http://schemas.microsoft.com/office/powerpoint/2010/main" val="29640923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4A4AD-2CEB-1603-29B1-3F1035C088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1BB9901-8A52-C988-697F-3738EA4B3B2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37DB2DAF-5007-BD20-8207-DB85809C3B06}"/>
                  </a:ext>
                </a:extLst>
              </p:cNvPr>
              <p:cNvSpPr txBox="1"/>
              <p:nvPr/>
            </p:nvSpPr>
            <p:spPr>
              <a:xfrm>
                <a:off x="844826" y="1431230"/>
                <a:ext cx="10525539" cy="2677656"/>
              </a:xfrm>
              <a:prstGeom prst="rect">
                <a:avLst/>
              </a:prstGeom>
              <a:noFill/>
            </p:spPr>
            <p:txBody>
              <a:bodyPr wrap="square" rtlCol="0">
                <a:spAutoFit/>
              </a:bodyPr>
              <a:lstStyle/>
              <a:p>
                <a:r>
                  <a:rPr lang="fr-FR" sz="2400" b="1" dirty="0"/>
                  <a:t>Origine de la terminologie Monte Carlo</a:t>
                </a:r>
              </a:p>
              <a:p>
                <a:endParaRPr lang="fr-FR" sz="2400" dirty="0"/>
              </a:p>
              <a:p>
                <a:pPr marL="342900" indent="-342900">
                  <a:buFont typeface="Arial" panose="020B0604020202020204" pitchFamily="34" charset="0"/>
                  <a:buChar char="•"/>
                </a:pPr>
                <a:r>
                  <a:rPr lang="fr-FR" sz="2400" dirty="0"/>
                  <a:t>On qualifie du nom de </a:t>
                </a:r>
                <a:r>
                  <a:rPr lang="fr-FR" sz="2400" b="1" dirty="0"/>
                  <a:t>Monte Carlo </a:t>
                </a:r>
                <a:r>
                  <a:rPr lang="fr-FR" sz="2400" dirty="0"/>
                  <a:t>des algorithmes évaluant une valeur par des simulations aléatoires. Il s’agit d’une référence au casino du même nom situé à Monaco.</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Exemple basique : calcul approché de la valeur de </a:t>
                </a:r>
                <a14:m>
                  <m:oMath xmlns:m="http://schemas.openxmlformats.org/officeDocument/2006/math">
                    <m:r>
                      <a:rPr lang="fr-FR" sz="2400" b="0" i="1" smtClean="0">
                        <a:latin typeface="Cambria Math" panose="02040503050406030204" pitchFamily="18" charset="0"/>
                      </a:rPr>
                      <m:t>𝜋</m:t>
                    </m:r>
                  </m:oMath>
                </a14:m>
                <a:endParaRPr lang="fr-FR" sz="2400" dirty="0"/>
              </a:p>
            </p:txBody>
          </p:sp>
        </mc:Choice>
        <mc:Fallback xmlns="">
          <p:sp>
            <p:nvSpPr>
              <p:cNvPr id="3" name="ZoneTexte 2">
                <a:extLst>
                  <a:ext uri="{FF2B5EF4-FFF2-40B4-BE49-F238E27FC236}">
                    <a16:creationId xmlns:a16="http://schemas.microsoft.com/office/drawing/2014/main" id="{37DB2DAF-5007-BD20-8207-DB85809C3B06}"/>
                  </a:ext>
                </a:extLst>
              </p:cNvPr>
              <p:cNvSpPr txBox="1">
                <a:spLocks noRot="1" noChangeAspect="1" noMove="1" noResize="1" noEditPoints="1" noAdjustHandles="1" noChangeArrowheads="1" noChangeShapeType="1" noTextEdit="1"/>
              </p:cNvSpPr>
              <p:nvPr/>
            </p:nvSpPr>
            <p:spPr>
              <a:xfrm>
                <a:off x="844826" y="1431230"/>
                <a:ext cx="10525539" cy="2677656"/>
              </a:xfrm>
              <a:prstGeom prst="rect">
                <a:avLst/>
              </a:prstGeom>
              <a:blipFill>
                <a:blip r:embed="rId2"/>
                <a:stretch>
                  <a:fillRect l="-843" t="-1887" r="-843" b="-4245"/>
                </a:stretch>
              </a:blipFill>
            </p:spPr>
            <p:txBody>
              <a:bodyPr/>
              <a:lstStyle/>
              <a:p>
                <a:r>
                  <a:rPr lang="fr-FR">
                    <a:noFill/>
                  </a:rPr>
                  <a:t> </a:t>
                </a:r>
              </a:p>
            </p:txBody>
          </p:sp>
        </mc:Fallback>
      </mc:AlternateContent>
      <p:pic>
        <p:nvPicPr>
          <p:cNvPr id="5" name="Image 4" descr="Une image contenant motif, capture d’écran, Rectangle, art&#10;&#10;Le contenu généré par l’IA peut être incorrect.">
            <a:extLst>
              <a:ext uri="{FF2B5EF4-FFF2-40B4-BE49-F238E27FC236}">
                <a16:creationId xmlns:a16="http://schemas.microsoft.com/office/drawing/2014/main" id="{BFF5551B-D969-F667-7C98-7FC516DACFA1}"/>
              </a:ext>
            </a:extLst>
          </p:cNvPr>
          <p:cNvPicPr>
            <a:picLocks noChangeAspect="1"/>
          </p:cNvPicPr>
          <p:nvPr/>
        </p:nvPicPr>
        <p:blipFill>
          <a:blip r:embed="rId3"/>
          <a:stretch>
            <a:fillRect/>
          </a:stretch>
        </p:blipFill>
        <p:spPr>
          <a:xfrm>
            <a:off x="2300762" y="4335541"/>
            <a:ext cx="2656410" cy="2520000"/>
          </a:xfrm>
          <a:prstGeom prst="rect">
            <a:avLst/>
          </a:prstGeom>
        </p:spPr>
      </p:pic>
      <p:pic>
        <p:nvPicPr>
          <p:cNvPr id="7" name="Image 6" descr="Une image contenant motif, art, capture d’écran&#10;&#10;Le contenu généré par l’IA peut être incorrect.">
            <a:extLst>
              <a:ext uri="{FF2B5EF4-FFF2-40B4-BE49-F238E27FC236}">
                <a16:creationId xmlns:a16="http://schemas.microsoft.com/office/drawing/2014/main" id="{C6D3F5AC-A21F-1013-6208-EEF3B68F606D}"/>
              </a:ext>
            </a:extLst>
          </p:cNvPr>
          <p:cNvPicPr>
            <a:picLocks noChangeAspect="1"/>
          </p:cNvPicPr>
          <p:nvPr/>
        </p:nvPicPr>
        <p:blipFill>
          <a:blip r:embed="rId4"/>
          <a:stretch>
            <a:fillRect/>
          </a:stretch>
        </p:blipFill>
        <p:spPr>
          <a:xfrm>
            <a:off x="7234830" y="4335541"/>
            <a:ext cx="2656410" cy="2520000"/>
          </a:xfrm>
          <a:prstGeom prst="rect">
            <a:avLst/>
          </a:prstGeom>
        </p:spPr>
      </p:pic>
    </p:spTree>
    <p:extLst>
      <p:ext uri="{BB962C8B-B14F-4D97-AF65-F5344CB8AC3E}">
        <p14:creationId xmlns:p14="http://schemas.microsoft.com/office/powerpoint/2010/main" val="36794449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7036D-36C3-0E1D-EC0C-BFF74AB8295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9E7E008-F669-1661-D587-5E9D15148998}"/>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769CAB2-5BAC-D19F-654E-BD873EF495FF}"/>
                  </a:ext>
                </a:extLst>
              </p:cNvPr>
              <p:cNvSpPr txBox="1"/>
              <p:nvPr/>
            </p:nvSpPr>
            <p:spPr>
              <a:xfrm>
                <a:off x="844826" y="1431230"/>
                <a:ext cx="10525539" cy="3416320"/>
              </a:xfrm>
              <a:prstGeom prst="rect">
                <a:avLst/>
              </a:prstGeom>
              <a:noFill/>
            </p:spPr>
            <p:txBody>
              <a:bodyPr wrap="square" rtlCol="0">
                <a:spAutoFit/>
              </a:bodyPr>
              <a:lstStyle/>
              <a:p>
                <a:r>
                  <a:rPr lang="fr-FR" sz="2400" b="1" dirty="0"/>
                  <a:t>Limites de l’algorithme MinMax</a:t>
                </a:r>
              </a:p>
              <a:p>
                <a:endParaRPr lang="fr-FR" sz="2400" dirty="0"/>
              </a:p>
              <a:p>
                <a:pPr marL="342900" indent="-342900">
                  <a:buFont typeface="Arial" panose="020B0604020202020204" pitchFamily="34" charset="0"/>
                  <a:buChar char="•"/>
                </a:pPr>
                <a:r>
                  <a:rPr lang="fr-FR" sz="2400" dirty="0"/>
                  <a:t>Le facteur de branchement de certains jeux, </a:t>
                </a:r>
                <a:r>
                  <a:rPr lang="fr-FR" sz="2400" i="1" dirty="0"/>
                  <a:t>i.e.</a:t>
                </a:r>
                <a:r>
                  <a:rPr lang="fr-FR" sz="2400" dirty="0"/>
                  <a:t> le nombre d’enfants d’un sommet, est trop important et limite la profondeur maximale jusqu’à laquelle on peut explorer l’arborescence.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 facteur est par exemple égal en moyenne à </a:t>
                </a:r>
                <a14:m>
                  <m:oMath xmlns:m="http://schemas.openxmlformats.org/officeDocument/2006/math">
                    <m:r>
                      <a:rPr lang="fr-FR" sz="2400" b="0" i="1" smtClean="0">
                        <a:latin typeface="Cambria Math" panose="02040503050406030204" pitchFamily="18" charset="0"/>
                      </a:rPr>
                      <m:t>250</m:t>
                    </m:r>
                  </m:oMath>
                </a14:m>
                <a:r>
                  <a:rPr lang="fr-FR" sz="2400" dirty="0"/>
                  <a:t> pour le jeu de Go ce qui restreint la profondeur à une dizaine de coups par joueur.</a:t>
                </a:r>
              </a:p>
            </p:txBody>
          </p:sp>
        </mc:Choice>
        <mc:Fallback xmlns="">
          <p:sp>
            <p:nvSpPr>
              <p:cNvPr id="3" name="ZoneTexte 2">
                <a:extLst>
                  <a:ext uri="{FF2B5EF4-FFF2-40B4-BE49-F238E27FC236}">
                    <a16:creationId xmlns:a16="http://schemas.microsoft.com/office/drawing/2014/main" id="{D769CAB2-5BAC-D19F-654E-BD873EF495FF}"/>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2"/>
                <a:stretch>
                  <a:fillRect l="-843" t="-1481" r="-964" b="-3333"/>
                </a:stretch>
              </a:blipFill>
            </p:spPr>
            <p:txBody>
              <a:bodyPr/>
              <a:lstStyle/>
              <a:p>
                <a:r>
                  <a:rPr lang="fr-FR">
                    <a:noFill/>
                  </a:rPr>
                  <a:t> </a:t>
                </a:r>
              </a:p>
            </p:txBody>
          </p:sp>
        </mc:Fallback>
      </mc:AlternateContent>
      <p:pic>
        <p:nvPicPr>
          <p:cNvPr id="7" name="Graphique 6" descr="Haute tension avec un remplissage uni">
            <a:extLst>
              <a:ext uri="{FF2B5EF4-FFF2-40B4-BE49-F238E27FC236}">
                <a16:creationId xmlns:a16="http://schemas.microsoft.com/office/drawing/2014/main" id="{8C351859-4B7F-EAF1-1A73-A630E4A8F0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81129276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E2B83-6E68-6268-999E-FB93D77992B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6CA1CB1-973E-8088-3E09-D6256DE49E21}"/>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724E69CF-30B9-434B-0604-3403F62715FE}"/>
              </a:ext>
            </a:extLst>
          </p:cNvPr>
          <p:cNvSpPr txBox="1"/>
          <p:nvPr/>
        </p:nvSpPr>
        <p:spPr>
          <a:xfrm>
            <a:off x="844826" y="1431230"/>
            <a:ext cx="10525539" cy="3046988"/>
          </a:xfrm>
          <a:prstGeom prst="rect">
            <a:avLst/>
          </a:prstGeom>
          <a:noFill/>
        </p:spPr>
        <p:txBody>
          <a:bodyPr wrap="square" rtlCol="0">
            <a:spAutoFit/>
          </a:bodyPr>
          <a:lstStyle/>
          <a:p>
            <a:r>
              <a:rPr lang="fr-FR" sz="2400" b="1" dirty="0"/>
              <a:t>Limites de l’algorithme MinMax (suite)</a:t>
            </a:r>
          </a:p>
          <a:p>
            <a:endParaRPr lang="fr-FR" sz="2400" dirty="0"/>
          </a:p>
          <a:p>
            <a:pPr marL="342900" indent="-342900">
              <a:buFont typeface="Arial" panose="020B0604020202020204" pitchFamily="34" charset="0"/>
              <a:buChar char="•"/>
            </a:pPr>
            <a:r>
              <a:rPr lang="fr-FR" sz="2400" dirty="0"/>
              <a:t>D’autre part établir une “bonne“ heuristique est très délicat.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En particulier pour des jeux où est des renversements de situations sont rapides, c’est-à-dire des jeux où un simple coup peut transformer une situation favorable en une situation défavorable. </a:t>
            </a:r>
          </a:p>
        </p:txBody>
      </p:sp>
      <p:pic>
        <p:nvPicPr>
          <p:cNvPr id="5" name="Graphique 4" descr="Poids inégaux avec un remplissage uni">
            <a:extLst>
              <a:ext uri="{FF2B5EF4-FFF2-40B4-BE49-F238E27FC236}">
                <a16:creationId xmlns:a16="http://schemas.microsoft.com/office/drawing/2014/main" id="{C799ABAA-A426-ED93-713E-249E5A54B2B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00661771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EB959-0F89-1C0E-6B37-6D0ADD593B6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E06BCB7-9743-9420-4511-F10D22C91814}"/>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2F340B9B-5A90-4C90-3CFB-A088E3C225E0}"/>
              </a:ext>
            </a:extLst>
          </p:cNvPr>
          <p:cNvSpPr txBox="1"/>
          <p:nvPr/>
        </p:nvSpPr>
        <p:spPr>
          <a:xfrm>
            <a:off x="844826" y="1431230"/>
            <a:ext cx="10525539" cy="3416320"/>
          </a:xfrm>
          <a:prstGeom prst="rect">
            <a:avLst/>
          </a:prstGeom>
          <a:noFill/>
        </p:spPr>
        <p:txBody>
          <a:bodyPr wrap="square" rtlCol="0">
            <a:spAutoFit/>
          </a:bodyPr>
          <a:lstStyle/>
          <a:p>
            <a:r>
              <a:rPr lang="fr-FR" sz="2400" b="1" dirty="0"/>
              <a:t>Idée de base</a:t>
            </a:r>
          </a:p>
          <a:p>
            <a:endParaRPr lang="fr-FR" sz="2400" dirty="0"/>
          </a:p>
          <a:p>
            <a:pPr marL="342900" indent="-342900">
              <a:buFont typeface="Arial" panose="020B0604020202020204" pitchFamily="34" charset="0"/>
              <a:buChar char="•"/>
            </a:pPr>
            <a:r>
              <a:rPr lang="fr-FR" sz="2400" dirty="0"/>
              <a:t>L’idée d’utiliser le hasard pour élaborer une tactique de jeu est naturelle pour des jeux stochastiques.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Par exemple si l’on joue à pile ou face, simuler de nombreux lancers permettra d’avoir des informations sur l’équilibrage de la pièce et d’ajuster ses paris en conséquence.</a:t>
            </a:r>
          </a:p>
        </p:txBody>
      </p:sp>
      <p:pic>
        <p:nvPicPr>
          <p:cNvPr id="5" name="Graphique 4" descr="Pièces avec un remplissage uni">
            <a:extLst>
              <a:ext uri="{FF2B5EF4-FFF2-40B4-BE49-F238E27FC236}">
                <a16:creationId xmlns:a16="http://schemas.microsoft.com/office/drawing/2014/main" id="{DC3B70CE-D82A-8063-7F04-BC949841DD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25794702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D825C-AE80-3836-673A-A7758B42EA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098827B-251C-4CD0-E185-E5C7DCE3100A}"/>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698C920B-CC99-FE19-0F8D-529859CD253B}"/>
              </a:ext>
            </a:extLst>
          </p:cNvPr>
          <p:cNvSpPr txBox="1"/>
          <p:nvPr/>
        </p:nvSpPr>
        <p:spPr>
          <a:xfrm>
            <a:off x="844826" y="1431230"/>
            <a:ext cx="10525539" cy="3416320"/>
          </a:xfrm>
          <a:prstGeom prst="rect">
            <a:avLst/>
          </a:prstGeom>
          <a:noFill/>
        </p:spPr>
        <p:txBody>
          <a:bodyPr wrap="square" rtlCol="0">
            <a:spAutoFit/>
          </a:bodyPr>
          <a:lstStyle/>
          <a:p>
            <a:r>
              <a:rPr lang="fr-FR" sz="2400" b="1" dirty="0"/>
              <a:t>Idée de base (suite)</a:t>
            </a:r>
          </a:p>
          <a:p>
            <a:endParaRPr lang="fr-FR" sz="2400" dirty="0"/>
          </a:p>
          <a:p>
            <a:pPr marL="342900" indent="-342900">
              <a:buFont typeface="Arial" panose="020B0604020202020204" pitchFamily="34" charset="0"/>
              <a:buChar char="•"/>
            </a:pPr>
            <a:r>
              <a:rPr lang="fr-FR" sz="2400" dirty="0"/>
              <a:t>Pour les jeux étudiés dans ce cours cela peut aussi avoir du sens de recourir au hasard pour évaluer une position.</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Si depuis celle-ci de nombreuses simulations aléatoires de parties conduisent par exemple à un fort pourcentage de victoires, on pourra estimer que cette position est favorable.</a:t>
            </a:r>
          </a:p>
        </p:txBody>
      </p:sp>
      <p:pic>
        <p:nvPicPr>
          <p:cNvPr id="5" name="Graphique 4" descr="Boussole avec un remplissage uni">
            <a:extLst>
              <a:ext uri="{FF2B5EF4-FFF2-40B4-BE49-F238E27FC236}">
                <a16:creationId xmlns:a16="http://schemas.microsoft.com/office/drawing/2014/main" id="{6AD84921-F03C-FC39-8FD4-B2CE4A30AB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7462382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99FD7-2498-7B6F-0E3D-BCCE23B3868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E09875B-AEF1-0546-41D4-EE1476FF8B4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0064C7D1-BECD-8994-697E-B6B03CBB3063}"/>
              </a:ext>
            </a:extLst>
          </p:cNvPr>
          <p:cNvSpPr txBox="1"/>
          <p:nvPr/>
        </p:nvSpPr>
        <p:spPr>
          <a:xfrm>
            <a:off x="844826" y="1431230"/>
            <a:ext cx="10525539" cy="3416320"/>
          </a:xfrm>
          <a:prstGeom prst="rect">
            <a:avLst/>
          </a:prstGeom>
          <a:noFill/>
        </p:spPr>
        <p:txBody>
          <a:bodyPr wrap="square" rtlCol="0">
            <a:spAutoFit/>
          </a:bodyPr>
          <a:lstStyle/>
          <a:p>
            <a:r>
              <a:rPr lang="fr-FR" sz="2400" b="1" dirty="0"/>
              <a:t>MCTS : principe général</a:t>
            </a:r>
          </a:p>
          <a:p>
            <a:endParaRPr lang="fr-FR" sz="2400" dirty="0"/>
          </a:p>
          <a:p>
            <a:pPr marL="342900" indent="-342900">
              <a:buFont typeface="Arial" panose="020B0604020202020204" pitchFamily="34" charset="0"/>
              <a:buChar char="•"/>
            </a:pPr>
            <a:r>
              <a:rPr lang="fr-FR" sz="2400" dirty="0"/>
              <a:t>Au lieu de d’étudier toutes les branches récursivement comme dans l’algorithme MinMax, on va en sélectionner certaines.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En revanche, on ne se limitera plus à un certain niveau de profondeur, on explorera ces branches jusqu’à atteindre une position finale.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Il ne sera donc plus nécessaire de mettre au point une bonne heuristique.</a:t>
            </a:r>
          </a:p>
        </p:txBody>
      </p:sp>
      <p:pic>
        <p:nvPicPr>
          <p:cNvPr id="5" name="Graphique 4" descr="Arbre flétri avec un remplissage uni">
            <a:extLst>
              <a:ext uri="{FF2B5EF4-FFF2-40B4-BE49-F238E27FC236}">
                <a16:creationId xmlns:a16="http://schemas.microsoft.com/office/drawing/2014/main" id="{35BB3B7C-8D55-C8F9-D90E-4459D8085E6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06972121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48E09-F4E3-E0F6-D95C-2B532F7070E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BBB3A2-9CFC-37B8-B746-9817195D04E4}"/>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3C921327-9D8D-38AF-1B74-5C6F9F696CDB}"/>
              </a:ext>
            </a:extLst>
          </p:cNvPr>
          <p:cNvSpPr txBox="1"/>
          <p:nvPr/>
        </p:nvSpPr>
        <p:spPr>
          <a:xfrm>
            <a:off x="844826" y="1431230"/>
            <a:ext cx="10525539" cy="3416320"/>
          </a:xfrm>
          <a:prstGeom prst="rect">
            <a:avLst/>
          </a:prstGeom>
          <a:noFill/>
        </p:spPr>
        <p:txBody>
          <a:bodyPr wrap="square" rtlCol="0">
            <a:spAutoFit/>
          </a:bodyPr>
          <a:lstStyle/>
          <a:p>
            <a:r>
              <a:rPr lang="fr-FR" sz="2400" b="1" dirty="0"/>
              <a:t>MCTS : principe général (suite)</a:t>
            </a:r>
          </a:p>
          <a:p>
            <a:endParaRPr lang="fr-FR" sz="2400" dirty="0"/>
          </a:p>
          <a:p>
            <a:pPr marL="342900" indent="-342900">
              <a:buFont typeface="Arial" panose="020B0604020202020204" pitchFamily="34" charset="0"/>
              <a:buChar char="•"/>
            </a:pPr>
            <a:r>
              <a:rPr lang="fr-FR" sz="2400" dirty="0"/>
              <a:t>Après avoir simulé un certain nombre de parties entières depuis la position courante, on retiendra le coup conduisant au plus grand pourcentage de victoires.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C’est dans le choix des branches à explorer, </a:t>
            </a:r>
            <a:r>
              <a:rPr lang="fr-FR" sz="2400" i="1" dirty="0"/>
              <a:t>i.e.</a:t>
            </a:r>
            <a:r>
              <a:rPr lang="fr-FR" sz="2400" dirty="0"/>
              <a:t> dans la simulation de certaines parties, que le hasard interviendra.</a:t>
            </a:r>
          </a:p>
        </p:txBody>
      </p:sp>
      <p:pic>
        <p:nvPicPr>
          <p:cNvPr id="5" name="Graphique 4" descr="Distribution normale avec un remplissage uni">
            <a:extLst>
              <a:ext uri="{FF2B5EF4-FFF2-40B4-BE49-F238E27FC236}">
                <a16:creationId xmlns:a16="http://schemas.microsoft.com/office/drawing/2014/main" id="{2AF7F3D6-638F-1B13-14C6-E4884F42F7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433388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2E177-165F-5477-D4B6-ED19A6DFE5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D8E5985-F9C8-AF4B-906E-3E9878A54E4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2B2DD539-882B-8B87-011E-1861743DF7B5}"/>
                  </a:ext>
                </a:extLst>
              </p:cNvPr>
              <p:cNvSpPr txBox="1"/>
              <p:nvPr/>
            </p:nvSpPr>
            <p:spPr>
              <a:xfrm>
                <a:off x="844826" y="1431230"/>
                <a:ext cx="10525539" cy="3785652"/>
              </a:xfrm>
              <a:prstGeom prst="rect">
                <a:avLst/>
              </a:prstGeom>
              <a:noFill/>
            </p:spPr>
            <p:txBody>
              <a:bodyPr wrap="square" rtlCol="0">
                <a:spAutoFit/>
              </a:bodyPr>
              <a:lstStyle/>
              <a:p>
                <a:r>
                  <a:rPr lang="fr-FR" sz="2400" b="1" dirty="0"/>
                  <a:t>MCTS : principe général (suite)</a:t>
                </a:r>
              </a:p>
              <a:p>
                <a:endParaRPr lang="fr-FR" sz="2400" dirty="0"/>
              </a:p>
              <a:p>
                <a:pPr marL="342900" indent="-342900">
                  <a:buFont typeface="Arial" panose="020B0604020202020204" pitchFamily="34" charset="0"/>
                  <a:buChar char="•"/>
                </a:pPr>
                <a:r>
                  <a:rPr lang="fr-FR" sz="2400" dirty="0"/>
                  <a:t>Le nombre de branches à explorer sera soit explicitement défini soit limité par une contrainte de temps (par exemple </a:t>
                </a:r>
                <a14:m>
                  <m:oMath xmlns:m="http://schemas.openxmlformats.org/officeDocument/2006/math">
                    <m:r>
                      <a:rPr lang="fr-FR" sz="2400" b="0" i="1" smtClean="0">
                        <a:latin typeface="Cambria Math" panose="02040503050406030204" pitchFamily="18" charset="0"/>
                      </a:rPr>
                      <m:t>𝑥</m:t>
                    </m:r>
                  </m:oMath>
                </a14:m>
                <a:r>
                  <a:rPr lang="fr-FR" sz="2400" dirty="0"/>
                  <a:t> secondes maximum par coup). </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Les simulations ne vont pas commencer directement à partir du sommet courant mais à partir de certains de ses descendants.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Ceux-ci seront sélectionnés en fonctions des informations déjà apprises en maintenant un équilibre entre </a:t>
                </a:r>
                <a:r>
                  <a:rPr lang="fr-FR" sz="2400" b="1" dirty="0"/>
                  <a:t>exploitation</a:t>
                </a:r>
                <a:r>
                  <a:rPr lang="fr-FR" sz="2400" dirty="0"/>
                  <a:t> et </a:t>
                </a:r>
                <a:r>
                  <a:rPr lang="fr-FR" sz="2400" b="1" dirty="0"/>
                  <a:t>exploration</a:t>
                </a:r>
                <a:r>
                  <a:rPr lang="fr-FR" sz="2400" dirty="0"/>
                  <a:t>.</a:t>
                </a:r>
              </a:p>
            </p:txBody>
          </p:sp>
        </mc:Choice>
        <mc:Fallback xmlns="">
          <p:sp>
            <p:nvSpPr>
              <p:cNvPr id="3" name="ZoneTexte 2">
                <a:extLst>
                  <a:ext uri="{FF2B5EF4-FFF2-40B4-BE49-F238E27FC236}">
                    <a16:creationId xmlns:a16="http://schemas.microsoft.com/office/drawing/2014/main" id="{2B2DD539-882B-8B87-011E-1861743DF7B5}"/>
                  </a:ext>
                </a:extLst>
              </p:cNvPr>
              <p:cNvSpPr txBox="1">
                <a:spLocks noRot="1" noChangeAspect="1" noMove="1" noResize="1" noEditPoints="1" noAdjustHandles="1" noChangeArrowheads="1" noChangeShapeType="1" noTextEdit="1"/>
              </p:cNvSpPr>
              <p:nvPr/>
            </p:nvSpPr>
            <p:spPr>
              <a:xfrm>
                <a:off x="844826" y="1431230"/>
                <a:ext cx="10525539" cy="3785652"/>
              </a:xfrm>
              <a:prstGeom prst="rect">
                <a:avLst/>
              </a:prstGeom>
              <a:blipFill>
                <a:blip r:embed="rId2"/>
                <a:stretch>
                  <a:fillRect l="-843" t="-1338" r="-1325" b="-3010"/>
                </a:stretch>
              </a:blipFill>
            </p:spPr>
            <p:txBody>
              <a:bodyPr/>
              <a:lstStyle/>
              <a:p>
                <a:r>
                  <a:rPr lang="fr-FR">
                    <a:noFill/>
                  </a:rPr>
                  <a:t> </a:t>
                </a:r>
              </a:p>
            </p:txBody>
          </p:sp>
        </mc:Fallback>
      </mc:AlternateContent>
    </p:spTree>
    <p:extLst>
      <p:ext uri="{BB962C8B-B14F-4D97-AF65-F5344CB8AC3E}">
        <p14:creationId xmlns:p14="http://schemas.microsoft.com/office/powerpoint/2010/main" val="205533473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E3481-30C4-5F8F-3CA3-CE01BD76C9E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A24CAF8-D29E-D708-F3B7-6632C3CC35F4}"/>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23FA741E-AE35-864B-1081-8A7F1082D78F}"/>
              </a:ext>
            </a:extLst>
          </p:cNvPr>
          <p:cNvSpPr txBox="1"/>
          <p:nvPr/>
        </p:nvSpPr>
        <p:spPr>
          <a:xfrm>
            <a:off x="844826" y="1431230"/>
            <a:ext cx="10525539" cy="3785652"/>
          </a:xfrm>
          <a:prstGeom prst="rect">
            <a:avLst/>
          </a:prstGeom>
          <a:noFill/>
        </p:spPr>
        <p:txBody>
          <a:bodyPr wrap="square" rtlCol="0">
            <a:spAutoFit/>
          </a:bodyPr>
          <a:lstStyle/>
          <a:p>
            <a:r>
              <a:rPr lang="fr-FR" sz="2400" b="1" dirty="0"/>
              <a:t>MCTS : principe général (suite)</a:t>
            </a:r>
          </a:p>
          <a:p>
            <a:endParaRPr lang="fr-FR" sz="2400" dirty="0"/>
          </a:p>
          <a:p>
            <a:pPr marL="342900" indent="-342900">
              <a:buFont typeface="Arial" panose="020B0604020202020204" pitchFamily="34" charset="0"/>
              <a:buChar char="•"/>
            </a:pPr>
            <a:r>
              <a:rPr lang="fr-FR" sz="2400" dirty="0"/>
              <a:t>L’</a:t>
            </a:r>
            <a:r>
              <a:rPr lang="fr-FR" sz="2400" b="1" dirty="0"/>
              <a:t>exploration</a:t>
            </a:r>
            <a:r>
              <a:rPr lang="fr-FR" sz="2400" dirty="0"/>
              <a:t> consistera à considérer des sommets peu ou pas encore évaluées et permettra ainsi de découvrir éventuellement de nouveaux coups avantageux.</a:t>
            </a:r>
          </a:p>
          <a:p>
            <a:endParaRPr lang="fr-FR" sz="2400" dirty="0"/>
          </a:p>
          <a:p>
            <a:pPr marL="342900" indent="-342900">
              <a:buFont typeface="Arial" panose="020B0604020202020204" pitchFamily="34" charset="0"/>
              <a:buChar char="•"/>
            </a:pPr>
            <a:r>
              <a:rPr lang="fr-FR" sz="2400" dirty="0"/>
              <a:t>L’</a:t>
            </a:r>
            <a:r>
              <a:rPr lang="fr-FR" sz="2400" b="1" dirty="0"/>
              <a:t>exploitation</a:t>
            </a:r>
            <a:r>
              <a:rPr lang="fr-FR" sz="2400" dirty="0"/>
              <a:t> concernera des sommets déjà évalués favorablement, son but étant d’améliorer la pertinence de ces évaluations. </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 choix entre exploration et exploitation se fera en suivant une </a:t>
            </a:r>
            <a:r>
              <a:rPr lang="fr-FR" sz="2400" b="1" dirty="0"/>
              <a:t>politique de sélection</a:t>
            </a:r>
            <a:r>
              <a:rPr lang="fr-FR" sz="2400" dirty="0"/>
              <a:t>.</a:t>
            </a:r>
          </a:p>
        </p:txBody>
      </p:sp>
      <p:pic>
        <p:nvPicPr>
          <p:cNvPr id="5" name="Graphique 4" descr="Étoile d'évaluation avec un remplissage uni">
            <a:extLst>
              <a:ext uri="{FF2B5EF4-FFF2-40B4-BE49-F238E27FC236}">
                <a16:creationId xmlns:a16="http://schemas.microsoft.com/office/drawing/2014/main" id="{2C5E0F05-6C44-6165-7790-597E90AE24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14273455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11449-A06D-5AFE-0222-F994CB3073E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5815C4C-6911-46EF-ED6A-33279AD5EB04}"/>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A39587AE-A272-15AB-C438-809DB45E1450}"/>
              </a:ext>
            </a:extLst>
          </p:cNvPr>
          <p:cNvSpPr txBox="1"/>
          <p:nvPr/>
        </p:nvSpPr>
        <p:spPr>
          <a:xfrm>
            <a:off x="844826" y="1431230"/>
            <a:ext cx="10525539" cy="3416320"/>
          </a:xfrm>
          <a:prstGeom prst="rect">
            <a:avLst/>
          </a:prstGeom>
          <a:noFill/>
        </p:spPr>
        <p:txBody>
          <a:bodyPr wrap="square" rtlCol="0">
            <a:spAutoFit/>
          </a:bodyPr>
          <a:lstStyle/>
          <a:p>
            <a:r>
              <a:rPr lang="fr-FR" sz="2400" b="1" dirty="0"/>
              <a:t>MCTS : principe général (suite)</a:t>
            </a:r>
          </a:p>
          <a:p>
            <a:endParaRPr lang="fr-FR" sz="2400" dirty="0"/>
          </a:p>
          <a:p>
            <a:pPr marL="342900" indent="-342900">
              <a:buFont typeface="Arial" panose="020B0604020202020204" pitchFamily="34" charset="0"/>
              <a:buChar char="•"/>
            </a:pPr>
            <a:r>
              <a:rPr lang="fr-FR" sz="2400" dirty="0"/>
              <a:t>Une fois un sommet sélectionné, on débute la simulation d’une partie.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Pour réaliser l’enchaînement des coups jusqu’à une position finale on suivra une </a:t>
            </a:r>
            <a:r>
              <a:rPr lang="fr-FR" sz="2400" b="1" dirty="0"/>
              <a:t>politique de jeu</a:t>
            </a:r>
            <a:r>
              <a:rPr lang="fr-FR" sz="2400" dirty="0"/>
              <a: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Dans les versions basiques celle-ci sera purement </a:t>
            </a:r>
            <a:r>
              <a:rPr lang="fr-FR" sz="2400" b="1" dirty="0"/>
              <a:t>aléatoire</a:t>
            </a:r>
            <a:r>
              <a:rPr lang="fr-FR" sz="2400" dirty="0"/>
              <a:t> mais on peut bien évidemment adopter des stratégies plus élaborées.</a:t>
            </a:r>
          </a:p>
        </p:txBody>
      </p:sp>
      <p:pic>
        <p:nvPicPr>
          <p:cNvPr id="5" name="Graphique 4" descr="Guide opérationnel avec un remplissage uni">
            <a:extLst>
              <a:ext uri="{FF2B5EF4-FFF2-40B4-BE49-F238E27FC236}">
                <a16:creationId xmlns:a16="http://schemas.microsoft.com/office/drawing/2014/main" id="{E570A962-584C-636A-E917-BFC275C09A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2813456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D3975-E839-21B0-E842-0F284D092D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5B6A97-FE80-E2F3-4B1C-E5324D872F03}"/>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6283CC21-AF1E-DEE1-6996-A9779B954414}"/>
              </a:ext>
            </a:extLst>
          </p:cNvPr>
          <p:cNvSpPr txBox="1"/>
          <p:nvPr/>
        </p:nvSpPr>
        <p:spPr>
          <a:xfrm>
            <a:off x="844826" y="1431230"/>
            <a:ext cx="10525539" cy="2677656"/>
          </a:xfrm>
          <a:prstGeom prst="rect">
            <a:avLst/>
          </a:prstGeom>
          <a:noFill/>
        </p:spPr>
        <p:txBody>
          <a:bodyPr wrap="square" rtlCol="0">
            <a:spAutoFit/>
          </a:bodyPr>
          <a:lstStyle/>
          <a:p>
            <a:r>
              <a:rPr lang="fr-FR" sz="2400" b="1" dirty="0"/>
              <a:t>MCTS : principe général (suite)</a:t>
            </a:r>
          </a:p>
          <a:p>
            <a:endParaRPr lang="fr-FR" sz="2400" dirty="0"/>
          </a:p>
          <a:p>
            <a:pPr marL="342900" indent="-342900">
              <a:buFont typeface="Arial" panose="020B0604020202020204" pitchFamily="34" charset="0"/>
              <a:buChar char="•"/>
            </a:pPr>
            <a:r>
              <a:rPr lang="fr-FR" sz="2400" dirty="0"/>
              <a:t>Dès qu’une simulation se termine on enregistre le résultat de la partie.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Maintenir à jour des statistiques sur l’ensemble des simulations permettra </a:t>
            </a:r>
            <a:r>
              <a:rPr lang="fr-FR" sz="2400" i="1" dirty="0"/>
              <a:t>in fine </a:t>
            </a:r>
            <a:r>
              <a:rPr lang="fr-FR" sz="2400" dirty="0"/>
              <a:t>de choisir le coup à jouer.</a:t>
            </a:r>
          </a:p>
        </p:txBody>
      </p:sp>
      <p:pic>
        <p:nvPicPr>
          <p:cNvPr id="5" name="Graphique 4" descr="Graphique en secteurs avec un remplissage uni">
            <a:extLst>
              <a:ext uri="{FF2B5EF4-FFF2-40B4-BE49-F238E27FC236}">
                <a16:creationId xmlns:a16="http://schemas.microsoft.com/office/drawing/2014/main" id="{36715C41-FD5A-D6F5-92F5-7EE0E60AE3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0663698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7307C-5FCA-710B-D5C0-B5980219BD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D433C7D-BF83-DC42-DC31-88E180C44F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216750C3-FA4C-4AA9-7B45-ACE60D4983F9}"/>
              </a:ext>
            </a:extLst>
          </p:cNvPr>
          <p:cNvSpPr txBox="1"/>
          <p:nvPr/>
        </p:nvSpPr>
        <p:spPr>
          <a:xfrm>
            <a:off x="844826" y="1431230"/>
            <a:ext cx="10525539" cy="3785652"/>
          </a:xfrm>
          <a:prstGeom prst="rect">
            <a:avLst/>
          </a:prstGeom>
          <a:noFill/>
        </p:spPr>
        <p:txBody>
          <a:bodyPr wrap="square" rtlCol="0">
            <a:spAutoFit/>
          </a:bodyPr>
          <a:lstStyle/>
          <a:p>
            <a:r>
              <a:rPr lang="fr-FR" sz="2400" b="1" dirty="0"/>
              <a:t>MCTS : arbre de recherche</a:t>
            </a:r>
          </a:p>
          <a:p>
            <a:endParaRPr lang="fr-FR" sz="2400" dirty="0"/>
          </a:p>
          <a:p>
            <a:pPr marL="342900" indent="-342900">
              <a:buFont typeface="Arial" panose="020B0604020202020204" pitchFamily="34" charset="0"/>
              <a:buChar char="•"/>
            </a:pPr>
            <a:r>
              <a:rPr lang="fr-FR" sz="2400" dirty="0"/>
              <a:t>À chaque nouveau coup on va construire un </a:t>
            </a:r>
            <a:r>
              <a:rPr lang="fr-FR" sz="2400" b="1" dirty="0"/>
              <a:t>arbre de recherche </a:t>
            </a:r>
            <a:r>
              <a:rPr lang="fr-FR" sz="2400" dirty="0"/>
              <a:t>à partir d’une racine correspondant à la position courante.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Initialement cet arbre ne comporte donc qu’un seul sommet (la position courante en question).</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Cet arbre va croître progressivement, un nouveau sommet sera ajouté à chaque itération.</a:t>
            </a:r>
          </a:p>
        </p:txBody>
      </p:sp>
      <p:pic>
        <p:nvPicPr>
          <p:cNvPr id="5" name="Graphique 4" descr="Souche d’arbre avec un remplissage uni">
            <a:extLst>
              <a:ext uri="{FF2B5EF4-FFF2-40B4-BE49-F238E27FC236}">
                <a16:creationId xmlns:a16="http://schemas.microsoft.com/office/drawing/2014/main" id="{83BFCD35-0361-D9F9-49BD-16E583AF1EA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033146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A9B98-930A-C7F4-F9EB-D488E990857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CDEF884-7F3E-D281-B85C-E1D1CAF28F54}"/>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B7ED4E68-E8A7-9438-68B6-C2BD3F17D80C}"/>
              </a:ext>
            </a:extLst>
          </p:cNvPr>
          <p:cNvSpPr txBox="1"/>
          <p:nvPr/>
        </p:nvSpPr>
        <p:spPr>
          <a:xfrm>
            <a:off x="844826" y="1431230"/>
            <a:ext cx="10525539" cy="3416320"/>
          </a:xfrm>
          <a:prstGeom prst="rect">
            <a:avLst/>
          </a:prstGeom>
          <a:noFill/>
        </p:spPr>
        <p:txBody>
          <a:bodyPr wrap="square" rtlCol="0">
            <a:spAutoFit/>
          </a:bodyPr>
          <a:lstStyle/>
          <a:p>
            <a:r>
              <a:rPr lang="fr-FR" sz="2400" b="1" dirty="0"/>
              <a:t>MCTS : arbre de recherche (suite)</a:t>
            </a:r>
          </a:p>
          <a:p>
            <a:endParaRPr lang="fr-FR" sz="2400" dirty="0"/>
          </a:p>
          <a:p>
            <a:pPr marL="342900" indent="-342900">
              <a:buFont typeface="Arial" panose="020B0604020202020204" pitchFamily="34" charset="0"/>
              <a:buChar char="•"/>
            </a:pPr>
            <a:r>
              <a:rPr lang="fr-FR" sz="2400" dirty="0"/>
              <a:t>Un sommet de cet arbre sera dit </a:t>
            </a:r>
            <a:r>
              <a:rPr lang="fr-FR" sz="2400" b="1" dirty="0"/>
              <a:t>traité</a:t>
            </a:r>
            <a:r>
              <a:rPr lang="fr-FR" sz="2400" dirty="0"/>
              <a:t> s’il a déjà été évalué, </a:t>
            </a:r>
            <a:r>
              <a:rPr lang="fr-FR" sz="2400" i="1" dirty="0"/>
              <a:t>i.e.</a:t>
            </a:r>
            <a:r>
              <a:rPr lang="fr-FR" sz="2400" dirty="0"/>
              <a:t> si au moins une simulation a commencé à partir de ce sommet.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Un sommet sera dit </a:t>
            </a:r>
            <a:r>
              <a:rPr lang="fr-FR" sz="2400" b="1" dirty="0"/>
              <a:t>complètement déployé </a:t>
            </a:r>
            <a:r>
              <a:rPr lang="fr-FR" sz="2400" dirty="0"/>
              <a:t>si tous ses enfants ont été traités.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À chaque itération, c’est à un sommet non complètement déployé que l’on ajoutera un enfant.</a:t>
            </a:r>
          </a:p>
        </p:txBody>
      </p:sp>
      <p:pic>
        <p:nvPicPr>
          <p:cNvPr id="5" name="Graphique 4" descr="Valise avec un remplissage uni">
            <a:extLst>
              <a:ext uri="{FF2B5EF4-FFF2-40B4-BE49-F238E27FC236}">
                <a16:creationId xmlns:a16="http://schemas.microsoft.com/office/drawing/2014/main" id="{ACA20DB5-3210-4ACB-C6EB-704539D84C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0879749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03B57-F40E-7001-4CC5-D1E26797212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F04B60-5F9A-5EA7-7A55-55E4EAE65AB7}"/>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63DD2EE7-BC4D-6569-39B0-01FD2257FF39}"/>
              </a:ext>
            </a:extLst>
          </p:cNvPr>
          <p:cNvSpPr txBox="1"/>
          <p:nvPr/>
        </p:nvSpPr>
        <p:spPr>
          <a:xfrm>
            <a:off x="844826" y="1431230"/>
            <a:ext cx="10525539" cy="3416320"/>
          </a:xfrm>
          <a:prstGeom prst="rect">
            <a:avLst/>
          </a:prstGeom>
          <a:noFill/>
        </p:spPr>
        <p:txBody>
          <a:bodyPr wrap="square" rtlCol="0">
            <a:spAutoFit/>
          </a:bodyPr>
          <a:lstStyle/>
          <a:p>
            <a:r>
              <a:rPr lang="fr-FR" sz="2400" b="1" dirty="0"/>
              <a:t>MCTS : description d’une itération</a:t>
            </a:r>
          </a:p>
          <a:p>
            <a:endParaRPr lang="fr-FR" sz="2400" dirty="0"/>
          </a:p>
          <a:p>
            <a:pPr marL="342900" indent="-342900">
              <a:buFont typeface="Arial" panose="020B0604020202020204" pitchFamily="34" charset="0"/>
              <a:buChar char="•"/>
            </a:pPr>
            <a:r>
              <a:rPr lang="fr-FR" sz="2400" dirty="0"/>
              <a:t>Chaque itération, </a:t>
            </a:r>
            <a:r>
              <a:rPr lang="fr-FR" sz="2400" i="1" dirty="0"/>
              <a:t>i.e.</a:t>
            </a:r>
            <a:r>
              <a:rPr lang="fr-FR" sz="2400" dirty="0"/>
              <a:t> chaque examen d’une nouvelle branche, comportera quatre étapes : </a:t>
            </a:r>
          </a:p>
          <a:p>
            <a:pPr marL="342900" indent="-342900">
              <a:buFont typeface="Arial" panose="020B0604020202020204" pitchFamily="34" charset="0"/>
              <a:buChar char="•"/>
            </a:pPr>
            <a:endParaRPr lang="fr-FR" sz="2400" dirty="0"/>
          </a:p>
          <a:p>
            <a:pPr marL="914400" lvl="1" indent="-457200">
              <a:buFont typeface="+mj-lt"/>
              <a:buAutoNum type="arabicPeriod"/>
            </a:pPr>
            <a:r>
              <a:rPr lang="fr-FR" sz="2400" dirty="0"/>
              <a:t>Sélection.</a:t>
            </a:r>
          </a:p>
          <a:p>
            <a:pPr marL="914400" lvl="1" indent="-457200">
              <a:buFont typeface="+mj-lt"/>
              <a:buAutoNum type="arabicPeriod"/>
            </a:pPr>
            <a:r>
              <a:rPr lang="fr-FR" sz="2400" dirty="0"/>
              <a:t>Expansion.</a:t>
            </a:r>
          </a:p>
          <a:p>
            <a:pPr marL="914400" lvl="1" indent="-457200">
              <a:buFont typeface="+mj-lt"/>
              <a:buAutoNum type="arabicPeriod"/>
            </a:pPr>
            <a:r>
              <a:rPr lang="fr-FR" sz="2400" dirty="0"/>
              <a:t>Simulation.</a:t>
            </a:r>
          </a:p>
          <a:p>
            <a:pPr marL="914400" lvl="1" indent="-457200">
              <a:buFont typeface="+mj-lt"/>
              <a:buAutoNum type="arabicPeriod"/>
            </a:pPr>
            <a:r>
              <a:rPr lang="fr-FR" sz="2400" dirty="0"/>
              <a:t>Rétropropagation.</a:t>
            </a:r>
          </a:p>
        </p:txBody>
      </p:sp>
      <p:pic>
        <p:nvPicPr>
          <p:cNvPr id="5" name="Graphique 4" descr="Liste avec un remplissage uni">
            <a:extLst>
              <a:ext uri="{FF2B5EF4-FFF2-40B4-BE49-F238E27FC236}">
                <a16:creationId xmlns:a16="http://schemas.microsoft.com/office/drawing/2014/main" id="{50B5707A-DD5B-C045-AF0A-C031AAB9BC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4682367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DF17B-BA83-C49B-EFFC-5BD7720098B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70D9466-7A7D-56CC-BD5F-235AE8A38730}"/>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E3F11B83-E861-2233-7B85-4C61F9F12ACF}"/>
              </a:ext>
            </a:extLst>
          </p:cNvPr>
          <p:cNvSpPr txBox="1"/>
          <p:nvPr/>
        </p:nvSpPr>
        <p:spPr>
          <a:xfrm>
            <a:off x="844826" y="1431230"/>
            <a:ext cx="10525539" cy="461665"/>
          </a:xfrm>
          <a:prstGeom prst="rect">
            <a:avLst/>
          </a:prstGeom>
          <a:noFill/>
        </p:spPr>
        <p:txBody>
          <a:bodyPr wrap="square" rtlCol="0">
            <a:spAutoFit/>
          </a:bodyPr>
          <a:lstStyle/>
          <a:p>
            <a:r>
              <a:rPr lang="fr-FR" sz="2400" b="1" dirty="0"/>
              <a:t>MCTS : description d’une itération (suite)</a:t>
            </a:r>
          </a:p>
        </p:txBody>
      </p:sp>
      <p:pic>
        <p:nvPicPr>
          <p:cNvPr id="5" name="Image 4" descr="Une image contenant cercle, ligne, art&#10;&#10;Le contenu généré par l’IA peut être incorrect.">
            <a:extLst>
              <a:ext uri="{FF2B5EF4-FFF2-40B4-BE49-F238E27FC236}">
                <a16:creationId xmlns:a16="http://schemas.microsoft.com/office/drawing/2014/main" id="{CB948AE8-4733-C9EC-B5F0-3B143BB0CDAA}"/>
              </a:ext>
            </a:extLst>
          </p:cNvPr>
          <p:cNvPicPr>
            <a:picLocks noChangeAspect="1"/>
          </p:cNvPicPr>
          <p:nvPr/>
        </p:nvPicPr>
        <p:blipFill>
          <a:blip r:embed="rId3"/>
          <a:stretch>
            <a:fillRect/>
          </a:stretch>
        </p:blipFill>
        <p:spPr>
          <a:xfrm>
            <a:off x="574193" y="2193106"/>
            <a:ext cx="2520000" cy="2772000"/>
          </a:xfrm>
          <a:prstGeom prst="rect">
            <a:avLst/>
          </a:prstGeom>
        </p:spPr>
      </p:pic>
      <p:pic>
        <p:nvPicPr>
          <p:cNvPr id="7" name="Image 6" descr="Une image contenant cercle, ligne, diagramme, conception&#10;&#10;Le contenu généré par l’IA peut être incorrect.">
            <a:extLst>
              <a:ext uri="{FF2B5EF4-FFF2-40B4-BE49-F238E27FC236}">
                <a16:creationId xmlns:a16="http://schemas.microsoft.com/office/drawing/2014/main" id="{4D6A7561-E614-CCCD-754E-3BB8591AA221}"/>
              </a:ext>
            </a:extLst>
          </p:cNvPr>
          <p:cNvPicPr>
            <a:picLocks noChangeAspect="1"/>
          </p:cNvPicPr>
          <p:nvPr/>
        </p:nvPicPr>
        <p:blipFill>
          <a:blip r:embed="rId4"/>
          <a:stretch>
            <a:fillRect/>
          </a:stretch>
        </p:blipFill>
        <p:spPr>
          <a:xfrm>
            <a:off x="3418994" y="2193106"/>
            <a:ext cx="2520000" cy="2772000"/>
          </a:xfrm>
          <a:prstGeom prst="rect">
            <a:avLst/>
          </a:prstGeom>
        </p:spPr>
      </p:pic>
      <p:pic>
        <p:nvPicPr>
          <p:cNvPr id="11" name="Image 10" descr="Une image contenant cercle, ligne, art, conception&#10;&#10;Le contenu généré par l’IA peut être incorrect.">
            <a:extLst>
              <a:ext uri="{FF2B5EF4-FFF2-40B4-BE49-F238E27FC236}">
                <a16:creationId xmlns:a16="http://schemas.microsoft.com/office/drawing/2014/main" id="{B5CD60F3-7F15-5C16-462F-D3C4000AB712}"/>
              </a:ext>
            </a:extLst>
          </p:cNvPr>
          <p:cNvPicPr>
            <a:picLocks noChangeAspect="1"/>
          </p:cNvPicPr>
          <p:nvPr/>
        </p:nvPicPr>
        <p:blipFill>
          <a:blip r:embed="rId5"/>
          <a:stretch>
            <a:fillRect/>
          </a:stretch>
        </p:blipFill>
        <p:spPr>
          <a:xfrm>
            <a:off x="9108596" y="2193106"/>
            <a:ext cx="2520000" cy="2772000"/>
          </a:xfrm>
          <a:prstGeom prst="rect">
            <a:avLst/>
          </a:prstGeom>
        </p:spPr>
      </p:pic>
      <p:sp>
        <p:nvSpPr>
          <p:cNvPr id="12" name="ZoneTexte 11">
            <a:extLst>
              <a:ext uri="{FF2B5EF4-FFF2-40B4-BE49-F238E27FC236}">
                <a16:creationId xmlns:a16="http://schemas.microsoft.com/office/drawing/2014/main" id="{B90E9799-0B7D-611F-FCC7-6624D479AE3C}"/>
              </a:ext>
            </a:extLst>
          </p:cNvPr>
          <p:cNvSpPr txBox="1"/>
          <p:nvPr/>
        </p:nvSpPr>
        <p:spPr>
          <a:xfrm>
            <a:off x="1083482" y="5426770"/>
            <a:ext cx="1501422" cy="369332"/>
          </a:xfrm>
          <a:prstGeom prst="rect">
            <a:avLst/>
          </a:prstGeom>
          <a:noFill/>
        </p:spPr>
        <p:txBody>
          <a:bodyPr wrap="square" rtlCol="0">
            <a:spAutoFit/>
          </a:bodyPr>
          <a:lstStyle/>
          <a:p>
            <a:pPr algn="ctr"/>
            <a:r>
              <a:rPr lang="fr-FR" dirty="0"/>
              <a:t>Sélection</a:t>
            </a:r>
          </a:p>
        </p:txBody>
      </p:sp>
      <p:sp>
        <p:nvSpPr>
          <p:cNvPr id="13" name="ZoneTexte 12">
            <a:extLst>
              <a:ext uri="{FF2B5EF4-FFF2-40B4-BE49-F238E27FC236}">
                <a16:creationId xmlns:a16="http://schemas.microsoft.com/office/drawing/2014/main" id="{3D8CCD4F-FECB-CCD9-9CCF-C46BAFC53DD8}"/>
              </a:ext>
            </a:extLst>
          </p:cNvPr>
          <p:cNvSpPr txBox="1"/>
          <p:nvPr/>
        </p:nvSpPr>
        <p:spPr>
          <a:xfrm>
            <a:off x="3928283" y="5426770"/>
            <a:ext cx="1501422" cy="369332"/>
          </a:xfrm>
          <a:prstGeom prst="rect">
            <a:avLst/>
          </a:prstGeom>
          <a:noFill/>
        </p:spPr>
        <p:txBody>
          <a:bodyPr wrap="square" rtlCol="0">
            <a:spAutoFit/>
          </a:bodyPr>
          <a:lstStyle/>
          <a:p>
            <a:pPr algn="ctr"/>
            <a:r>
              <a:rPr lang="fr-FR" dirty="0"/>
              <a:t>Expansion</a:t>
            </a:r>
          </a:p>
        </p:txBody>
      </p:sp>
      <p:sp>
        <p:nvSpPr>
          <p:cNvPr id="14" name="ZoneTexte 13">
            <a:extLst>
              <a:ext uri="{FF2B5EF4-FFF2-40B4-BE49-F238E27FC236}">
                <a16:creationId xmlns:a16="http://schemas.microsoft.com/office/drawing/2014/main" id="{D3A4778F-4C00-19C6-9AB0-721362CFF3D0}"/>
              </a:ext>
            </a:extLst>
          </p:cNvPr>
          <p:cNvSpPr txBox="1"/>
          <p:nvPr/>
        </p:nvSpPr>
        <p:spPr>
          <a:xfrm>
            <a:off x="9377872" y="5426770"/>
            <a:ext cx="2433007" cy="369332"/>
          </a:xfrm>
          <a:prstGeom prst="rect">
            <a:avLst/>
          </a:prstGeom>
          <a:noFill/>
        </p:spPr>
        <p:txBody>
          <a:bodyPr wrap="square" rtlCol="0">
            <a:spAutoFit/>
          </a:bodyPr>
          <a:lstStyle/>
          <a:p>
            <a:pPr algn="ctr"/>
            <a:r>
              <a:rPr lang="fr-FR" dirty="0"/>
              <a:t>Rétropropagation</a:t>
            </a:r>
          </a:p>
        </p:txBody>
      </p:sp>
      <p:pic>
        <p:nvPicPr>
          <p:cNvPr id="17" name="Image 16" descr="Une image contenant cercle, conception, illustration&#10;&#10;Le contenu généré par l’IA peut être incorrect.">
            <a:extLst>
              <a:ext uri="{FF2B5EF4-FFF2-40B4-BE49-F238E27FC236}">
                <a16:creationId xmlns:a16="http://schemas.microsoft.com/office/drawing/2014/main" id="{B176FE9F-8BB2-022F-26B0-E2F71D2006E0}"/>
              </a:ext>
            </a:extLst>
          </p:cNvPr>
          <p:cNvPicPr>
            <a:picLocks noChangeAspect="1"/>
          </p:cNvPicPr>
          <p:nvPr/>
        </p:nvPicPr>
        <p:blipFill>
          <a:blip r:embed="rId6"/>
          <a:stretch>
            <a:fillRect/>
          </a:stretch>
        </p:blipFill>
        <p:spPr>
          <a:xfrm>
            <a:off x="6263795" y="2193106"/>
            <a:ext cx="2520000" cy="4536000"/>
          </a:xfrm>
          <a:prstGeom prst="rect">
            <a:avLst/>
          </a:prstGeom>
        </p:spPr>
      </p:pic>
      <p:sp>
        <p:nvSpPr>
          <p:cNvPr id="18" name="ZoneTexte 17">
            <a:extLst>
              <a:ext uri="{FF2B5EF4-FFF2-40B4-BE49-F238E27FC236}">
                <a16:creationId xmlns:a16="http://schemas.microsoft.com/office/drawing/2014/main" id="{10AC04E4-C7EC-E2A2-A68D-EBF35E3C82F3}"/>
              </a:ext>
            </a:extLst>
          </p:cNvPr>
          <p:cNvSpPr txBox="1"/>
          <p:nvPr/>
        </p:nvSpPr>
        <p:spPr>
          <a:xfrm>
            <a:off x="7571647" y="5426770"/>
            <a:ext cx="1501422" cy="369332"/>
          </a:xfrm>
          <a:prstGeom prst="rect">
            <a:avLst/>
          </a:prstGeom>
          <a:noFill/>
        </p:spPr>
        <p:txBody>
          <a:bodyPr wrap="square" rtlCol="0">
            <a:spAutoFit/>
          </a:bodyPr>
          <a:lstStyle/>
          <a:p>
            <a:pPr algn="ctr"/>
            <a:r>
              <a:rPr lang="fr-FR" dirty="0"/>
              <a:t>Simulation</a:t>
            </a:r>
          </a:p>
        </p:txBody>
      </p:sp>
    </p:spTree>
    <p:extLst>
      <p:ext uri="{BB962C8B-B14F-4D97-AF65-F5344CB8AC3E}">
        <p14:creationId xmlns:p14="http://schemas.microsoft.com/office/powerpoint/2010/main" val="22133685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16EE5-4B2C-4BAD-1BE5-D95D6B500FA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4FDF604-EA2C-A22E-4D93-B38C01CF84E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8FB9B372-21E7-8EF0-D281-FF75C78EA1AF}"/>
              </a:ext>
            </a:extLst>
          </p:cNvPr>
          <p:cNvSpPr txBox="1"/>
          <p:nvPr/>
        </p:nvSpPr>
        <p:spPr>
          <a:xfrm>
            <a:off x="844826" y="1431230"/>
            <a:ext cx="10525539" cy="461665"/>
          </a:xfrm>
          <a:prstGeom prst="rect">
            <a:avLst/>
          </a:prstGeom>
          <a:noFill/>
        </p:spPr>
        <p:txBody>
          <a:bodyPr wrap="square" rtlCol="0">
            <a:spAutoFit/>
          </a:bodyPr>
          <a:lstStyle/>
          <a:p>
            <a:r>
              <a:rPr lang="fr-FR" sz="2400" b="1" dirty="0"/>
              <a:t>MCTS : sélection</a:t>
            </a:r>
          </a:p>
        </p:txBody>
      </p:sp>
      <p:sp>
        <p:nvSpPr>
          <p:cNvPr id="4" name="ZoneTexte 3">
            <a:extLst>
              <a:ext uri="{FF2B5EF4-FFF2-40B4-BE49-F238E27FC236}">
                <a16:creationId xmlns:a16="http://schemas.microsoft.com/office/drawing/2014/main" id="{DE93BD75-BCCF-C589-BCBB-7AFE44D183F0}"/>
              </a:ext>
            </a:extLst>
          </p:cNvPr>
          <p:cNvSpPr txBox="1"/>
          <p:nvPr/>
        </p:nvSpPr>
        <p:spPr>
          <a:xfrm>
            <a:off x="844826" y="2165822"/>
            <a:ext cx="6120000" cy="2677656"/>
          </a:xfrm>
          <a:prstGeom prst="rect">
            <a:avLst/>
          </a:prstGeom>
          <a:noFill/>
        </p:spPr>
        <p:txBody>
          <a:bodyPr wrap="square" rtlCol="0">
            <a:spAutoFit/>
          </a:bodyPr>
          <a:lstStyle/>
          <a:p>
            <a:pPr marL="342900" indent="-342900">
              <a:buFont typeface="Arial" panose="020B0604020202020204" pitchFamily="34" charset="0"/>
              <a:buChar char="•"/>
            </a:pPr>
            <a:r>
              <a:rPr lang="fr-FR" sz="2400" dirty="0"/>
              <a:t>À partir du sommet courant, on parcourt l’arbre en suivant la </a:t>
            </a:r>
            <a:r>
              <a:rPr lang="fr-FR" sz="2400" b="1" dirty="0"/>
              <a:t>politique de sélection </a:t>
            </a:r>
            <a:r>
              <a:rPr lang="fr-FR" sz="2400" dirty="0"/>
              <a:t>jusqu’à atteindre un sommet non complètement déployé.</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Par définition ce sommet aura au moins un enfant non traité.</a:t>
            </a:r>
          </a:p>
        </p:txBody>
      </p:sp>
      <p:pic>
        <p:nvPicPr>
          <p:cNvPr id="5" name="Image 4" descr="Une image contenant cercle, ligne, art&#10;&#10;Le contenu généré par l’IA peut être incorrect.">
            <a:extLst>
              <a:ext uri="{FF2B5EF4-FFF2-40B4-BE49-F238E27FC236}">
                <a16:creationId xmlns:a16="http://schemas.microsoft.com/office/drawing/2014/main" id="{12A19B95-0799-A9A9-7ECA-E71F3F2ED7D8}"/>
              </a:ext>
            </a:extLst>
          </p:cNvPr>
          <p:cNvPicPr>
            <a:picLocks noChangeAspect="1"/>
          </p:cNvPicPr>
          <p:nvPr/>
        </p:nvPicPr>
        <p:blipFill>
          <a:blip r:embed="rId2"/>
          <a:stretch>
            <a:fillRect/>
          </a:stretch>
        </p:blipFill>
        <p:spPr>
          <a:xfrm>
            <a:off x="8640000" y="1897200"/>
            <a:ext cx="2520000" cy="2772000"/>
          </a:xfrm>
          <a:prstGeom prst="rect">
            <a:avLst/>
          </a:prstGeom>
        </p:spPr>
      </p:pic>
    </p:spTree>
    <p:extLst>
      <p:ext uri="{BB962C8B-B14F-4D97-AF65-F5344CB8AC3E}">
        <p14:creationId xmlns:p14="http://schemas.microsoft.com/office/powerpoint/2010/main" val="70936658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BEA29-7CD9-8A64-3F88-92ECA3A7B5C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9BE4F4B-D54E-6C57-D025-235B70DEEAF1}"/>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84280B20-F20F-527B-48F0-DE2332576392}"/>
              </a:ext>
            </a:extLst>
          </p:cNvPr>
          <p:cNvSpPr txBox="1"/>
          <p:nvPr/>
        </p:nvSpPr>
        <p:spPr>
          <a:xfrm>
            <a:off x="844826" y="1431230"/>
            <a:ext cx="10525539" cy="461665"/>
          </a:xfrm>
          <a:prstGeom prst="rect">
            <a:avLst/>
          </a:prstGeom>
          <a:noFill/>
        </p:spPr>
        <p:txBody>
          <a:bodyPr wrap="square" rtlCol="0">
            <a:spAutoFit/>
          </a:bodyPr>
          <a:lstStyle/>
          <a:p>
            <a:r>
              <a:rPr lang="fr-FR" sz="2400" b="1" dirty="0"/>
              <a:t>MCTS : expansion</a:t>
            </a:r>
          </a:p>
        </p:txBody>
      </p:sp>
      <p:sp>
        <p:nvSpPr>
          <p:cNvPr id="4" name="ZoneTexte 3">
            <a:extLst>
              <a:ext uri="{FF2B5EF4-FFF2-40B4-BE49-F238E27FC236}">
                <a16:creationId xmlns:a16="http://schemas.microsoft.com/office/drawing/2014/main" id="{3BC41636-5213-393E-F93B-3F660C5E0C98}"/>
              </a:ext>
            </a:extLst>
          </p:cNvPr>
          <p:cNvSpPr txBox="1"/>
          <p:nvPr/>
        </p:nvSpPr>
        <p:spPr>
          <a:xfrm>
            <a:off x="844826" y="2165822"/>
            <a:ext cx="6120000" cy="2308324"/>
          </a:xfrm>
          <a:prstGeom prst="rect">
            <a:avLst/>
          </a:prstGeom>
          <a:noFill/>
        </p:spPr>
        <p:txBody>
          <a:bodyPr wrap="square" rtlCol="0">
            <a:spAutoFit/>
          </a:bodyPr>
          <a:lstStyle/>
          <a:p>
            <a:pPr marL="342900" indent="-342900">
              <a:buFont typeface="Arial" panose="020B0604020202020204" pitchFamily="34" charset="0"/>
              <a:buChar char="•"/>
            </a:pPr>
            <a:r>
              <a:rPr lang="fr-FR" sz="2400" dirty="0"/>
              <a:t>On peut donc ajouter un enfant (pas encore traité par nature) au sommet précédemment sélectionné.</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 choix est arbitraire si on a plusieurs possibilités.</a:t>
            </a:r>
          </a:p>
        </p:txBody>
      </p:sp>
      <p:pic>
        <p:nvPicPr>
          <p:cNvPr id="5" name="Image 4" descr="Une image contenant cercle, ligne, diagramme, conception&#10;&#10;Le contenu généré par l’IA peut être incorrect.">
            <a:extLst>
              <a:ext uri="{FF2B5EF4-FFF2-40B4-BE49-F238E27FC236}">
                <a16:creationId xmlns:a16="http://schemas.microsoft.com/office/drawing/2014/main" id="{D5BE17A4-0224-B25C-452E-5A8BF517AE38}"/>
              </a:ext>
            </a:extLst>
          </p:cNvPr>
          <p:cNvPicPr>
            <a:picLocks noChangeAspect="1"/>
          </p:cNvPicPr>
          <p:nvPr/>
        </p:nvPicPr>
        <p:blipFill>
          <a:blip r:embed="rId2"/>
          <a:stretch>
            <a:fillRect/>
          </a:stretch>
        </p:blipFill>
        <p:spPr>
          <a:xfrm>
            <a:off x="8640000" y="1897200"/>
            <a:ext cx="2520000" cy="2772000"/>
          </a:xfrm>
          <a:prstGeom prst="rect">
            <a:avLst/>
          </a:prstGeom>
        </p:spPr>
      </p:pic>
    </p:spTree>
    <p:extLst>
      <p:ext uri="{BB962C8B-B14F-4D97-AF65-F5344CB8AC3E}">
        <p14:creationId xmlns:p14="http://schemas.microsoft.com/office/powerpoint/2010/main" val="26296752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B7245-7800-32EA-0EFB-BF01ACE26E0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D83FA8-A3E2-AD58-9C80-5CA58B0EBAE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E567BB35-A7C7-13B5-F15C-F4AE27806242}"/>
              </a:ext>
            </a:extLst>
          </p:cNvPr>
          <p:cNvSpPr txBox="1"/>
          <p:nvPr/>
        </p:nvSpPr>
        <p:spPr>
          <a:xfrm>
            <a:off x="844826" y="1431230"/>
            <a:ext cx="10525539" cy="461665"/>
          </a:xfrm>
          <a:prstGeom prst="rect">
            <a:avLst/>
          </a:prstGeom>
          <a:noFill/>
        </p:spPr>
        <p:txBody>
          <a:bodyPr wrap="square" rtlCol="0">
            <a:spAutoFit/>
          </a:bodyPr>
          <a:lstStyle/>
          <a:p>
            <a:r>
              <a:rPr lang="fr-FR" sz="2400" b="1" dirty="0"/>
              <a:t>MCTS : simulation</a:t>
            </a:r>
          </a:p>
        </p:txBody>
      </p:sp>
      <p:sp>
        <p:nvSpPr>
          <p:cNvPr id="4" name="ZoneTexte 3">
            <a:extLst>
              <a:ext uri="{FF2B5EF4-FFF2-40B4-BE49-F238E27FC236}">
                <a16:creationId xmlns:a16="http://schemas.microsoft.com/office/drawing/2014/main" id="{763CA6CB-2D90-A3A8-4B87-AF7569399560}"/>
              </a:ext>
            </a:extLst>
          </p:cNvPr>
          <p:cNvSpPr txBox="1"/>
          <p:nvPr/>
        </p:nvSpPr>
        <p:spPr>
          <a:xfrm>
            <a:off x="844826" y="2165822"/>
            <a:ext cx="6120000" cy="2308324"/>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À partir du sommet précédemment ajouté, on lance une simulation de partie.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2400" dirty="0">
              <a:solidFill>
                <a:prstClr val="black"/>
              </a:solidFill>
              <a:latin typeface="Calibri" panose="020F0502020204030204"/>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Pour cela on suite la </a:t>
            </a:r>
            <a:r>
              <a:rPr kumimoji="0" lang="fr-FR" sz="2400" b="1" i="0" u="none" strike="noStrike" kern="1200" cap="none" spc="0" normalizeH="0" baseline="0" noProof="0" dirty="0">
                <a:ln>
                  <a:noFill/>
                </a:ln>
                <a:solidFill>
                  <a:prstClr val="black"/>
                </a:solidFill>
                <a:effectLst/>
                <a:uLnTx/>
                <a:uFillTx/>
                <a:latin typeface="Calibri" panose="020F0502020204030204"/>
                <a:ea typeface="+mn-ea"/>
                <a:cs typeface="+mn-cs"/>
              </a:rPr>
              <a:t>politique de jeu</a:t>
            </a: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2400" dirty="0">
              <a:solidFill>
                <a:prstClr val="black"/>
              </a:solidFill>
              <a:latin typeface="Calibri" panose="020F0502020204030204"/>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On constate alors le résultat de la partie.</a:t>
            </a:r>
          </a:p>
        </p:txBody>
      </p:sp>
      <p:pic>
        <p:nvPicPr>
          <p:cNvPr id="5" name="Image 4" descr="Une image contenant cercle, conception, illustration&#10;&#10;Le contenu généré par l’IA peut être incorrect.">
            <a:extLst>
              <a:ext uri="{FF2B5EF4-FFF2-40B4-BE49-F238E27FC236}">
                <a16:creationId xmlns:a16="http://schemas.microsoft.com/office/drawing/2014/main" id="{69D73531-C220-9407-27C3-5DF700F5AE18}"/>
              </a:ext>
            </a:extLst>
          </p:cNvPr>
          <p:cNvPicPr>
            <a:picLocks noChangeAspect="1"/>
          </p:cNvPicPr>
          <p:nvPr/>
        </p:nvPicPr>
        <p:blipFill>
          <a:blip r:embed="rId3"/>
          <a:stretch>
            <a:fillRect/>
          </a:stretch>
        </p:blipFill>
        <p:spPr>
          <a:xfrm>
            <a:off x="8640000" y="1897200"/>
            <a:ext cx="2520000" cy="4536000"/>
          </a:xfrm>
          <a:prstGeom prst="rect">
            <a:avLst/>
          </a:prstGeom>
        </p:spPr>
      </p:pic>
    </p:spTree>
    <p:extLst>
      <p:ext uri="{BB962C8B-B14F-4D97-AF65-F5344CB8AC3E}">
        <p14:creationId xmlns:p14="http://schemas.microsoft.com/office/powerpoint/2010/main" val="104384494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9B2D1-0E12-19F3-103E-02453E9723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429374-A011-C0E2-29D8-D904031C52F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D1EDF8E0-64F9-4607-5BAC-CA0B5FFB6051}"/>
              </a:ext>
            </a:extLst>
          </p:cNvPr>
          <p:cNvSpPr txBox="1"/>
          <p:nvPr/>
        </p:nvSpPr>
        <p:spPr>
          <a:xfrm>
            <a:off x="844826" y="1431230"/>
            <a:ext cx="10525539" cy="461665"/>
          </a:xfrm>
          <a:prstGeom prst="rect">
            <a:avLst/>
          </a:prstGeom>
          <a:noFill/>
        </p:spPr>
        <p:txBody>
          <a:bodyPr wrap="square" rtlCol="0">
            <a:spAutoFit/>
          </a:bodyPr>
          <a:lstStyle/>
          <a:p>
            <a:r>
              <a:rPr lang="fr-FR" sz="2400" b="1" dirty="0"/>
              <a:t>MCTS : rétropropagation</a:t>
            </a:r>
          </a:p>
        </p:txBody>
      </p:sp>
      <p:sp>
        <p:nvSpPr>
          <p:cNvPr id="4" name="ZoneTexte 3">
            <a:extLst>
              <a:ext uri="{FF2B5EF4-FFF2-40B4-BE49-F238E27FC236}">
                <a16:creationId xmlns:a16="http://schemas.microsoft.com/office/drawing/2014/main" id="{E2A3E05D-7802-AF42-126B-C5565AEEA4D6}"/>
              </a:ext>
            </a:extLst>
          </p:cNvPr>
          <p:cNvSpPr txBox="1"/>
          <p:nvPr/>
        </p:nvSpPr>
        <p:spPr>
          <a:xfrm>
            <a:off x="844826" y="2165822"/>
            <a:ext cx="6120000" cy="2677656"/>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Une fois la simulation terminée, on va faire remonter l’information, </a:t>
            </a:r>
            <a:r>
              <a:rPr kumimoji="0" lang="fr-FR" sz="2400" b="0" i="1" u="none" strike="noStrike" kern="1200" cap="none" spc="0" normalizeH="0" baseline="0" noProof="0" dirty="0">
                <a:ln>
                  <a:noFill/>
                </a:ln>
                <a:solidFill>
                  <a:prstClr val="black"/>
                </a:solidFill>
                <a:effectLst/>
                <a:uLnTx/>
                <a:uFillTx/>
                <a:latin typeface="Calibri" panose="020F0502020204030204"/>
                <a:ea typeface="+mn-ea"/>
                <a:cs typeface="+mn-cs"/>
              </a:rPr>
              <a:t>i.e.</a:t>
            </a: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 le résultat de la partie.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2400" dirty="0">
              <a:solidFill>
                <a:prstClr val="black"/>
              </a:solidFill>
              <a:latin typeface="Calibri" panose="020F0502020204030204"/>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À partir du sommet récemment ajouté on va ainsi parcourir la branche de l’arbre de recherche jusqu’à</a:t>
            </a:r>
            <a:r>
              <a:rPr lang="fr-FR" sz="2400" dirty="0">
                <a:solidFill>
                  <a:prstClr val="black"/>
                </a:solidFill>
                <a:latin typeface="Calibri" panose="020F0502020204030204"/>
              </a:rPr>
              <a:t> la racine.</a:t>
            </a:r>
            <a:endPar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Image 4" descr="Une image contenant cercle, ligne, art, conception&#10;&#10;Le contenu généré par l’IA peut être incorrect.">
            <a:extLst>
              <a:ext uri="{FF2B5EF4-FFF2-40B4-BE49-F238E27FC236}">
                <a16:creationId xmlns:a16="http://schemas.microsoft.com/office/drawing/2014/main" id="{3412A7CC-A38E-E48D-4D7F-CCBC427344C2}"/>
              </a:ext>
            </a:extLst>
          </p:cNvPr>
          <p:cNvPicPr>
            <a:picLocks noChangeAspect="1"/>
          </p:cNvPicPr>
          <p:nvPr/>
        </p:nvPicPr>
        <p:blipFill>
          <a:blip r:embed="rId3"/>
          <a:stretch>
            <a:fillRect/>
          </a:stretch>
        </p:blipFill>
        <p:spPr>
          <a:xfrm>
            <a:off x="8640000" y="1897200"/>
            <a:ext cx="2520000" cy="2772000"/>
          </a:xfrm>
          <a:prstGeom prst="rect">
            <a:avLst/>
          </a:prstGeom>
        </p:spPr>
      </p:pic>
    </p:spTree>
    <p:extLst>
      <p:ext uri="{BB962C8B-B14F-4D97-AF65-F5344CB8AC3E}">
        <p14:creationId xmlns:p14="http://schemas.microsoft.com/office/powerpoint/2010/main" val="297279643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A836E-FCCE-6607-2E22-9A57DE90E0D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316B243-708E-1557-E0F2-F71B19522ED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5C5F0BDA-1691-79E4-6830-F733DE49573F}"/>
              </a:ext>
            </a:extLst>
          </p:cNvPr>
          <p:cNvSpPr txBox="1"/>
          <p:nvPr/>
        </p:nvSpPr>
        <p:spPr>
          <a:xfrm>
            <a:off x="844826" y="1431230"/>
            <a:ext cx="10525539" cy="3416320"/>
          </a:xfrm>
          <a:prstGeom prst="rect">
            <a:avLst/>
          </a:prstGeom>
          <a:noFill/>
        </p:spPr>
        <p:txBody>
          <a:bodyPr wrap="square" rtlCol="0">
            <a:spAutoFit/>
          </a:bodyPr>
          <a:lstStyle/>
          <a:p>
            <a:r>
              <a:rPr lang="fr-FR" sz="2400" b="1" dirty="0"/>
              <a:t>MCTS : remarque</a:t>
            </a:r>
          </a:p>
          <a:p>
            <a:endParaRPr lang="fr-FR" sz="2400" dirty="0"/>
          </a:p>
          <a:p>
            <a:pPr marL="342900" indent="-342900">
              <a:buFont typeface="Arial" panose="020B0604020202020204" pitchFamily="34" charset="0"/>
              <a:buChar char="•"/>
            </a:pPr>
            <a:r>
              <a:rPr lang="fr-FR" sz="2400" dirty="0"/>
              <a:t>On va supposer dans la suite que les seules issues d’une partie sont victoire, défaite ou match nul.</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L’étape de rétropropagation sera alors très simple car elle consistera à partir du résultat de la simulation à mettre à jour les ratios victoires / parties jouées pour chacun des sommets de l’arbre de recherche appartenant à la branche déterminée lors de l’étape de sélection.</a:t>
            </a:r>
          </a:p>
        </p:txBody>
      </p:sp>
      <p:pic>
        <p:nvPicPr>
          <p:cNvPr id="5" name="Graphique 4" descr="Nombre d'or avec un remplissage uni">
            <a:extLst>
              <a:ext uri="{FF2B5EF4-FFF2-40B4-BE49-F238E27FC236}">
                <a16:creationId xmlns:a16="http://schemas.microsoft.com/office/drawing/2014/main" id="{5BEB7999-3AE8-C51A-DC21-FC28B68F70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43105375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FDC36-778B-F540-189F-4646E5BA0FB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7AD5912-B853-EDD4-5391-97810D95ED12}"/>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0AD3D439-C1B7-4864-EBA3-082AF219D35D}"/>
                  </a:ext>
                </a:extLst>
              </p:cNvPr>
              <p:cNvSpPr txBox="1"/>
              <p:nvPr/>
            </p:nvSpPr>
            <p:spPr>
              <a:xfrm>
                <a:off x="844826" y="1431230"/>
                <a:ext cx="10525539" cy="3785652"/>
              </a:xfrm>
              <a:prstGeom prst="rect">
                <a:avLst/>
              </a:prstGeom>
              <a:noFill/>
            </p:spPr>
            <p:txBody>
              <a:bodyPr wrap="square" rtlCol="0">
                <a:spAutoFit/>
              </a:bodyPr>
              <a:lstStyle/>
              <a:p>
                <a:r>
                  <a:rPr lang="fr-FR" sz="2400" b="1" dirty="0"/>
                  <a:t>Statistiques des sommets</a:t>
                </a:r>
              </a:p>
              <a:p>
                <a:endParaRPr lang="fr-FR" sz="2400" dirty="0"/>
              </a:p>
              <a:p>
                <a:pPr marL="342900" indent="-342900">
                  <a:buFont typeface="Arial" panose="020B0604020202020204" pitchFamily="34" charset="0"/>
                  <a:buChar char="•"/>
                </a:pPr>
                <a:r>
                  <a:rPr lang="fr-FR" sz="2400" dirty="0"/>
                  <a:t>On va donc définir deux paramètres statistiques pour chacun des sommets </a:t>
                </a:r>
                <a14:m>
                  <m:oMath xmlns:m="http://schemas.openxmlformats.org/officeDocument/2006/math">
                    <m:r>
                      <a:rPr lang="fr-FR" sz="2400" b="0" i="1" smtClean="0">
                        <a:latin typeface="Cambria Math" panose="02040503050406030204" pitchFamily="18" charset="0"/>
                      </a:rPr>
                      <m:t>𝑥</m:t>
                    </m:r>
                  </m:oMath>
                </a14:m>
                <a:r>
                  <a:rPr lang="fr-FR" sz="2400" dirty="0"/>
                  <a:t> de l’arbre de recherche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14:m>
                  <m:oMath xmlns:m="http://schemas.openxmlformats.org/officeDocument/2006/math">
                    <m:r>
                      <a:rPr lang="fr-FR" sz="2400" b="0" i="1" smtClean="0">
                        <a:latin typeface="Cambria Math" panose="02040503050406030204" pitchFamily="18" charset="0"/>
                      </a:rPr>
                      <m:t>𝑁</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oMath>
                </a14:m>
                <a:r>
                  <a:rPr lang="fr-FR" sz="2400" dirty="0"/>
                  <a:t> : nombre de fois où le sommet </a:t>
                </a:r>
                <a14:m>
                  <m:oMath xmlns:m="http://schemas.openxmlformats.org/officeDocument/2006/math">
                    <m:r>
                      <a:rPr lang="fr-FR" sz="2400" b="0" i="1" smtClean="0">
                        <a:latin typeface="Cambria Math" panose="02040503050406030204" pitchFamily="18" charset="0"/>
                      </a:rPr>
                      <m:t>𝑥</m:t>
                    </m:r>
                  </m:oMath>
                </a14:m>
                <a:r>
                  <a:rPr lang="fr-FR" sz="2400" dirty="0"/>
                  <a:t> a été visité, </a:t>
                </a:r>
                <a:r>
                  <a:rPr lang="fr-FR" sz="2400" i="1" dirty="0"/>
                  <a:t>i.e.</a:t>
                </a:r>
                <a:r>
                  <a:rPr lang="fr-FR" sz="2400" dirty="0"/>
                  <a:t> nombre de fois où </a:t>
                </a:r>
                <a14:m>
                  <m:oMath xmlns:m="http://schemas.openxmlformats.org/officeDocument/2006/math">
                    <m:r>
                      <a:rPr lang="fr-FR" sz="2400" b="0" i="1" smtClean="0">
                        <a:latin typeface="Cambria Math" panose="02040503050406030204" pitchFamily="18" charset="0"/>
                      </a:rPr>
                      <m:t>𝑥</m:t>
                    </m:r>
                  </m:oMath>
                </a14:m>
                <a:r>
                  <a:rPr lang="fr-FR" sz="2400" dirty="0"/>
                  <a:t> s’est retrouvé sur un chemin lors de l’étape de sélection.</a:t>
                </a:r>
              </a:p>
              <a:p>
                <a:pPr lvl="1"/>
                <a:endParaRPr lang="fr-FR" sz="2400" dirty="0"/>
              </a:p>
              <a:p>
                <a:pPr marL="800100" lvl="1" indent="-342900">
                  <a:buFont typeface="Arial" panose="020B0604020202020204" pitchFamily="34" charset="0"/>
                  <a:buChar char="•"/>
                </a:pPr>
                <a14:m>
                  <m:oMath xmlns:m="http://schemas.openxmlformats.org/officeDocument/2006/math">
                    <m:r>
                      <a:rPr lang="fr-FR" sz="2400" b="0" i="1" smtClean="0">
                        <a:latin typeface="Cambria Math" panose="02040503050406030204" pitchFamily="18" charset="0"/>
                      </a:rPr>
                      <m:t>𝑈</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oMath>
                </a14:m>
                <a:r>
                  <a:rPr lang="fr-FR" sz="2400" dirty="0"/>
                  <a:t> : nombre de fois où la simulation a conduit à une victoire pour le joueur courant à la suite d'une visite du sommet </a:t>
                </a:r>
                <a14:m>
                  <m:oMath xmlns:m="http://schemas.openxmlformats.org/officeDocument/2006/math">
                    <m:r>
                      <a:rPr lang="fr-FR" sz="2400" b="0" i="1" smtClean="0">
                        <a:latin typeface="Cambria Math" panose="02040503050406030204" pitchFamily="18" charset="0"/>
                      </a:rPr>
                      <m:t>𝑥</m:t>
                    </m:r>
                  </m:oMath>
                </a14:m>
                <a:r>
                  <a:rPr lang="fr-FR" sz="2400" dirty="0"/>
                  <a:t>.</a:t>
                </a:r>
              </a:p>
            </p:txBody>
          </p:sp>
        </mc:Choice>
        <mc:Fallback xmlns="">
          <p:sp>
            <p:nvSpPr>
              <p:cNvPr id="3" name="ZoneTexte 2">
                <a:extLst>
                  <a:ext uri="{FF2B5EF4-FFF2-40B4-BE49-F238E27FC236}">
                    <a16:creationId xmlns:a16="http://schemas.microsoft.com/office/drawing/2014/main" id="{0AD3D439-C1B7-4864-EBA3-082AF219D35D}"/>
                  </a:ext>
                </a:extLst>
              </p:cNvPr>
              <p:cNvSpPr txBox="1">
                <a:spLocks noRot="1" noChangeAspect="1" noMove="1" noResize="1" noEditPoints="1" noAdjustHandles="1" noChangeArrowheads="1" noChangeShapeType="1" noTextEdit="1"/>
              </p:cNvSpPr>
              <p:nvPr/>
            </p:nvSpPr>
            <p:spPr>
              <a:xfrm>
                <a:off x="844826" y="1431230"/>
                <a:ext cx="10525539" cy="3785652"/>
              </a:xfrm>
              <a:prstGeom prst="rect">
                <a:avLst/>
              </a:prstGeom>
              <a:blipFill>
                <a:blip r:embed="rId3"/>
                <a:stretch>
                  <a:fillRect l="-843" t="-1338" b="-3010"/>
                </a:stretch>
              </a:blipFill>
            </p:spPr>
            <p:txBody>
              <a:bodyPr/>
              <a:lstStyle/>
              <a:p>
                <a:r>
                  <a:rPr lang="fr-FR">
                    <a:noFill/>
                  </a:rPr>
                  <a:t> </a:t>
                </a:r>
              </a:p>
            </p:txBody>
          </p:sp>
        </mc:Fallback>
      </mc:AlternateContent>
      <p:pic>
        <p:nvPicPr>
          <p:cNvPr id="5" name="Graphique 4" descr="Statistiques avec un remplissage uni">
            <a:extLst>
              <a:ext uri="{FF2B5EF4-FFF2-40B4-BE49-F238E27FC236}">
                <a16:creationId xmlns:a16="http://schemas.microsoft.com/office/drawing/2014/main" id="{0BFA8780-8D02-53B4-3CBA-B81E007F7A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25401205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13D0E-94B6-48D5-285F-4F32F299D83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62555B5-CE48-594A-56FA-360B8A5F3DD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9C25A127-3773-3FFA-7D26-655A00BC444A}"/>
              </a:ext>
            </a:extLst>
          </p:cNvPr>
          <p:cNvSpPr txBox="1"/>
          <p:nvPr/>
        </p:nvSpPr>
        <p:spPr>
          <a:xfrm>
            <a:off x="844826" y="1431230"/>
            <a:ext cx="10525539" cy="461665"/>
          </a:xfrm>
          <a:prstGeom prst="rect">
            <a:avLst/>
          </a:prstGeom>
          <a:noFill/>
        </p:spPr>
        <p:txBody>
          <a:bodyPr wrap="square" rtlCol="0">
            <a:spAutoFit/>
          </a:bodyPr>
          <a:lstStyle/>
          <a:p>
            <a:r>
              <a:rPr lang="fr-FR" sz="2400" b="1" dirty="0"/>
              <a:t>Rétropropagation : exemple</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05048B6C-A092-B928-BD7F-4C1B0485B002}"/>
                  </a:ext>
                </a:extLst>
              </p:cNvPr>
              <p:cNvSpPr txBox="1"/>
              <p:nvPr/>
            </p:nvSpPr>
            <p:spPr>
              <a:xfrm>
                <a:off x="844826" y="2165822"/>
                <a:ext cx="6480000" cy="3635354"/>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Considérons la situation suivante</a:t>
                </a:r>
                <a:r>
                  <a:rPr lang="fr-FR" sz="2400" dirty="0">
                    <a:solidFill>
                      <a:prstClr val="black"/>
                    </a:solidFill>
                    <a:latin typeface="Calibri" panose="020F0502020204030204"/>
                  </a:rPr>
                  <a:t> où de niveau en niveau sont représentés les ratios </a:t>
                </a:r>
                <a14:m>
                  <m:oMath xmlns:m="http://schemas.openxmlformats.org/officeDocument/2006/math">
                    <m:f>
                      <m:fPr>
                        <m:ctrlPr>
                          <a:rPr lang="fr-FR" sz="2400" i="1">
                            <a:latin typeface="Cambria Math" panose="02040503050406030204" pitchFamily="18" charset="0"/>
                          </a:rPr>
                        </m:ctrlPr>
                      </m:fPr>
                      <m:num>
                        <m:r>
                          <a:rPr lang="fr-FR" sz="2400" i="1">
                            <a:latin typeface="Cambria Math" panose="02040503050406030204" pitchFamily="18" charset="0"/>
                          </a:rPr>
                          <m:t>𝑈</m:t>
                        </m:r>
                        <m:d>
                          <m:dPr>
                            <m:ctrlPr>
                              <a:rPr lang="fr-FR" sz="2400" i="1">
                                <a:latin typeface="Cambria Math" panose="02040503050406030204" pitchFamily="18" charset="0"/>
                              </a:rPr>
                            </m:ctrlPr>
                          </m:dPr>
                          <m:e>
                            <m:r>
                              <a:rPr lang="fr-FR" sz="2400" i="1">
                                <a:latin typeface="Cambria Math" panose="02040503050406030204" pitchFamily="18" charset="0"/>
                              </a:rPr>
                              <m:t>𝑥</m:t>
                            </m:r>
                          </m:e>
                        </m:d>
                      </m:num>
                      <m:den>
                        <m:r>
                          <a:rPr lang="fr-FR" sz="2400" i="1">
                            <a:latin typeface="Cambria Math" panose="02040503050406030204" pitchFamily="18" charset="0"/>
                          </a:rPr>
                          <m:t>𝑁</m:t>
                        </m:r>
                        <m:d>
                          <m:dPr>
                            <m:ctrlPr>
                              <a:rPr lang="fr-FR" sz="2400" i="1">
                                <a:latin typeface="Cambria Math" panose="02040503050406030204" pitchFamily="18" charset="0"/>
                              </a:rPr>
                            </m:ctrlPr>
                          </m:dPr>
                          <m:e>
                            <m:r>
                              <a:rPr lang="fr-FR" sz="2400" i="1">
                                <a:latin typeface="Cambria Math" panose="02040503050406030204" pitchFamily="18" charset="0"/>
                              </a:rPr>
                              <m:t>𝑥</m:t>
                            </m:r>
                          </m:e>
                        </m:d>
                      </m:den>
                    </m:f>
                  </m:oMath>
                </a14:m>
                <a:r>
                  <a:rPr lang="fr-FR" sz="2400" dirty="0">
                    <a:solidFill>
                      <a:prstClr val="black"/>
                    </a:solidFill>
                    <a:latin typeface="Calibri" panose="020F0502020204030204"/>
                  </a:rPr>
                  <a:t> pour le joueur venant de jouer.</a:t>
                </a:r>
              </a:p>
              <a:p>
                <a:pPr marL="342900" lvl="0" indent="-342900">
                  <a:buFont typeface="Arial" panose="020B0604020202020204" pitchFamily="34" charset="0"/>
                  <a:buChar char="•"/>
                  <a:defRPr/>
                </a:pPr>
                <a:endParaRPr lang="fr-FR" sz="2400" dirty="0">
                  <a:solidFill>
                    <a:prstClr val="black"/>
                  </a:solidFill>
                  <a:latin typeface="Calibri" panose="020F0502020204030204"/>
                </a:endParaRPr>
              </a:p>
              <a:p>
                <a:pPr marL="342900" lvl="0" indent="-342900">
                  <a:buFont typeface="Arial" panose="020B0604020202020204" pitchFamily="34" charset="0"/>
                  <a:buChar char="•"/>
                  <a:defRPr/>
                </a:pPr>
                <a:r>
                  <a:rPr lang="fr-FR" sz="2400" dirty="0">
                    <a:solidFill>
                      <a:prstClr val="black"/>
                    </a:solidFill>
                    <a:latin typeface="Calibri" panose="020F0502020204030204"/>
                  </a:rPr>
                  <a:t>Les couleurs ne sont là que pour se repérer :</a:t>
                </a:r>
              </a:p>
              <a:p>
                <a:pPr marL="342900" lvl="0" indent="-342900">
                  <a:buFont typeface="Arial" panose="020B0604020202020204" pitchFamily="34" charset="0"/>
                  <a:buChar char="•"/>
                  <a:defRPr/>
                </a:pPr>
                <a:endParaRPr lang="fr-FR" sz="2400" dirty="0">
                  <a:solidFill>
                    <a:prstClr val="black"/>
                  </a:solidFill>
                  <a:latin typeface="Calibri" panose="020F0502020204030204"/>
                </a:endParaRPr>
              </a:p>
              <a:p>
                <a:pPr marL="800100" lvl="1" indent="-342900">
                  <a:buFont typeface="Arial" panose="020B0604020202020204" pitchFamily="34" charset="0"/>
                  <a:buChar char="•"/>
                  <a:defRPr/>
                </a:pPr>
                <a:r>
                  <a:rPr lang="fr-FR" sz="2400" dirty="0">
                    <a:solidFill>
                      <a:prstClr val="black"/>
                    </a:solidFill>
                    <a:latin typeface="Calibri" panose="020F0502020204030204"/>
                  </a:rPr>
                  <a:t>En gris les sommets après un coup de l’adversaire.</a:t>
                </a:r>
              </a:p>
              <a:p>
                <a:pPr marL="800100" lvl="1" indent="-342900">
                  <a:buFont typeface="Arial" panose="020B0604020202020204" pitchFamily="34" charset="0"/>
                  <a:buChar char="•"/>
                  <a:defRPr/>
                </a:pPr>
                <a:r>
                  <a:rPr lang="fr-FR" sz="2400" dirty="0">
                    <a:solidFill>
                      <a:prstClr val="black"/>
                    </a:solidFill>
                    <a:latin typeface="Calibri" panose="020F0502020204030204"/>
                  </a:rPr>
                  <a:t>En blanc les sommets après un coup de l’IA.</a:t>
                </a:r>
              </a:p>
            </p:txBody>
          </p:sp>
        </mc:Choice>
        <mc:Fallback xmlns="">
          <p:sp>
            <p:nvSpPr>
              <p:cNvPr id="4" name="ZoneTexte 3">
                <a:extLst>
                  <a:ext uri="{FF2B5EF4-FFF2-40B4-BE49-F238E27FC236}">
                    <a16:creationId xmlns:a16="http://schemas.microsoft.com/office/drawing/2014/main" id="{05048B6C-A092-B928-BD7F-4C1B0485B002}"/>
                  </a:ext>
                </a:extLst>
              </p:cNvPr>
              <p:cNvSpPr txBox="1">
                <a:spLocks noRot="1" noChangeAspect="1" noMove="1" noResize="1" noEditPoints="1" noAdjustHandles="1" noChangeArrowheads="1" noChangeShapeType="1" noTextEdit="1"/>
              </p:cNvSpPr>
              <p:nvPr/>
            </p:nvSpPr>
            <p:spPr>
              <a:xfrm>
                <a:off x="844826" y="2165822"/>
                <a:ext cx="6480000" cy="3635354"/>
              </a:xfrm>
              <a:prstGeom prst="rect">
                <a:avLst/>
              </a:prstGeom>
              <a:blipFill>
                <a:blip r:embed="rId3"/>
                <a:stretch>
                  <a:fillRect l="-1174" t="-1394" b="-2787"/>
                </a:stretch>
              </a:blipFill>
            </p:spPr>
            <p:txBody>
              <a:bodyPr/>
              <a:lstStyle/>
              <a:p>
                <a:r>
                  <a:rPr lang="fr-FR">
                    <a:noFill/>
                  </a:rPr>
                  <a:t> </a:t>
                </a:r>
              </a:p>
            </p:txBody>
          </p:sp>
        </mc:Fallback>
      </mc:AlternateContent>
      <p:pic>
        <p:nvPicPr>
          <p:cNvPr id="6" name="Image 5" descr="Une image contenant diagramme, ligne, cercle&#10;&#10;Le contenu généré par l’IA peut être incorrect.">
            <a:extLst>
              <a:ext uri="{FF2B5EF4-FFF2-40B4-BE49-F238E27FC236}">
                <a16:creationId xmlns:a16="http://schemas.microsoft.com/office/drawing/2014/main" id="{A54B718E-907C-99F9-A1DC-2472BC448B8A}"/>
              </a:ext>
            </a:extLst>
          </p:cNvPr>
          <p:cNvPicPr>
            <a:picLocks noChangeAspect="1"/>
          </p:cNvPicPr>
          <p:nvPr/>
        </p:nvPicPr>
        <p:blipFill>
          <a:blip r:embed="rId4"/>
          <a:stretch>
            <a:fillRect/>
          </a:stretch>
        </p:blipFill>
        <p:spPr>
          <a:xfrm>
            <a:off x="7740000" y="2160000"/>
            <a:ext cx="4320000" cy="3330720"/>
          </a:xfrm>
          <a:prstGeom prst="rect">
            <a:avLst/>
          </a:prstGeom>
        </p:spPr>
      </p:pic>
    </p:spTree>
    <p:extLst>
      <p:ext uri="{BB962C8B-B14F-4D97-AF65-F5344CB8AC3E}">
        <p14:creationId xmlns:p14="http://schemas.microsoft.com/office/powerpoint/2010/main" val="198105734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45C12-71CE-FFBF-5BC3-D25CD0495F8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971F11F-8D31-F8B3-CB0E-10D6DC618B44}"/>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6F4FEFE2-E2B6-82EF-007D-503F7DBC3E47}"/>
              </a:ext>
            </a:extLst>
          </p:cNvPr>
          <p:cNvSpPr txBox="1"/>
          <p:nvPr/>
        </p:nvSpPr>
        <p:spPr>
          <a:xfrm>
            <a:off x="844826" y="1431230"/>
            <a:ext cx="10525539" cy="461665"/>
          </a:xfrm>
          <a:prstGeom prst="rect">
            <a:avLst/>
          </a:prstGeom>
          <a:noFill/>
        </p:spPr>
        <p:txBody>
          <a:bodyPr wrap="square" rtlCol="0">
            <a:spAutoFit/>
          </a:bodyPr>
          <a:lstStyle/>
          <a:p>
            <a:r>
              <a:rPr lang="fr-FR" sz="2400" b="1" dirty="0"/>
              <a:t>Rétropropagation : exemple (suite)</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D0CEF804-46F4-6CDA-6285-ECDC74B27DD6}"/>
                  </a:ext>
                </a:extLst>
              </p:cNvPr>
              <p:cNvSpPr txBox="1"/>
              <p:nvPr/>
            </p:nvSpPr>
            <p:spPr>
              <a:xfrm>
                <a:off x="844826" y="2165822"/>
                <a:ext cx="6480000" cy="2677656"/>
              </a:xfrm>
              <a:prstGeom prst="rect">
                <a:avLst/>
              </a:prstGeom>
              <a:noFill/>
            </p:spPr>
            <p:txBody>
              <a:bodyPr wrap="square" rtlCol="0">
                <a:spAutoFit/>
              </a:bodyPr>
              <a:lstStyle/>
              <a:p>
                <a:pPr marL="342900" lvl="0" indent="-342900">
                  <a:buFont typeface="Arial" panose="020B0604020202020204" pitchFamily="34" charset="0"/>
                  <a:buChar char="•"/>
                  <a:defRPr/>
                </a:pPr>
                <a:r>
                  <a:rPr lang="fr-FR" sz="2400" dirty="0">
                    <a:solidFill>
                      <a:prstClr val="black"/>
                    </a:solidFill>
                  </a:rPr>
                  <a:t>Imaginons que la politique de sélection nous ait amené à choisir le sommet dont les statistiques actuelles sont </a:t>
                </a:r>
                <a14:m>
                  <m:oMath xmlns:m="http://schemas.openxmlformats.org/officeDocument/2006/math">
                    <m:r>
                      <a:rPr lang="fr-FR" sz="2400" b="0" i="1" smtClean="0">
                        <a:solidFill>
                          <a:prstClr val="black"/>
                        </a:solidFill>
                        <a:latin typeface="Cambria Math" panose="02040503050406030204" pitchFamily="18" charset="0"/>
                      </a:rPr>
                      <m:t>27/35</m:t>
                    </m:r>
                  </m:oMath>
                </a14:m>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lvl="0" indent="-342900">
                  <a:buFont typeface="Arial" panose="020B0604020202020204" pitchFamily="34" charset="0"/>
                  <a:buChar char="•"/>
                  <a:defRPr/>
                </a:pPr>
                <a:endParaRPr lang="fr-FR" sz="2400" dirty="0">
                  <a:solidFill>
                    <a:prstClr val="black"/>
                  </a:solidFill>
                  <a:latin typeface="Calibri" panose="020F0502020204030204"/>
                </a:endParaRPr>
              </a:p>
              <a:p>
                <a:pPr marL="342900" lvl="0" indent="-342900">
                  <a:buFont typeface="Arial" panose="020B0604020202020204" pitchFamily="34" charset="0"/>
                  <a:buChar char="•"/>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On a </a:t>
                </a:r>
                <a:r>
                  <a:rPr lang="fr-FR" sz="2400" dirty="0">
                    <a:solidFill>
                      <a:prstClr val="black"/>
                    </a:solidFill>
                    <a:latin typeface="Calibri" panose="020F0502020204030204"/>
                  </a:rPr>
                  <a:t>ensuite ajouté un enfant à ce sommet et lancé une simulation qui a conduit à la défaite de l’adversaire et donc à la victoire de l’IA.</a:t>
                </a:r>
                <a:endPar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ZoneTexte 3">
                <a:extLst>
                  <a:ext uri="{FF2B5EF4-FFF2-40B4-BE49-F238E27FC236}">
                    <a16:creationId xmlns:a16="http://schemas.microsoft.com/office/drawing/2014/main" id="{D0CEF804-46F4-6CDA-6285-ECDC74B27DD6}"/>
                  </a:ext>
                </a:extLst>
              </p:cNvPr>
              <p:cNvSpPr txBox="1">
                <a:spLocks noRot="1" noChangeAspect="1" noMove="1" noResize="1" noEditPoints="1" noAdjustHandles="1" noChangeArrowheads="1" noChangeShapeType="1" noTextEdit="1"/>
              </p:cNvSpPr>
              <p:nvPr/>
            </p:nvSpPr>
            <p:spPr>
              <a:xfrm>
                <a:off x="844826" y="2165822"/>
                <a:ext cx="6480000" cy="2677656"/>
              </a:xfrm>
              <a:prstGeom prst="rect">
                <a:avLst/>
              </a:prstGeom>
              <a:blipFill>
                <a:blip r:embed="rId3"/>
                <a:stretch>
                  <a:fillRect l="-1174" t="-1887" r="-1761" b="-3774"/>
                </a:stretch>
              </a:blipFill>
            </p:spPr>
            <p:txBody>
              <a:bodyPr/>
              <a:lstStyle/>
              <a:p>
                <a:r>
                  <a:rPr lang="fr-FR">
                    <a:noFill/>
                  </a:rPr>
                  <a:t> </a:t>
                </a:r>
              </a:p>
            </p:txBody>
          </p:sp>
        </mc:Fallback>
      </mc:AlternateContent>
      <p:pic>
        <p:nvPicPr>
          <p:cNvPr id="8" name="Image 7" descr="Une image contenant diagramme, ligne, motif&#10;&#10;Le contenu généré par l’IA peut être incorrect.">
            <a:extLst>
              <a:ext uri="{FF2B5EF4-FFF2-40B4-BE49-F238E27FC236}">
                <a16:creationId xmlns:a16="http://schemas.microsoft.com/office/drawing/2014/main" id="{B5F223AB-6B52-3BF8-9F89-459B65B0A9E0}"/>
              </a:ext>
            </a:extLst>
          </p:cNvPr>
          <p:cNvPicPr>
            <a:picLocks noChangeAspect="1"/>
          </p:cNvPicPr>
          <p:nvPr/>
        </p:nvPicPr>
        <p:blipFill>
          <a:blip r:embed="rId4"/>
          <a:stretch>
            <a:fillRect/>
          </a:stretch>
        </p:blipFill>
        <p:spPr>
          <a:xfrm>
            <a:off x="7740000" y="244800"/>
            <a:ext cx="4320000" cy="6367680"/>
          </a:xfrm>
          <a:prstGeom prst="rect">
            <a:avLst/>
          </a:prstGeom>
        </p:spPr>
      </p:pic>
    </p:spTree>
    <p:extLst>
      <p:ext uri="{BB962C8B-B14F-4D97-AF65-F5344CB8AC3E}">
        <p14:creationId xmlns:p14="http://schemas.microsoft.com/office/powerpoint/2010/main" val="111831968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D2258-CA3E-92A5-90FA-3F4D9CF4365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F16F9D2-9EE3-C246-ADAF-8817FE17EF20}"/>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9E23726D-3B98-E2B9-DF37-EECB580AE836}"/>
              </a:ext>
            </a:extLst>
          </p:cNvPr>
          <p:cNvSpPr txBox="1"/>
          <p:nvPr/>
        </p:nvSpPr>
        <p:spPr>
          <a:xfrm>
            <a:off x="844826" y="1431230"/>
            <a:ext cx="10525539" cy="461665"/>
          </a:xfrm>
          <a:prstGeom prst="rect">
            <a:avLst/>
          </a:prstGeom>
          <a:noFill/>
        </p:spPr>
        <p:txBody>
          <a:bodyPr wrap="square" rtlCol="0">
            <a:spAutoFit/>
          </a:bodyPr>
          <a:lstStyle/>
          <a:p>
            <a:r>
              <a:rPr lang="fr-FR" sz="2400" b="1" dirty="0"/>
              <a:t>Rétropropagation : exemple (suite)</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CFE2A9E6-9923-B81C-BCF4-0C9856A2A663}"/>
                  </a:ext>
                </a:extLst>
              </p:cNvPr>
              <p:cNvSpPr txBox="1"/>
              <p:nvPr/>
            </p:nvSpPr>
            <p:spPr>
              <a:xfrm>
                <a:off x="844826" y="2165822"/>
                <a:ext cx="6480000" cy="3785652"/>
              </a:xfrm>
              <a:prstGeom prst="rect">
                <a:avLst/>
              </a:prstGeom>
              <a:noFill/>
            </p:spPr>
            <p:txBody>
              <a:bodyPr wrap="square" rtlCol="0">
                <a:spAutoFit/>
              </a:bodyPr>
              <a:lstStyle/>
              <a:p>
                <a:pPr marL="342900" lvl="0" indent="-342900">
                  <a:buFont typeface="Arial" panose="020B0604020202020204" pitchFamily="34" charset="0"/>
                  <a:buChar char="•"/>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Les statistiques des sommets </a:t>
                </a:r>
                <a14:m>
                  <m:oMath xmlns:m="http://schemas.openxmlformats.org/officeDocument/2006/math">
                    <m:r>
                      <a:rPr kumimoji="0" lang="fr-F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 correspondant à l’adversaire voient leurs nombres de visites </a:t>
                </a:r>
                <a14:m>
                  <m:oMath xmlns:m="http://schemas.openxmlformats.org/officeDocument/2006/math">
                    <m:r>
                      <a:rPr kumimoji="0" lang="fr-F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𝑁</m:t>
                    </m:r>
                    <m:d>
                      <m:dPr>
                        <m:ctrlPr>
                          <a:rPr kumimoji="0" lang="fr-F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fr-F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d>
                  </m:oMath>
                </a14:m>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 incrémentées de </a:t>
                </a:r>
                <a14:m>
                  <m:oMath xmlns:m="http://schemas.openxmlformats.org/officeDocument/2006/math">
                    <m:r>
                      <a:rPr kumimoji="0" lang="fr-F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a14:m>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 mais leurs nombres de victoires</a:t>
                </a:r>
                <a:r>
                  <a:rPr kumimoji="0" lang="fr-FR" sz="2400" b="0" i="0" u="none" strike="noStrike" kern="1200" cap="none" spc="0" normalizeH="0" noProof="0" dirty="0">
                    <a:ln>
                      <a:noFill/>
                    </a:ln>
                    <a:solidFill>
                      <a:prstClr val="black"/>
                    </a:solidFill>
                    <a:effectLst/>
                    <a:uLnTx/>
                    <a:uFillTx/>
                    <a:latin typeface="Calibri" panose="020F0502020204030204"/>
                    <a:ea typeface="+mn-ea"/>
                    <a:cs typeface="+mn-cs"/>
                  </a:rPr>
                  <a:t> </a:t>
                </a:r>
                <a14:m>
                  <m:oMath xmlns:m="http://schemas.openxmlformats.org/officeDocument/2006/math">
                    <m:r>
                      <a:rPr kumimoji="0" lang="fr-FR" sz="2400" b="0" i="1" u="none" strike="noStrike" kern="1200" cap="none" spc="0" normalizeH="0" noProof="0" smtClean="0">
                        <a:ln>
                          <a:noFill/>
                        </a:ln>
                        <a:solidFill>
                          <a:prstClr val="black"/>
                        </a:solidFill>
                        <a:effectLst/>
                        <a:uLnTx/>
                        <a:uFillTx/>
                        <a:latin typeface="Cambria Math" panose="02040503050406030204" pitchFamily="18" charset="0"/>
                        <a:ea typeface="+mn-ea"/>
                        <a:cs typeface="+mn-cs"/>
                      </a:rPr>
                      <m:t>𝑈</m:t>
                    </m:r>
                    <m:d>
                      <m:dPr>
                        <m:ctrlPr>
                          <a:rPr kumimoji="0" lang="fr-FR" sz="2400" b="0" i="1" u="none" strike="noStrike" kern="1200" cap="none" spc="0" normalizeH="0" noProof="0" smtClean="0">
                            <a:ln>
                              <a:noFill/>
                            </a:ln>
                            <a:solidFill>
                              <a:prstClr val="black"/>
                            </a:solidFill>
                            <a:effectLst/>
                            <a:uLnTx/>
                            <a:uFillTx/>
                            <a:latin typeface="Cambria Math" panose="02040503050406030204" pitchFamily="18" charset="0"/>
                            <a:ea typeface="+mn-ea"/>
                            <a:cs typeface="+mn-cs"/>
                          </a:rPr>
                        </m:ctrlPr>
                      </m:dPr>
                      <m:e>
                        <m:r>
                          <a:rPr kumimoji="0" lang="fr-FR" sz="2400" b="0" i="1" u="none" strike="noStrike" kern="1200" cap="none" spc="0" normalizeH="0" noProof="0" smtClean="0">
                            <a:ln>
                              <a:noFill/>
                            </a:ln>
                            <a:solidFill>
                              <a:prstClr val="black"/>
                            </a:solidFill>
                            <a:effectLst/>
                            <a:uLnTx/>
                            <a:uFillTx/>
                            <a:latin typeface="Cambria Math" panose="02040503050406030204" pitchFamily="18" charset="0"/>
                            <a:ea typeface="+mn-ea"/>
                            <a:cs typeface="+mn-cs"/>
                          </a:rPr>
                          <m:t>𝑥</m:t>
                        </m:r>
                      </m:e>
                    </m:d>
                  </m:oMath>
                </a14:m>
                <a:r>
                  <a:rPr lang="fr-FR" sz="2400" dirty="0">
                    <a:solidFill>
                      <a:prstClr val="black"/>
                    </a:solidFill>
                    <a:latin typeface="Calibri" panose="020F0502020204030204"/>
                  </a:rPr>
                  <a:t> inchangées </a:t>
                </a:r>
                <a:r>
                  <a:rPr lang="fr-FR" sz="2400" dirty="0">
                    <a:solidFill>
                      <a:prstClr val="black"/>
                    </a:solidFill>
                  </a:rPr>
                  <a:t>car l’adversaire a perdu la partie.</a:t>
                </a:r>
                <a:endParaRPr lang="fr-FR" sz="2400" dirty="0">
                  <a:solidFill>
                    <a:prstClr val="black"/>
                  </a:solidFill>
                  <a:latin typeface="Calibri" panose="020F0502020204030204"/>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2400" dirty="0">
                  <a:solidFill>
                    <a:prstClr val="black"/>
                  </a:solidFill>
                  <a:latin typeface="Calibri" panose="020F0502020204030204"/>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2400" dirty="0">
                    <a:solidFill>
                      <a:prstClr val="black"/>
                    </a:solidFill>
                    <a:latin typeface="Calibri" panose="020F0502020204030204"/>
                  </a:rPr>
                  <a:t>En revanche, les statistiques des sommets </a:t>
                </a:r>
                <a14:m>
                  <m:oMath xmlns:m="http://schemas.openxmlformats.org/officeDocument/2006/math">
                    <m:r>
                      <a:rPr lang="fr-FR" sz="2400" b="0" i="1" smtClean="0">
                        <a:solidFill>
                          <a:prstClr val="black"/>
                        </a:solidFill>
                        <a:latin typeface="Cambria Math" panose="02040503050406030204" pitchFamily="18" charset="0"/>
                      </a:rPr>
                      <m:t>𝑥</m:t>
                    </m:r>
                  </m:oMath>
                </a14:m>
                <a:r>
                  <a:rPr lang="fr-FR" sz="2400" dirty="0">
                    <a:solidFill>
                      <a:prstClr val="black"/>
                    </a:solidFill>
                    <a:latin typeface="Calibri" panose="020F0502020204030204"/>
                  </a:rPr>
                  <a:t> correspondant à l’IA voient à la fois leurs valeurs </a:t>
                </a:r>
                <a14:m>
                  <m:oMath xmlns:m="http://schemas.openxmlformats.org/officeDocument/2006/math">
                    <m:r>
                      <a:rPr lang="fr-FR" sz="2400" b="0" i="1" smtClean="0">
                        <a:solidFill>
                          <a:prstClr val="black"/>
                        </a:solidFill>
                        <a:latin typeface="Cambria Math" panose="02040503050406030204" pitchFamily="18" charset="0"/>
                      </a:rPr>
                      <m:t>𝑁</m:t>
                    </m:r>
                    <m:d>
                      <m:dPr>
                        <m:ctrlPr>
                          <a:rPr lang="fr-FR" sz="2400" b="0" i="1" smtClean="0">
                            <a:solidFill>
                              <a:prstClr val="black"/>
                            </a:solidFill>
                            <a:latin typeface="Cambria Math" panose="02040503050406030204" pitchFamily="18" charset="0"/>
                          </a:rPr>
                        </m:ctrlPr>
                      </m:dPr>
                      <m:e>
                        <m:r>
                          <a:rPr lang="fr-FR" sz="2400" b="0" i="1" smtClean="0">
                            <a:solidFill>
                              <a:prstClr val="black"/>
                            </a:solidFill>
                            <a:latin typeface="Cambria Math" panose="02040503050406030204" pitchFamily="18" charset="0"/>
                          </a:rPr>
                          <m:t>𝑥</m:t>
                        </m:r>
                      </m:e>
                    </m:d>
                  </m:oMath>
                </a14:m>
                <a:r>
                  <a:rPr lang="fr-FR" sz="2400" dirty="0">
                    <a:solidFill>
                      <a:prstClr val="black"/>
                    </a:solidFill>
                    <a:latin typeface="Calibri" panose="020F0502020204030204"/>
                  </a:rPr>
                  <a:t> et </a:t>
                </a:r>
                <a14:m>
                  <m:oMath xmlns:m="http://schemas.openxmlformats.org/officeDocument/2006/math">
                    <m:r>
                      <a:rPr lang="fr-FR" sz="2400" b="0" i="1" smtClean="0">
                        <a:solidFill>
                          <a:prstClr val="black"/>
                        </a:solidFill>
                        <a:latin typeface="Cambria Math" panose="02040503050406030204" pitchFamily="18" charset="0"/>
                      </a:rPr>
                      <m:t>𝑈</m:t>
                    </m:r>
                    <m:d>
                      <m:dPr>
                        <m:ctrlPr>
                          <a:rPr lang="fr-FR" sz="2400" b="0" i="1" smtClean="0">
                            <a:solidFill>
                              <a:prstClr val="black"/>
                            </a:solidFill>
                            <a:latin typeface="Cambria Math" panose="02040503050406030204" pitchFamily="18" charset="0"/>
                          </a:rPr>
                        </m:ctrlPr>
                      </m:dPr>
                      <m:e>
                        <m:r>
                          <a:rPr lang="fr-FR" sz="2400" b="0" i="1" smtClean="0">
                            <a:solidFill>
                              <a:prstClr val="black"/>
                            </a:solidFill>
                            <a:latin typeface="Cambria Math" panose="02040503050406030204" pitchFamily="18" charset="0"/>
                          </a:rPr>
                          <m:t>𝑥</m:t>
                        </m:r>
                      </m:e>
                    </m:d>
                  </m:oMath>
                </a14:m>
                <a:r>
                  <a:rPr lang="fr-FR" sz="2400" dirty="0">
                    <a:solidFill>
                      <a:prstClr val="black"/>
                    </a:solidFill>
                    <a:latin typeface="Calibri" panose="020F0502020204030204"/>
                  </a:rPr>
                  <a:t> incrémentées de </a:t>
                </a:r>
                <a14:m>
                  <m:oMath xmlns:m="http://schemas.openxmlformats.org/officeDocument/2006/math">
                    <m:r>
                      <a:rPr lang="fr-FR" sz="2400" b="0" i="1" smtClean="0">
                        <a:solidFill>
                          <a:prstClr val="black"/>
                        </a:solidFill>
                        <a:latin typeface="Cambria Math" panose="02040503050406030204" pitchFamily="18" charset="0"/>
                      </a:rPr>
                      <m:t>1</m:t>
                    </m:r>
                  </m:oMath>
                </a14:m>
                <a:r>
                  <a:rPr lang="fr-FR" sz="2400" dirty="0">
                    <a:solidFill>
                      <a:prstClr val="black"/>
                    </a:solidFill>
                    <a:latin typeface="Calibri" panose="020F0502020204030204"/>
                  </a:rPr>
                  <a:t> car l’IA a gagné la partie.</a:t>
                </a:r>
                <a:endPar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ZoneTexte 3">
                <a:extLst>
                  <a:ext uri="{FF2B5EF4-FFF2-40B4-BE49-F238E27FC236}">
                    <a16:creationId xmlns:a16="http://schemas.microsoft.com/office/drawing/2014/main" id="{CFE2A9E6-9923-B81C-BCF4-0C9856A2A663}"/>
                  </a:ext>
                </a:extLst>
              </p:cNvPr>
              <p:cNvSpPr txBox="1">
                <a:spLocks noRot="1" noChangeAspect="1" noMove="1" noResize="1" noEditPoints="1" noAdjustHandles="1" noChangeArrowheads="1" noChangeShapeType="1" noTextEdit="1"/>
              </p:cNvSpPr>
              <p:nvPr/>
            </p:nvSpPr>
            <p:spPr>
              <a:xfrm>
                <a:off x="844826" y="2165822"/>
                <a:ext cx="6480000" cy="3785652"/>
              </a:xfrm>
              <a:prstGeom prst="rect">
                <a:avLst/>
              </a:prstGeom>
              <a:blipFill>
                <a:blip r:embed="rId3"/>
                <a:stretch>
                  <a:fillRect l="-1174" t="-1003" r="-2153" b="-2676"/>
                </a:stretch>
              </a:blipFill>
            </p:spPr>
            <p:txBody>
              <a:bodyPr/>
              <a:lstStyle/>
              <a:p>
                <a:r>
                  <a:rPr lang="fr-FR">
                    <a:noFill/>
                  </a:rPr>
                  <a:t> </a:t>
                </a:r>
              </a:p>
            </p:txBody>
          </p:sp>
        </mc:Fallback>
      </mc:AlternateContent>
      <p:pic>
        <p:nvPicPr>
          <p:cNvPr id="6" name="Image 5" descr="Une image contenant diagramme, ligne, cercle&#10;&#10;Le contenu généré par l’IA peut être incorrect.">
            <a:extLst>
              <a:ext uri="{FF2B5EF4-FFF2-40B4-BE49-F238E27FC236}">
                <a16:creationId xmlns:a16="http://schemas.microsoft.com/office/drawing/2014/main" id="{07F8678E-B002-93FD-A6EF-F94C53FFBC60}"/>
              </a:ext>
            </a:extLst>
          </p:cNvPr>
          <p:cNvPicPr>
            <a:picLocks noChangeAspect="1"/>
          </p:cNvPicPr>
          <p:nvPr/>
        </p:nvPicPr>
        <p:blipFill>
          <a:blip r:embed="rId4"/>
          <a:stretch>
            <a:fillRect/>
          </a:stretch>
        </p:blipFill>
        <p:spPr>
          <a:xfrm>
            <a:off x="7740000" y="2160000"/>
            <a:ext cx="4320000" cy="4246560"/>
          </a:xfrm>
          <a:prstGeom prst="rect">
            <a:avLst/>
          </a:prstGeom>
        </p:spPr>
      </p:pic>
    </p:spTree>
    <p:extLst>
      <p:ext uri="{BB962C8B-B14F-4D97-AF65-F5344CB8AC3E}">
        <p14:creationId xmlns:p14="http://schemas.microsoft.com/office/powerpoint/2010/main" val="353855955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BE061-B909-B10D-0E23-6322F4E1303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AA1DAB1-A568-D5B7-50E1-B4266A19269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2B9742CD-8F44-FD05-2699-B1CD9AB49563}"/>
                  </a:ext>
                </a:extLst>
              </p:cNvPr>
              <p:cNvSpPr txBox="1"/>
              <p:nvPr/>
            </p:nvSpPr>
            <p:spPr>
              <a:xfrm>
                <a:off x="844826" y="1431230"/>
                <a:ext cx="10525539" cy="3635354"/>
              </a:xfrm>
              <a:prstGeom prst="rect">
                <a:avLst/>
              </a:prstGeom>
              <a:noFill/>
            </p:spPr>
            <p:txBody>
              <a:bodyPr wrap="square" rtlCol="0">
                <a:spAutoFit/>
              </a:bodyPr>
              <a:lstStyle/>
              <a:p>
                <a:r>
                  <a:rPr lang="fr-FR" sz="2400" b="1" dirty="0"/>
                  <a:t>Statistiques des sommets : remarque</a:t>
                </a:r>
              </a:p>
              <a:p>
                <a:endParaRPr lang="fr-FR" sz="2400" dirty="0"/>
              </a:p>
              <a:p>
                <a:pPr marL="342900" indent="-342900">
                  <a:buFont typeface="Arial" panose="020B0604020202020204" pitchFamily="34" charset="0"/>
                  <a:buChar char="•"/>
                </a:pPr>
                <a:r>
                  <a:rPr lang="fr-FR" sz="2400" dirty="0"/>
                  <a:t>Les valeurs </a:t>
                </a:r>
                <a14:m>
                  <m:oMath xmlns:m="http://schemas.openxmlformats.org/officeDocument/2006/math">
                    <m:r>
                      <a:rPr lang="fr-FR" sz="2400" i="1">
                        <a:latin typeface="Cambria Math" panose="02040503050406030204" pitchFamily="18" charset="0"/>
                      </a:rPr>
                      <m:t>𝑈</m:t>
                    </m:r>
                    <m:d>
                      <m:dPr>
                        <m:ctrlPr>
                          <a:rPr lang="fr-FR" sz="2400" i="1">
                            <a:latin typeface="Cambria Math" panose="02040503050406030204" pitchFamily="18" charset="0"/>
                          </a:rPr>
                        </m:ctrlPr>
                      </m:dPr>
                      <m:e>
                        <m:r>
                          <a:rPr lang="fr-FR" sz="2400" i="1">
                            <a:latin typeface="Cambria Math" panose="02040503050406030204" pitchFamily="18" charset="0"/>
                          </a:rPr>
                          <m:t>𝑥</m:t>
                        </m:r>
                      </m:e>
                    </m:d>
                  </m:oMath>
                </a14:m>
                <a:r>
                  <a:rPr lang="fr-FR" sz="2400" dirty="0"/>
                  <a:t> et donc les ratios </a:t>
                </a:r>
                <a14:m>
                  <m:oMath xmlns:m="http://schemas.openxmlformats.org/officeDocument/2006/math">
                    <m:f>
                      <m:fPr>
                        <m:ctrlPr>
                          <a:rPr lang="fr-FR" sz="2400" i="1">
                            <a:latin typeface="Cambria Math" panose="02040503050406030204" pitchFamily="18" charset="0"/>
                          </a:rPr>
                        </m:ctrlPr>
                      </m:fPr>
                      <m:num>
                        <m:r>
                          <a:rPr lang="fr-FR" sz="2400" i="1">
                            <a:latin typeface="Cambria Math" panose="02040503050406030204" pitchFamily="18" charset="0"/>
                          </a:rPr>
                          <m:t>𝑈</m:t>
                        </m:r>
                        <m:d>
                          <m:dPr>
                            <m:ctrlPr>
                              <a:rPr lang="fr-FR" sz="2400" i="1">
                                <a:latin typeface="Cambria Math" panose="02040503050406030204" pitchFamily="18" charset="0"/>
                              </a:rPr>
                            </m:ctrlPr>
                          </m:dPr>
                          <m:e>
                            <m:r>
                              <a:rPr lang="fr-FR" sz="2400" i="1">
                                <a:latin typeface="Cambria Math" panose="02040503050406030204" pitchFamily="18" charset="0"/>
                              </a:rPr>
                              <m:t>𝑥</m:t>
                            </m:r>
                          </m:e>
                        </m:d>
                      </m:num>
                      <m:den>
                        <m:r>
                          <a:rPr lang="fr-FR" sz="2400" i="1">
                            <a:latin typeface="Cambria Math" panose="02040503050406030204" pitchFamily="18" charset="0"/>
                          </a:rPr>
                          <m:t>𝑁</m:t>
                        </m:r>
                        <m:d>
                          <m:dPr>
                            <m:ctrlPr>
                              <a:rPr lang="fr-FR" sz="2400" i="1">
                                <a:latin typeface="Cambria Math" panose="02040503050406030204" pitchFamily="18" charset="0"/>
                              </a:rPr>
                            </m:ctrlPr>
                          </m:dPr>
                          <m:e>
                            <m:r>
                              <a:rPr lang="fr-FR" sz="2400" i="1">
                                <a:latin typeface="Cambria Math" panose="02040503050406030204" pitchFamily="18" charset="0"/>
                              </a:rPr>
                              <m:t>𝑥</m:t>
                            </m:r>
                          </m:e>
                        </m:d>
                      </m:den>
                    </m:f>
                  </m:oMath>
                </a14:m>
                <a:r>
                  <a:rPr lang="fr-FR" sz="2400" dirty="0"/>
                  <a:t> sont calculés du point de vue du joueur correspondant au sommet courant, c’est pourquoi ils « s’inversent » d’un niveau de profondeur à un autre.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Cela va permettre que chaque joueur, l’IA et son adversaire, optimise ses chances lors de l’étape de sélection.</a:t>
                </a:r>
              </a:p>
            </p:txBody>
          </p:sp>
        </mc:Choice>
        <mc:Fallback xmlns="">
          <p:sp>
            <p:nvSpPr>
              <p:cNvPr id="3" name="ZoneTexte 2">
                <a:extLst>
                  <a:ext uri="{FF2B5EF4-FFF2-40B4-BE49-F238E27FC236}">
                    <a16:creationId xmlns:a16="http://schemas.microsoft.com/office/drawing/2014/main" id="{2B9742CD-8F44-FD05-2699-B1CD9AB49563}"/>
                  </a:ext>
                </a:extLst>
              </p:cNvPr>
              <p:cNvSpPr txBox="1">
                <a:spLocks noRot="1" noChangeAspect="1" noMove="1" noResize="1" noEditPoints="1" noAdjustHandles="1" noChangeArrowheads="1" noChangeShapeType="1" noTextEdit="1"/>
              </p:cNvSpPr>
              <p:nvPr/>
            </p:nvSpPr>
            <p:spPr>
              <a:xfrm>
                <a:off x="844826" y="1431230"/>
                <a:ext cx="10525539" cy="3635354"/>
              </a:xfrm>
              <a:prstGeom prst="rect">
                <a:avLst/>
              </a:prstGeom>
              <a:blipFill>
                <a:blip r:embed="rId3"/>
                <a:stretch>
                  <a:fillRect l="-843" t="-1394" r="-482" b="-3136"/>
                </a:stretch>
              </a:blipFill>
            </p:spPr>
            <p:txBody>
              <a:bodyPr/>
              <a:lstStyle/>
              <a:p>
                <a:r>
                  <a:rPr lang="fr-FR">
                    <a:noFill/>
                  </a:rPr>
                  <a:t> </a:t>
                </a:r>
              </a:p>
            </p:txBody>
          </p:sp>
        </mc:Fallback>
      </mc:AlternateContent>
      <p:pic>
        <p:nvPicPr>
          <p:cNvPr id="5" name="Graphique 4" descr="Filtrer avec un remplissage uni">
            <a:extLst>
              <a:ext uri="{FF2B5EF4-FFF2-40B4-BE49-F238E27FC236}">
                <a16:creationId xmlns:a16="http://schemas.microsoft.com/office/drawing/2014/main" id="{74901E31-4F5D-5C8A-F8C3-F5B034A8B0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02024847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FEC2C-376A-1088-AB69-B44F30E28A8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2233EC-5D17-D6A1-57C9-68534D77046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85B07DA-A400-7B44-6C4C-36B292E305CE}"/>
                  </a:ext>
                </a:extLst>
              </p:cNvPr>
              <p:cNvSpPr txBox="1"/>
              <p:nvPr/>
            </p:nvSpPr>
            <p:spPr>
              <a:xfrm>
                <a:off x="844826" y="1431230"/>
                <a:ext cx="10525539" cy="4876848"/>
              </a:xfrm>
              <a:prstGeom prst="rect">
                <a:avLst/>
              </a:prstGeom>
              <a:noFill/>
            </p:spPr>
            <p:txBody>
              <a:bodyPr wrap="square" rtlCol="0">
                <a:spAutoFit/>
              </a:bodyPr>
              <a:lstStyle/>
              <a:p>
                <a:r>
                  <a:rPr lang="fr-FR" sz="2400" b="1" dirty="0"/>
                  <a:t>Politique de sélection : UCT</a:t>
                </a:r>
              </a:p>
              <a:p>
                <a:endParaRPr lang="fr-FR" sz="2400" dirty="0"/>
              </a:p>
              <a:p>
                <a:pPr marL="342900" indent="-342900">
                  <a:buFont typeface="Arial" panose="020B0604020202020204" pitchFamily="34" charset="0"/>
                  <a:buChar char="•"/>
                </a:pPr>
                <a:r>
                  <a:rPr lang="fr-FR" sz="2400" dirty="0"/>
                  <a:t>Cet acronyme signifie </a:t>
                </a:r>
                <a:r>
                  <a:rPr lang="fr-FR" sz="2400" b="1" dirty="0"/>
                  <a:t>U</a:t>
                </a:r>
                <a:r>
                  <a:rPr lang="fr-FR" sz="2400" dirty="0"/>
                  <a:t>pper </a:t>
                </a:r>
                <a:r>
                  <a:rPr lang="fr-FR" sz="2400" b="1" dirty="0"/>
                  <a:t>C</a:t>
                </a:r>
                <a:r>
                  <a:rPr lang="fr-FR" sz="2400" dirty="0"/>
                  <a:t>onfidence bounds applied to </a:t>
                </a:r>
                <a:r>
                  <a:rPr lang="fr-FR" sz="2400" b="1" dirty="0"/>
                  <a:t>T</a:t>
                </a:r>
                <a:r>
                  <a:rPr lang="fr-FR" sz="2400" dirty="0"/>
                  <a:t>rees. Il s’agit de la politique de sélection la plus utilisée.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Elle utilise la formule </a:t>
                </a:r>
                <a:r>
                  <a:rPr lang="fr-FR" sz="2400" b="1" dirty="0"/>
                  <a:t>UCB1</a:t>
                </a:r>
                <a:r>
                  <a:rPr lang="fr-FR" sz="2400" dirty="0"/>
                  <a:t>, </a:t>
                </a:r>
                <a:r>
                  <a:rPr lang="fr-FR" sz="2400" b="1" dirty="0"/>
                  <a:t>U</a:t>
                </a:r>
                <a:r>
                  <a:rPr lang="fr-FR" sz="2400" dirty="0"/>
                  <a:t>pper </a:t>
                </a:r>
                <a:r>
                  <a:rPr lang="fr-FR" sz="2400" b="1" dirty="0"/>
                  <a:t>C</a:t>
                </a:r>
                <a:r>
                  <a:rPr lang="fr-FR" sz="2400" dirty="0"/>
                  <a:t>onfidence </a:t>
                </a:r>
                <a:r>
                  <a:rPr lang="fr-FR" sz="2400" b="1" dirty="0"/>
                  <a:t>B</a:t>
                </a:r>
                <a:r>
                  <a:rPr lang="fr-FR" sz="2400" dirty="0"/>
                  <a:t>ounds </a:t>
                </a:r>
                <a:r>
                  <a:rPr lang="fr-FR" sz="2400" b="1" dirty="0"/>
                  <a:t>1</a:t>
                </a:r>
                <a:r>
                  <a:rPr lang="fr-FR" sz="2400" dirty="0"/>
                  <a:t>, définie pour tout sommet </a:t>
                </a:r>
                <a14:m>
                  <m:oMath xmlns:m="http://schemas.openxmlformats.org/officeDocument/2006/math">
                    <m:r>
                      <a:rPr lang="fr-FR" sz="2400" b="0" i="1" smtClean="0">
                        <a:latin typeface="Cambria Math" panose="02040503050406030204" pitchFamily="18" charset="0"/>
                      </a:rPr>
                      <m:t>𝑥</m:t>
                    </m:r>
                  </m:oMath>
                </a14:m>
                <a:r>
                  <a:rPr lang="fr-FR" sz="2400" dirty="0"/>
                  <a:t> par</a:t>
                </a:r>
              </a:p>
              <a:p>
                <a:pPr marL="342900" indent="-342900">
                  <a:buFont typeface="Arial" panose="020B0604020202020204" pitchFamily="34" charset="0"/>
                  <a:buChar char="•"/>
                </a:pPr>
                <a:endParaRPr lang="fr-FR" sz="2400" dirty="0"/>
              </a:p>
              <a:p>
                <a:pPr/>
                <a14:m>
                  <m:oMathPara xmlns:m="http://schemas.openxmlformats.org/officeDocument/2006/math">
                    <m:oMathParaPr>
                      <m:jc m:val="centerGroup"/>
                    </m:oMathParaPr>
                    <m:oMath xmlns:m="http://schemas.openxmlformats.org/officeDocument/2006/math">
                      <m:r>
                        <a:rPr lang="fr-FR" sz="2400" b="0" i="1" smtClean="0">
                          <a:latin typeface="Cambria Math" panose="02040503050406030204" pitchFamily="18" charset="0"/>
                        </a:rPr>
                        <m:t>𝑈𝐶𝐵</m:t>
                      </m:r>
                      <m:r>
                        <a:rPr lang="fr-FR" sz="2400" b="0" i="1" smtClean="0">
                          <a:latin typeface="Cambria Math" panose="02040503050406030204" pitchFamily="18" charset="0"/>
                        </a:rPr>
                        <m:t>1</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r>
                        <a:rPr lang="fr-FR" sz="2400" b="0" i="1" smtClean="0">
                          <a:latin typeface="Cambria Math" panose="02040503050406030204" pitchFamily="18" charset="0"/>
                        </a:rPr>
                        <m:t>=</m:t>
                      </m:r>
                      <m:f>
                        <m:fPr>
                          <m:ctrlPr>
                            <a:rPr lang="fr-FR" sz="2400" b="0" i="1" smtClean="0">
                              <a:latin typeface="Cambria Math" panose="02040503050406030204" pitchFamily="18" charset="0"/>
                            </a:rPr>
                          </m:ctrlPr>
                        </m:fPr>
                        <m:num>
                          <m:r>
                            <a:rPr lang="fr-FR" sz="2400" b="0" i="1" smtClean="0">
                              <a:latin typeface="Cambria Math" panose="02040503050406030204" pitchFamily="18" charset="0"/>
                            </a:rPr>
                            <m:t>𝑈</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num>
                        <m:den>
                          <m:r>
                            <a:rPr lang="fr-FR" sz="2400" b="0" i="1" smtClean="0">
                              <a:latin typeface="Cambria Math" panose="02040503050406030204" pitchFamily="18" charset="0"/>
                            </a:rPr>
                            <m:t>𝑁</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den>
                      </m:f>
                      <m:r>
                        <a:rPr lang="fr-FR" sz="2400" b="0" i="1" smtClean="0">
                          <a:latin typeface="Cambria Math" panose="02040503050406030204" pitchFamily="18" charset="0"/>
                        </a:rPr>
                        <m:t>+</m:t>
                      </m:r>
                      <m:r>
                        <a:rPr lang="fr-FR" sz="2400" b="0" i="1" smtClean="0">
                          <a:latin typeface="Cambria Math" panose="02040503050406030204" pitchFamily="18" charset="0"/>
                        </a:rPr>
                        <m:t>𝐶</m:t>
                      </m:r>
                      <m:r>
                        <a:rPr lang="fr-FR" sz="2400" b="0" i="1" smtClean="0">
                          <a:latin typeface="Cambria Math" panose="02040503050406030204" pitchFamily="18" charset="0"/>
                        </a:rPr>
                        <m:t>×</m:t>
                      </m:r>
                      <m:rad>
                        <m:radPr>
                          <m:degHide m:val="on"/>
                          <m:ctrlPr>
                            <a:rPr lang="fr-FR" sz="2400" b="0" i="1" smtClean="0">
                              <a:latin typeface="Cambria Math" panose="02040503050406030204" pitchFamily="18" charset="0"/>
                            </a:rPr>
                          </m:ctrlPr>
                        </m:radPr>
                        <m:deg/>
                        <m:e>
                          <m:f>
                            <m:fPr>
                              <m:ctrlPr>
                                <a:rPr lang="fr-FR" sz="2400" b="0" i="1" smtClean="0">
                                  <a:latin typeface="Cambria Math" panose="02040503050406030204" pitchFamily="18" charset="0"/>
                                </a:rPr>
                              </m:ctrlPr>
                            </m:fPr>
                            <m:num>
                              <m:func>
                                <m:funcPr>
                                  <m:ctrlPr>
                                    <a:rPr lang="fr-FR" sz="2400" b="0" i="1" smtClean="0">
                                      <a:latin typeface="Cambria Math" panose="02040503050406030204" pitchFamily="18" charset="0"/>
                                    </a:rPr>
                                  </m:ctrlPr>
                                </m:funcPr>
                                <m:fName>
                                  <m:r>
                                    <m:rPr>
                                      <m:sty m:val="p"/>
                                    </m:rPr>
                                    <a:rPr lang="fr-FR" sz="2400" b="0" i="0" smtClean="0">
                                      <a:latin typeface="Cambria Math" panose="02040503050406030204" pitchFamily="18" charset="0"/>
                                    </a:rPr>
                                    <m:t>log</m:t>
                                  </m:r>
                                </m:fName>
                                <m:e>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𝑁</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𝑃𝑎𝑟𝑒𝑛𝑡</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e>
                                      </m:d>
                                    </m:e>
                                  </m:d>
                                </m:e>
                              </m:func>
                            </m:num>
                            <m:den>
                              <m:r>
                                <a:rPr lang="fr-FR" sz="2400" b="0" i="1" smtClean="0">
                                  <a:latin typeface="Cambria Math" panose="02040503050406030204" pitchFamily="18" charset="0"/>
                                </a:rPr>
                                <m:t>𝑁</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den>
                          </m:f>
                        </m:e>
                      </m:rad>
                    </m:oMath>
                  </m:oMathPara>
                </a14:m>
                <a:endParaRPr lang="fr-FR" sz="2400" dirty="0"/>
              </a:p>
              <a:p>
                <a:endParaRPr lang="fr-FR" sz="2400" dirty="0"/>
              </a:p>
              <a:p>
                <a:pPr lvl="1"/>
                <a:r>
                  <a:rPr lang="fr-FR" sz="2400" dirty="0"/>
                  <a:t>où </a:t>
                </a:r>
                <a14:m>
                  <m:oMath xmlns:m="http://schemas.openxmlformats.org/officeDocument/2006/math">
                    <m:r>
                      <a:rPr lang="fr-FR" sz="2400" b="0" i="1" smtClean="0">
                        <a:latin typeface="Cambria Math" panose="02040503050406030204" pitchFamily="18" charset="0"/>
                      </a:rPr>
                      <m:t>𝐶</m:t>
                    </m:r>
                  </m:oMath>
                </a14:m>
                <a:r>
                  <a:rPr lang="fr-FR" sz="2400" dirty="0"/>
                  <a:t> est une constante strictement positive.</a:t>
                </a:r>
              </a:p>
            </p:txBody>
          </p:sp>
        </mc:Choice>
        <mc:Fallback xmlns="">
          <p:sp>
            <p:nvSpPr>
              <p:cNvPr id="3" name="ZoneTexte 2">
                <a:extLst>
                  <a:ext uri="{FF2B5EF4-FFF2-40B4-BE49-F238E27FC236}">
                    <a16:creationId xmlns:a16="http://schemas.microsoft.com/office/drawing/2014/main" id="{D85B07DA-A400-7B44-6C4C-36B292E305CE}"/>
                  </a:ext>
                </a:extLst>
              </p:cNvPr>
              <p:cNvSpPr txBox="1">
                <a:spLocks noRot="1" noChangeAspect="1" noMove="1" noResize="1" noEditPoints="1" noAdjustHandles="1" noChangeArrowheads="1" noChangeShapeType="1" noTextEdit="1"/>
              </p:cNvSpPr>
              <p:nvPr/>
            </p:nvSpPr>
            <p:spPr>
              <a:xfrm>
                <a:off x="844826" y="1431230"/>
                <a:ext cx="10525539" cy="4876848"/>
              </a:xfrm>
              <a:prstGeom prst="rect">
                <a:avLst/>
              </a:prstGeom>
              <a:blipFill>
                <a:blip r:embed="rId3"/>
                <a:stretch>
                  <a:fillRect l="-843" t="-1039" b="-2078"/>
                </a:stretch>
              </a:blipFill>
            </p:spPr>
            <p:txBody>
              <a:bodyPr/>
              <a:lstStyle/>
              <a:p>
                <a:r>
                  <a:rPr lang="fr-FR">
                    <a:noFill/>
                  </a:rPr>
                  <a:t> </a:t>
                </a:r>
              </a:p>
            </p:txBody>
          </p:sp>
        </mc:Fallback>
      </mc:AlternateContent>
    </p:spTree>
    <p:extLst>
      <p:ext uri="{BB962C8B-B14F-4D97-AF65-F5344CB8AC3E}">
        <p14:creationId xmlns:p14="http://schemas.microsoft.com/office/powerpoint/2010/main" val="137637879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D7632-FC45-D4F2-19C8-E752BEFEB3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0E3A2C-22EE-305E-5FE7-20976686B570}"/>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741A7DFE-2395-E342-5C7B-3551AB7B0CC4}"/>
                  </a:ext>
                </a:extLst>
              </p:cNvPr>
              <p:cNvSpPr txBox="1"/>
              <p:nvPr/>
            </p:nvSpPr>
            <p:spPr>
              <a:xfrm>
                <a:off x="844826" y="1431230"/>
                <a:ext cx="10525539" cy="4524315"/>
              </a:xfrm>
              <a:prstGeom prst="rect">
                <a:avLst/>
              </a:prstGeom>
              <a:noFill/>
            </p:spPr>
            <p:txBody>
              <a:bodyPr wrap="square" rtlCol="0">
                <a:spAutoFit/>
              </a:bodyPr>
              <a:lstStyle/>
              <a:p>
                <a:r>
                  <a:rPr lang="fr-FR" sz="2400" b="1" dirty="0"/>
                  <a:t>Politique de sélection : UCT (suite)</a:t>
                </a:r>
              </a:p>
              <a:p>
                <a:endParaRPr lang="fr-FR" sz="2400" dirty="0"/>
              </a:p>
              <a:p>
                <a:pPr marL="342900" indent="-342900">
                  <a:buFont typeface="Arial" panose="020B0604020202020204" pitchFamily="34" charset="0"/>
                  <a:buChar char="•"/>
                </a:pPr>
                <a:r>
                  <a:rPr lang="fr-FR" sz="2400" dirty="0"/>
                  <a:t>Partant de la racine, </a:t>
                </a:r>
                <a:r>
                  <a:rPr lang="fr-FR" sz="2400" i="1" dirty="0"/>
                  <a:t>i.e.</a:t>
                </a:r>
                <a:r>
                  <a:rPr lang="fr-FR" sz="2400" dirty="0"/>
                  <a:t> de la position pour laquelle on veut déterminer le prochain coup, on va parcourir l’arbre en suivant cette règle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Si un sommet est complètement déployé, on sélectionne son enfant ayant la plus forte valeur de </a:t>
                </a:r>
                <a14:m>
                  <m:oMath xmlns:m="http://schemas.openxmlformats.org/officeDocument/2006/math">
                    <m:r>
                      <a:rPr lang="fr-FR" sz="2400" b="0" i="1" smtClean="0">
                        <a:latin typeface="Cambria Math" panose="02040503050406030204" pitchFamily="18" charset="0"/>
                      </a:rPr>
                      <m:t>𝑈𝐶𝐵</m:t>
                    </m:r>
                    <m:r>
                      <a:rPr lang="fr-FR" sz="2400" b="0" i="1" smtClean="0">
                        <a:latin typeface="Cambria Math" panose="02040503050406030204" pitchFamily="18" charset="0"/>
                      </a:rPr>
                      <m:t>1</m:t>
                    </m:r>
                  </m:oMath>
                </a14:m>
                <a:r>
                  <a:rPr lang="fr-FR" sz="2400" dirty="0"/>
                  <a:t> (en cas d’égalité on tire un sommet au hasard parmi ceux ayant la valeur maximale). Cet enfant devient le nouveau sommet courant et l’on poursuit le parcours.</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Sinon, on choisit aléatoirement un de ses enfants non traités, on l’ajoute à l’arbre et on arrête le parcours.</a:t>
                </a:r>
              </a:p>
            </p:txBody>
          </p:sp>
        </mc:Choice>
        <mc:Fallback xmlns="">
          <p:sp>
            <p:nvSpPr>
              <p:cNvPr id="3" name="ZoneTexte 2">
                <a:extLst>
                  <a:ext uri="{FF2B5EF4-FFF2-40B4-BE49-F238E27FC236}">
                    <a16:creationId xmlns:a16="http://schemas.microsoft.com/office/drawing/2014/main" id="{741A7DFE-2395-E342-5C7B-3551AB7B0CC4}"/>
                  </a:ext>
                </a:extLst>
              </p:cNvPr>
              <p:cNvSpPr txBox="1">
                <a:spLocks noRot="1" noChangeAspect="1" noMove="1" noResize="1" noEditPoints="1" noAdjustHandles="1" noChangeArrowheads="1" noChangeShapeType="1" noTextEdit="1"/>
              </p:cNvSpPr>
              <p:nvPr/>
            </p:nvSpPr>
            <p:spPr>
              <a:xfrm>
                <a:off x="844826" y="1431230"/>
                <a:ext cx="10525539" cy="4524315"/>
              </a:xfrm>
              <a:prstGeom prst="rect">
                <a:avLst/>
              </a:prstGeom>
              <a:blipFill>
                <a:blip r:embed="rId3"/>
                <a:stretch>
                  <a:fillRect l="-843" t="-1120" r="-482" b="-2241"/>
                </a:stretch>
              </a:blipFill>
            </p:spPr>
            <p:txBody>
              <a:bodyPr/>
              <a:lstStyle/>
              <a:p>
                <a:r>
                  <a:rPr lang="fr-FR">
                    <a:noFill/>
                  </a:rPr>
                  <a:t> </a:t>
                </a:r>
              </a:p>
            </p:txBody>
          </p:sp>
        </mc:Fallback>
      </mc:AlternateContent>
    </p:spTree>
    <p:extLst>
      <p:ext uri="{BB962C8B-B14F-4D97-AF65-F5344CB8AC3E}">
        <p14:creationId xmlns:p14="http://schemas.microsoft.com/office/powerpoint/2010/main" val="349994282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E3E17-D86D-B98D-A42B-2A49E053B35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9EFC363-601E-BFEA-B182-7CD5407FF971}"/>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76B0874A-B1AE-8D3A-7E13-70471B675ED2}"/>
                  </a:ext>
                </a:extLst>
              </p:cNvPr>
              <p:cNvSpPr txBox="1"/>
              <p:nvPr/>
            </p:nvSpPr>
            <p:spPr>
              <a:xfrm>
                <a:off x="844826" y="1431230"/>
                <a:ext cx="10525539" cy="4357218"/>
              </a:xfrm>
              <a:prstGeom prst="rect">
                <a:avLst/>
              </a:prstGeom>
              <a:noFill/>
            </p:spPr>
            <p:txBody>
              <a:bodyPr wrap="square" rtlCol="0">
                <a:spAutoFit/>
              </a:bodyPr>
              <a:lstStyle/>
              <a:p>
                <a:r>
                  <a:rPr lang="fr-FR" sz="2400" b="1" dirty="0"/>
                  <a:t>Politique de sélection : UCT (suite)</a:t>
                </a:r>
              </a:p>
              <a:p>
                <a:endParaRPr lang="fr-FR" sz="2400" dirty="0"/>
              </a:p>
              <a:p>
                <a:pPr marL="342900" indent="-342900">
                  <a:buFont typeface="Arial" panose="020B0604020202020204" pitchFamily="34" charset="0"/>
                  <a:buChar char="•"/>
                </a:pPr>
                <a:r>
                  <a:rPr lang="fr-FR" sz="2400" dirty="0"/>
                  <a:t>La fraction </a:t>
                </a:r>
                <a14:m>
                  <m:oMath xmlns:m="http://schemas.openxmlformats.org/officeDocument/2006/math">
                    <m:f>
                      <m:fPr>
                        <m:ctrlPr>
                          <a:rPr lang="fr-FR" sz="2400" i="1">
                            <a:latin typeface="Cambria Math" panose="02040503050406030204" pitchFamily="18" charset="0"/>
                          </a:rPr>
                        </m:ctrlPr>
                      </m:fPr>
                      <m:num>
                        <m:r>
                          <a:rPr lang="fr-FR" sz="2400" i="1">
                            <a:latin typeface="Cambria Math" panose="02040503050406030204" pitchFamily="18" charset="0"/>
                          </a:rPr>
                          <m:t>𝑈</m:t>
                        </m:r>
                        <m:d>
                          <m:dPr>
                            <m:ctrlPr>
                              <a:rPr lang="fr-FR" sz="2400" i="1">
                                <a:latin typeface="Cambria Math" panose="02040503050406030204" pitchFamily="18" charset="0"/>
                              </a:rPr>
                            </m:ctrlPr>
                          </m:dPr>
                          <m:e>
                            <m:r>
                              <a:rPr lang="fr-FR" sz="2400" i="1">
                                <a:latin typeface="Cambria Math" panose="02040503050406030204" pitchFamily="18" charset="0"/>
                              </a:rPr>
                              <m:t>𝑥</m:t>
                            </m:r>
                          </m:e>
                        </m:d>
                      </m:num>
                      <m:den>
                        <m:r>
                          <a:rPr lang="fr-FR" sz="2400" i="1">
                            <a:latin typeface="Cambria Math" panose="02040503050406030204" pitchFamily="18" charset="0"/>
                          </a:rPr>
                          <m:t>𝑁</m:t>
                        </m:r>
                        <m:d>
                          <m:dPr>
                            <m:ctrlPr>
                              <a:rPr lang="fr-FR" sz="2400" i="1">
                                <a:latin typeface="Cambria Math" panose="02040503050406030204" pitchFamily="18" charset="0"/>
                              </a:rPr>
                            </m:ctrlPr>
                          </m:dPr>
                          <m:e>
                            <m:r>
                              <a:rPr lang="fr-FR" sz="2400" i="1">
                                <a:latin typeface="Cambria Math" panose="02040503050406030204" pitchFamily="18" charset="0"/>
                              </a:rPr>
                              <m:t>𝑥</m:t>
                            </m:r>
                          </m:e>
                        </m:d>
                      </m:den>
                    </m:f>
                  </m:oMath>
                </a14:m>
                <a:r>
                  <a:rPr lang="fr-FR" sz="2400" dirty="0"/>
                  <a:t> est une évaluation de la qualité du sommet </a:t>
                </a:r>
                <a14:m>
                  <m:oMath xmlns:m="http://schemas.openxmlformats.org/officeDocument/2006/math">
                    <m:r>
                      <a:rPr lang="fr-FR" sz="2400" b="0" i="1" smtClean="0">
                        <a:latin typeface="Cambria Math" panose="02040503050406030204" pitchFamily="18" charset="0"/>
                      </a:rPr>
                      <m:t>𝑥</m:t>
                    </m:r>
                  </m:oMath>
                </a14:m>
                <a:r>
                  <a:rPr lang="fr-FR" sz="2400" dirty="0"/>
                  <a:t> puisqu’elle représente le pourcentage de victoires lors des simulations faisant suite aux visites de </a:t>
                </a:r>
                <a14:m>
                  <m:oMath xmlns:m="http://schemas.openxmlformats.org/officeDocument/2006/math">
                    <m:r>
                      <a:rPr lang="fr-FR" sz="2400" b="0" i="1" smtClean="0">
                        <a:latin typeface="Cambria Math" panose="02040503050406030204" pitchFamily="18" charset="0"/>
                      </a:rPr>
                      <m:t>𝑥</m:t>
                    </m:r>
                  </m:oMath>
                </a14:m>
                <a:r>
                  <a:rPr lang="fr-FR" sz="2400" dirty="0"/>
                  <a:t>. Il s’agit donc d’un terme d’</a:t>
                </a:r>
                <a:r>
                  <a:rPr lang="fr-FR" sz="2400" b="1" dirty="0"/>
                  <a:t>exploitation</a:t>
                </a:r>
                <a:r>
                  <a:rPr lang="fr-FR" sz="2400" dirty="0"/>
                  <a: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L’expression</a:t>
                </a:r>
                <a14:m>
                  <m:oMath xmlns:m="http://schemas.openxmlformats.org/officeDocument/2006/math">
                    <m:rad>
                      <m:radPr>
                        <m:degHide m:val="on"/>
                        <m:ctrlPr>
                          <a:rPr lang="fr-FR" sz="2400" i="1">
                            <a:latin typeface="Cambria Math" panose="02040503050406030204" pitchFamily="18" charset="0"/>
                          </a:rPr>
                        </m:ctrlPr>
                      </m:radPr>
                      <m:deg/>
                      <m:e>
                        <m:f>
                          <m:fPr>
                            <m:ctrlPr>
                              <a:rPr lang="fr-FR" sz="2400" i="1">
                                <a:latin typeface="Cambria Math" panose="02040503050406030204" pitchFamily="18" charset="0"/>
                              </a:rPr>
                            </m:ctrlPr>
                          </m:fPr>
                          <m:num>
                            <m:func>
                              <m:funcPr>
                                <m:ctrlPr>
                                  <a:rPr lang="fr-FR" sz="2400" i="1">
                                    <a:latin typeface="Cambria Math" panose="02040503050406030204" pitchFamily="18" charset="0"/>
                                  </a:rPr>
                                </m:ctrlPr>
                              </m:funcPr>
                              <m:fName>
                                <m:r>
                                  <m:rPr>
                                    <m:sty m:val="p"/>
                                  </m:rPr>
                                  <a:rPr lang="fr-FR" sz="2400">
                                    <a:latin typeface="Cambria Math" panose="02040503050406030204" pitchFamily="18" charset="0"/>
                                  </a:rPr>
                                  <m:t>log</m:t>
                                </m:r>
                              </m:fName>
                              <m:e>
                                <m:d>
                                  <m:dPr>
                                    <m:ctrlPr>
                                      <a:rPr lang="fr-FR" sz="2400" i="1">
                                        <a:latin typeface="Cambria Math" panose="02040503050406030204" pitchFamily="18" charset="0"/>
                                      </a:rPr>
                                    </m:ctrlPr>
                                  </m:dPr>
                                  <m:e>
                                    <m:r>
                                      <a:rPr lang="fr-FR" sz="2400" i="1">
                                        <a:latin typeface="Cambria Math" panose="02040503050406030204" pitchFamily="18" charset="0"/>
                                      </a:rPr>
                                      <m:t>𝑁</m:t>
                                    </m:r>
                                    <m:d>
                                      <m:dPr>
                                        <m:ctrlPr>
                                          <a:rPr lang="fr-FR" sz="2400" i="1">
                                            <a:latin typeface="Cambria Math" panose="02040503050406030204" pitchFamily="18" charset="0"/>
                                          </a:rPr>
                                        </m:ctrlPr>
                                      </m:dPr>
                                      <m:e>
                                        <m:r>
                                          <a:rPr lang="fr-FR" sz="2400" i="1">
                                            <a:latin typeface="Cambria Math" panose="02040503050406030204" pitchFamily="18" charset="0"/>
                                          </a:rPr>
                                          <m:t>𝑃𝑎𝑟𝑒𝑛𝑡</m:t>
                                        </m:r>
                                        <m:d>
                                          <m:dPr>
                                            <m:ctrlPr>
                                              <a:rPr lang="fr-FR" sz="2400" i="1">
                                                <a:latin typeface="Cambria Math" panose="02040503050406030204" pitchFamily="18" charset="0"/>
                                              </a:rPr>
                                            </m:ctrlPr>
                                          </m:dPr>
                                          <m:e>
                                            <m:r>
                                              <a:rPr lang="fr-FR" sz="2400" i="1">
                                                <a:latin typeface="Cambria Math" panose="02040503050406030204" pitchFamily="18" charset="0"/>
                                              </a:rPr>
                                              <m:t>𝑥</m:t>
                                            </m:r>
                                          </m:e>
                                        </m:d>
                                      </m:e>
                                    </m:d>
                                  </m:e>
                                </m:d>
                              </m:e>
                            </m:func>
                          </m:num>
                          <m:den>
                            <m:r>
                              <a:rPr lang="fr-FR" sz="2400" i="1">
                                <a:latin typeface="Cambria Math" panose="02040503050406030204" pitchFamily="18" charset="0"/>
                              </a:rPr>
                              <m:t>𝑁</m:t>
                            </m:r>
                            <m:d>
                              <m:dPr>
                                <m:ctrlPr>
                                  <a:rPr lang="fr-FR" sz="2400" i="1">
                                    <a:latin typeface="Cambria Math" panose="02040503050406030204" pitchFamily="18" charset="0"/>
                                  </a:rPr>
                                </m:ctrlPr>
                              </m:dPr>
                              <m:e>
                                <m:r>
                                  <a:rPr lang="fr-FR" sz="2400" i="1">
                                    <a:latin typeface="Cambria Math" panose="02040503050406030204" pitchFamily="18" charset="0"/>
                                  </a:rPr>
                                  <m:t>𝑥</m:t>
                                </m:r>
                              </m:e>
                            </m:d>
                          </m:den>
                        </m:f>
                      </m:e>
                    </m:rad>
                  </m:oMath>
                </a14:m>
                <a:r>
                  <a:rPr lang="fr-FR" sz="2400" dirty="0"/>
                  <a:t> sera grande si </a:t>
                </a:r>
                <a14:m>
                  <m:oMath xmlns:m="http://schemas.openxmlformats.org/officeDocument/2006/math">
                    <m:r>
                      <a:rPr lang="fr-FR" sz="2400" b="0" i="1" smtClean="0">
                        <a:latin typeface="Cambria Math" panose="02040503050406030204" pitchFamily="18" charset="0"/>
                      </a:rPr>
                      <m:t>𝑁</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oMath>
                </a14:m>
                <a:r>
                  <a:rPr lang="fr-FR" sz="2400" dirty="0"/>
                  <a:t> est petit, </a:t>
                </a:r>
                <a:r>
                  <a:rPr lang="fr-FR" sz="2400" i="1" dirty="0"/>
                  <a:t>i.e.</a:t>
                </a:r>
                <a:r>
                  <a:rPr lang="fr-FR" sz="2400" dirty="0"/>
                  <a:t> si le sommet </a:t>
                </a:r>
                <a14:m>
                  <m:oMath xmlns:m="http://schemas.openxmlformats.org/officeDocument/2006/math">
                    <m:r>
                      <a:rPr lang="fr-FR" sz="2400" b="0" i="1" smtClean="0">
                        <a:latin typeface="Cambria Math" panose="02040503050406030204" pitchFamily="18" charset="0"/>
                      </a:rPr>
                      <m:t>𝑥</m:t>
                    </m:r>
                  </m:oMath>
                </a14:m>
                <a:r>
                  <a:rPr lang="fr-FR" sz="2400" dirty="0"/>
                  <a:t> a été peu visité. Il s’agit donc d’un terme d’</a:t>
                </a:r>
                <a:r>
                  <a:rPr lang="fr-FR" sz="2400" b="1" dirty="0"/>
                  <a:t>exploration</a:t>
                </a:r>
                <a:r>
                  <a:rPr lang="fr-FR" sz="2400" dirty="0"/>
                  <a:t>.</a:t>
                </a:r>
              </a:p>
            </p:txBody>
          </p:sp>
        </mc:Choice>
        <mc:Fallback xmlns="">
          <p:sp>
            <p:nvSpPr>
              <p:cNvPr id="3" name="ZoneTexte 2">
                <a:extLst>
                  <a:ext uri="{FF2B5EF4-FFF2-40B4-BE49-F238E27FC236}">
                    <a16:creationId xmlns:a16="http://schemas.microsoft.com/office/drawing/2014/main" id="{76B0874A-B1AE-8D3A-7E13-70471B675ED2}"/>
                  </a:ext>
                </a:extLst>
              </p:cNvPr>
              <p:cNvSpPr txBox="1">
                <a:spLocks noRot="1" noChangeAspect="1" noMove="1" noResize="1" noEditPoints="1" noAdjustHandles="1" noChangeArrowheads="1" noChangeShapeType="1" noTextEdit="1"/>
              </p:cNvSpPr>
              <p:nvPr/>
            </p:nvSpPr>
            <p:spPr>
              <a:xfrm>
                <a:off x="844826" y="1431230"/>
                <a:ext cx="10525539" cy="4357218"/>
              </a:xfrm>
              <a:prstGeom prst="rect">
                <a:avLst/>
              </a:prstGeom>
              <a:blipFill>
                <a:blip r:embed="rId2"/>
                <a:stretch>
                  <a:fillRect l="-843" t="-1159" r="-723" b="-2029"/>
                </a:stretch>
              </a:blipFill>
            </p:spPr>
            <p:txBody>
              <a:bodyPr/>
              <a:lstStyle/>
              <a:p>
                <a:r>
                  <a:rPr lang="fr-FR">
                    <a:noFill/>
                  </a:rPr>
                  <a:t> </a:t>
                </a:r>
              </a:p>
            </p:txBody>
          </p:sp>
        </mc:Fallback>
      </mc:AlternateContent>
    </p:spTree>
    <p:extLst>
      <p:ext uri="{BB962C8B-B14F-4D97-AF65-F5344CB8AC3E}">
        <p14:creationId xmlns:p14="http://schemas.microsoft.com/office/powerpoint/2010/main" val="234875609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CAE6B-3575-C2FC-40C5-E1736CE28CC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A76C3F2-1A82-DE08-0685-4639B6C854B9}"/>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5B730BF2-3884-1449-5339-AB9B50BBD7A2}"/>
                  </a:ext>
                </a:extLst>
              </p:cNvPr>
              <p:cNvSpPr txBox="1"/>
              <p:nvPr/>
            </p:nvSpPr>
            <p:spPr>
              <a:xfrm>
                <a:off x="844826" y="1431230"/>
                <a:ext cx="10525539" cy="4560287"/>
              </a:xfrm>
              <a:prstGeom prst="rect">
                <a:avLst/>
              </a:prstGeom>
              <a:noFill/>
            </p:spPr>
            <p:txBody>
              <a:bodyPr wrap="square" rtlCol="0">
                <a:spAutoFit/>
              </a:bodyPr>
              <a:lstStyle/>
              <a:p>
                <a:r>
                  <a:rPr lang="fr-FR" sz="2400" b="1" dirty="0"/>
                  <a:t>Politique de sélection : UCT (suite)</a:t>
                </a:r>
              </a:p>
              <a:p>
                <a:endParaRPr lang="fr-FR" sz="2400" dirty="0"/>
              </a:p>
              <a:p>
                <a:pPr marL="342900" indent="-342900">
                  <a:buFont typeface="Arial" panose="020B0604020202020204" pitchFamily="34" charset="0"/>
                  <a:buChar char="•"/>
                </a:pPr>
                <a:r>
                  <a:rPr lang="fr-FR" sz="2400" dirty="0"/>
                  <a:t>La constante </a:t>
                </a:r>
                <a14:m>
                  <m:oMath xmlns:m="http://schemas.openxmlformats.org/officeDocument/2006/math">
                    <m:r>
                      <a:rPr lang="fr-FR" sz="2400" b="0" i="1" smtClean="0">
                        <a:latin typeface="Cambria Math" panose="02040503050406030204" pitchFamily="18" charset="0"/>
                      </a:rPr>
                      <m:t>𝐶</m:t>
                    </m:r>
                  </m:oMath>
                </a14:m>
                <a:r>
                  <a:rPr lang="fr-FR" sz="2400" dirty="0"/>
                  <a:t> est un paramètre dit de </a:t>
                </a:r>
                <a:r>
                  <a:rPr lang="fr-FR" sz="2400" b="1" dirty="0"/>
                  <a:t>température</a:t>
                </a:r>
                <a:r>
                  <a:rPr lang="fr-FR" sz="2400" dirty="0"/>
                  <a:t>, son rôle va être de conjuguer </a:t>
                </a:r>
                <a:r>
                  <a:rPr lang="fr-FR" sz="2400" b="1" dirty="0"/>
                  <a:t>exploitation</a:t>
                </a:r>
                <a:r>
                  <a:rPr lang="fr-FR" sz="2400" dirty="0"/>
                  <a:t> et </a:t>
                </a:r>
                <a:r>
                  <a:rPr lang="fr-FR" sz="2400" b="1" dirty="0"/>
                  <a:t>exploration</a:t>
                </a:r>
                <a:r>
                  <a:rPr lang="fr-FR" sz="2400" dirty="0"/>
                  <a: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Empiriquement on constate que </a:t>
                </a:r>
                <a14:m>
                  <m:oMath xmlns:m="http://schemas.openxmlformats.org/officeDocument/2006/math">
                    <m:r>
                      <a:rPr lang="fr-FR" sz="2400" b="0" i="1" smtClean="0">
                        <a:latin typeface="Cambria Math" panose="02040503050406030204" pitchFamily="18" charset="0"/>
                      </a:rPr>
                      <m:t>𝐶</m:t>
                    </m:r>
                    <m:r>
                      <a:rPr lang="fr-FR" sz="2400" b="0" i="1" smtClean="0">
                        <a:latin typeface="Cambria Math" panose="02040503050406030204" pitchFamily="18" charset="0"/>
                      </a:rPr>
                      <m:t>=</m:t>
                    </m:r>
                    <m:rad>
                      <m:radPr>
                        <m:degHide m:val="on"/>
                        <m:ctrlPr>
                          <a:rPr lang="fr-FR" sz="2400" b="0" i="1" smtClean="0">
                            <a:latin typeface="Cambria Math" panose="02040503050406030204" pitchFamily="18" charset="0"/>
                          </a:rPr>
                        </m:ctrlPr>
                      </m:radPr>
                      <m:deg/>
                      <m:e>
                        <m:r>
                          <a:rPr lang="fr-FR" sz="2400" b="0" i="1" smtClean="0">
                            <a:latin typeface="Cambria Math" panose="02040503050406030204" pitchFamily="18" charset="0"/>
                          </a:rPr>
                          <m:t>2</m:t>
                        </m:r>
                      </m:e>
                    </m:rad>
                  </m:oMath>
                </a14:m>
                <a:r>
                  <a:rPr lang="fr-FR" sz="2400" dirty="0"/>
                  <a:t> est une “bonne“ valeur.</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Plus un sommet </a:t>
                </a:r>
                <a14:m>
                  <m:oMath xmlns:m="http://schemas.openxmlformats.org/officeDocument/2006/math">
                    <m:r>
                      <a:rPr lang="fr-FR" sz="2400" b="0" i="1" smtClean="0">
                        <a:latin typeface="Cambria Math" panose="02040503050406030204" pitchFamily="18" charset="0"/>
                      </a:rPr>
                      <m:t>𝑥</m:t>
                    </m:r>
                  </m:oMath>
                </a14:m>
                <a:r>
                  <a:rPr lang="fr-FR" sz="2400" dirty="0"/>
                  <a:t> sera visité, plus </a:t>
                </a:r>
                <a14:m>
                  <m:oMath xmlns:m="http://schemas.openxmlformats.org/officeDocument/2006/math">
                    <m:r>
                      <a:rPr lang="fr-FR" sz="2400" b="0" i="1" smtClean="0">
                        <a:latin typeface="Cambria Math" panose="02040503050406030204" pitchFamily="18" charset="0"/>
                      </a:rPr>
                      <m:t>𝑁</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oMath>
                </a14:m>
                <a:r>
                  <a:rPr lang="fr-FR" sz="2400" dirty="0"/>
                  <a:t> sera grand et donc plus le terme d’exploration sera petit.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Cela signifie qu’à terme un sommet ne sera sélectionné que s’il est de qualité, l’exploitation prenant ainsi le dessus.</a:t>
                </a:r>
              </a:p>
            </p:txBody>
          </p:sp>
        </mc:Choice>
        <mc:Fallback xmlns="">
          <p:sp>
            <p:nvSpPr>
              <p:cNvPr id="3" name="ZoneTexte 2">
                <a:extLst>
                  <a:ext uri="{FF2B5EF4-FFF2-40B4-BE49-F238E27FC236}">
                    <a16:creationId xmlns:a16="http://schemas.microsoft.com/office/drawing/2014/main" id="{5B730BF2-3884-1449-5339-AB9B50BBD7A2}"/>
                  </a:ext>
                </a:extLst>
              </p:cNvPr>
              <p:cNvSpPr txBox="1">
                <a:spLocks noRot="1" noChangeAspect="1" noMove="1" noResize="1" noEditPoints="1" noAdjustHandles="1" noChangeArrowheads="1" noChangeShapeType="1" noTextEdit="1"/>
              </p:cNvSpPr>
              <p:nvPr/>
            </p:nvSpPr>
            <p:spPr>
              <a:xfrm>
                <a:off x="844826" y="1431230"/>
                <a:ext cx="10525539" cy="4560287"/>
              </a:xfrm>
              <a:prstGeom prst="rect">
                <a:avLst/>
              </a:prstGeom>
              <a:blipFill>
                <a:blip r:embed="rId2"/>
                <a:stretch>
                  <a:fillRect l="-843" t="-1111" b="-2222"/>
                </a:stretch>
              </a:blipFill>
            </p:spPr>
            <p:txBody>
              <a:bodyPr/>
              <a:lstStyle/>
              <a:p>
                <a:r>
                  <a:rPr lang="fr-FR">
                    <a:noFill/>
                  </a:rPr>
                  <a:t> </a:t>
                </a:r>
              </a:p>
            </p:txBody>
          </p:sp>
        </mc:Fallback>
      </mc:AlternateContent>
    </p:spTree>
    <p:extLst>
      <p:ext uri="{BB962C8B-B14F-4D97-AF65-F5344CB8AC3E}">
        <p14:creationId xmlns:p14="http://schemas.microsoft.com/office/powerpoint/2010/main" val="196257957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24A9A-C736-1550-5A20-CCBAB7B91F1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37EC1A9-D06B-00DC-7881-0B934F881B51}"/>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A7B6DC80-E6B2-E389-8192-FC4CCA4DB9C1}"/>
              </a:ext>
            </a:extLst>
          </p:cNvPr>
          <p:cNvSpPr txBox="1"/>
          <p:nvPr/>
        </p:nvSpPr>
        <p:spPr>
          <a:xfrm>
            <a:off x="844826" y="1431230"/>
            <a:ext cx="10525539" cy="461665"/>
          </a:xfrm>
          <a:prstGeom prst="rect">
            <a:avLst/>
          </a:prstGeom>
          <a:noFill/>
        </p:spPr>
        <p:txBody>
          <a:bodyPr wrap="square" rtlCol="0">
            <a:spAutoFit/>
          </a:bodyPr>
          <a:lstStyle/>
          <a:p>
            <a:r>
              <a:rPr lang="fr-FR" sz="2400" b="1" dirty="0"/>
              <a:t>Politique de sélection : exemple</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5BE2AAB0-CE53-15B8-7A87-51A899844270}"/>
                  </a:ext>
                </a:extLst>
              </p:cNvPr>
              <p:cNvSpPr txBox="1"/>
              <p:nvPr/>
            </p:nvSpPr>
            <p:spPr>
              <a:xfrm>
                <a:off x="844826" y="2165822"/>
                <a:ext cx="6480000" cy="386028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Reprenons cette situation et calculons les valeurs de </a:t>
                </a:r>
                <a14:m>
                  <m:oMath xmlns:m="http://schemas.openxmlformats.org/officeDocument/2006/math">
                    <m:r>
                      <a:rPr kumimoji="0" lang="fr-F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𝑈𝐶𝐵</m:t>
                    </m:r>
                    <m:r>
                      <a:rPr kumimoji="0" lang="fr-F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a14:m>
                <a:r>
                  <a:rPr lang="fr-FR" sz="2400" dirty="0">
                    <a:solidFill>
                      <a:prstClr val="black"/>
                    </a:solidFill>
                    <a:latin typeface="Calibri" panose="020F0502020204030204"/>
                  </a:rPr>
                  <a:t> pour les trois enfants de la racine en prenant </a:t>
                </a:r>
                <a14:m>
                  <m:oMath xmlns:m="http://schemas.openxmlformats.org/officeDocument/2006/math">
                    <m:r>
                      <a:rPr lang="fr-FR" sz="2400" b="0" i="1" smtClean="0">
                        <a:solidFill>
                          <a:prstClr val="black"/>
                        </a:solidFill>
                        <a:latin typeface="Cambria Math" panose="02040503050406030204" pitchFamily="18" charset="0"/>
                      </a:rPr>
                      <m:t>𝐶</m:t>
                    </m:r>
                    <m:r>
                      <a:rPr lang="fr-FR" sz="2400" b="0" i="1" smtClean="0">
                        <a:solidFill>
                          <a:prstClr val="black"/>
                        </a:solidFill>
                        <a:latin typeface="Cambria Math" panose="02040503050406030204" pitchFamily="18" charset="0"/>
                      </a:rPr>
                      <m:t>=</m:t>
                    </m:r>
                    <m:rad>
                      <m:radPr>
                        <m:degHide m:val="on"/>
                        <m:ctrlPr>
                          <a:rPr lang="fr-FR" sz="2400" b="0" i="1" smtClean="0">
                            <a:solidFill>
                              <a:prstClr val="black"/>
                            </a:solidFill>
                            <a:latin typeface="Cambria Math" panose="02040503050406030204" pitchFamily="18" charset="0"/>
                          </a:rPr>
                        </m:ctrlPr>
                      </m:radPr>
                      <m:deg/>
                      <m:e>
                        <m:r>
                          <a:rPr lang="fr-FR" sz="2400" b="0" i="1" smtClean="0">
                            <a:solidFill>
                              <a:prstClr val="black"/>
                            </a:solidFill>
                            <a:latin typeface="Cambria Math" panose="02040503050406030204" pitchFamily="18" charset="0"/>
                          </a:rPr>
                          <m:t>2</m:t>
                        </m:r>
                      </m:e>
                    </m:rad>
                  </m:oMath>
                </a14:m>
                <a:r>
                  <a:rPr lang="fr-FR" sz="2400" dirty="0">
                    <a:solidFill>
                      <a:prstClr val="black"/>
                    </a:solidFill>
                    <a:latin typeface="Calibri" panose="020F0502020204030204"/>
                  </a:rPr>
                  <a: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2400" dirty="0">
                  <a:solidFill>
                    <a:prstClr val="black"/>
                  </a:solidFill>
                  <a:latin typeface="Calibri" panose="020F0502020204030204"/>
                </a:endParaRPr>
              </a:p>
              <a:p>
                <a:pPr marL="800100" lvl="1" indent="-342900">
                  <a:buFont typeface="Arial" panose="020B0604020202020204" pitchFamily="34" charset="0"/>
                  <a:buChar char="•"/>
                  <a:defRPr/>
                </a:pPr>
                <a14:m>
                  <m:oMath xmlns:m="http://schemas.openxmlformats.org/officeDocument/2006/math">
                    <m:f>
                      <m:fPr>
                        <m:ctrlPr>
                          <a:rPr lang="fr-FR" sz="2400" i="1" smtClean="0">
                            <a:solidFill>
                              <a:prstClr val="black"/>
                            </a:solidFill>
                            <a:latin typeface="Cambria Math" panose="02040503050406030204" pitchFamily="18" charset="0"/>
                          </a:rPr>
                        </m:ctrlPr>
                      </m:fPr>
                      <m:num>
                        <m:r>
                          <a:rPr lang="fr-FR" sz="2400" b="0" i="1" smtClean="0">
                            <a:solidFill>
                              <a:prstClr val="black"/>
                            </a:solidFill>
                            <a:latin typeface="Cambria Math" panose="02040503050406030204" pitchFamily="18" charset="0"/>
                          </a:rPr>
                          <m:t>60</m:t>
                        </m:r>
                      </m:num>
                      <m:den>
                        <m:r>
                          <a:rPr lang="fr-FR" sz="2400" b="0" i="1" smtClean="0">
                            <a:solidFill>
                              <a:prstClr val="black"/>
                            </a:solidFill>
                            <a:latin typeface="Cambria Math" panose="02040503050406030204" pitchFamily="18" charset="0"/>
                          </a:rPr>
                          <m:t>79</m:t>
                        </m:r>
                      </m:den>
                    </m:f>
                    <m:r>
                      <a:rPr lang="fr-FR" sz="2400" b="0" i="1" smtClean="0">
                        <a:solidFill>
                          <a:prstClr val="black"/>
                        </a:solidFill>
                        <a:latin typeface="Cambria Math" panose="02040503050406030204" pitchFamily="18" charset="0"/>
                      </a:rPr>
                      <m:t>+</m:t>
                    </m:r>
                    <m:rad>
                      <m:radPr>
                        <m:degHide m:val="on"/>
                        <m:ctrlPr>
                          <a:rPr lang="fr-FR" sz="2400" b="0" i="1" smtClean="0">
                            <a:solidFill>
                              <a:prstClr val="black"/>
                            </a:solidFill>
                            <a:latin typeface="Cambria Math" panose="02040503050406030204" pitchFamily="18" charset="0"/>
                          </a:rPr>
                        </m:ctrlPr>
                      </m:radPr>
                      <m:deg/>
                      <m:e>
                        <m:r>
                          <a:rPr lang="fr-FR" sz="2400" b="0" i="1" smtClean="0">
                            <a:solidFill>
                              <a:prstClr val="black"/>
                            </a:solidFill>
                            <a:latin typeface="Cambria Math" panose="02040503050406030204" pitchFamily="18" charset="0"/>
                          </a:rPr>
                          <m:t>2</m:t>
                        </m:r>
                      </m:e>
                    </m:rad>
                    <m:rad>
                      <m:radPr>
                        <m:degHide m:val="on"/>
                        <m:ctrlPr>
                          <a:rPr lang="fr-FR" sz="2400" b="0" i="1" smtClean="0">
                            <a:solidFill>
                              <a:prstClr val="black"/>
                            </a:solidFill>
                            <a:latin typeface="Cambria Math" panose="02040503050406030204" pitchFamily="18" charset="0"/>
                          </a:rPr>
                        </m:ctrlPr>
                      </m:radPr>
                      <m:deg/>
                      <m:e>
                        <m:f>
                          <m:fPr>
                            <m:ctrlPr>
                              <a:rPr lang="fr-FR" sz="2400" b="0" i="1" smtClean="0">
                                <a:solidFill>
                                  <a:prstClr val="black"/>
                                </a:solidFill>
                                <a:latin typeface="Cambria Math" panose="02040503050406030204" pitchFamily="18" charset="0"/>
                              </a:rPr>
                            </m:ctrlPr>
                          </m:fPr>
                          <m:num>
                            <m:func>
                              <m:funcPr>
                                <m:ctrlPr>
                                  <a:rPr lang="fr-FR" sz="2400" b="0" i="1" smtClean="0">
                                    <a:solidFill>
                                      <a:prstClr val="black"/>
                                    </a:solidFill>
                                    <a:latin typeface="Cambria Math" panose="02040503050406030204" pitchFamily="18" charset="0"/>
                                  </a:rPr>
                                </m:ctrlPr>
                              </m:funcPr>
                              <m:fName>
                                <m:r>
                                  <m:rPr>
                                    <m:sty m:val="p"/>
                                  </m:rPr>
                                  <a:rPr lang="fr-FR" sz="2400" b="0" i="0" smtClean="0">
                                    <a:solidFill>
                                      <a:prstClr val="black"/>
                                    </a:solidFill>
                                    <a:latin typeface="Cambria Math" panose="02040503050406030204" pitchFamily="18" charset="0"/>
                                  </a:rPr>
                                  <m:t>ln</m:t>
                                </m:r>
                              </m:fName>
                              <m:e>
                                <m:d>
                                  <m:dPr>
                                    <m:ctrlPr>
                                      <a:rPr lang="fr-FR" sz="2400" b="0" i="1" smtClean="0">
                                        <a:solidFill>
                                          <a:prstClr val="black"/>
                                        </a:solidFill>
                                        <a:latin typeface="Cambria Math" panose="02040503050406030204" pitchFamily="18" charset="0"/>
                                      </a:rPr>
                                    </m:ctrlPr>
                                  </m:dPr>
                                  <m:e>
                                    <m:r>
                                      <a:rPr lang="fr-FR" sz="2400" b="0" i="1" smtClean="0">
                                        <a:solidFill>
                                          <a:prstClr val="black"/>
                                        </a:solidFill>
                                        <a:latin typeface="Cambria Math" panose="02040503050406030204" pitchFamily="18" charset="0"/>
                                      </a:rPr>
                                      <m:t>100</m:t>
                                    </m:r>
                                  </m:e>
                                </m:d>
                              </m:e>
                            </m:func>
                          </m:num>
                          <m:den>
                            <m:r>
                              <a:rPr lang="fr-FR" sz="2400" b="0" i="1" smtClean="0">
                                <a:solidFill>
                                  <a:prstClr val="black"/>
                                </a:solidFill>
                                <a:latin typeface="Cambria Math" panose="02040503050406030204" pitchFamily="18" charset="0"/>
                              </a:rPr>
                              <m:t>79</m:t>
                            </m:r>
                          </m:den>
                        </m:f>
                      </m:e>
                    </m:rad>
                    <m:r>
                      <a:rPr lang="fr-FR" sz="2400" b="0" i="1" smtClean="0">
                        <a:solidFill>
                          <a:prstClr val="black"/>
                        </a:solidFill>
                        <a:latin typeface="Cambria Math" panose="02040503050406030204" pitchFamily="18" charset="0"/>
                      </a:rPr>
                      <m:t>≈1,101</m:t>
                    </m:r>
                  </m:oMath>
                </a14:m>
                <a:endParaRPr lang="fr-FR" sz="2400" dirty="0">
                  <a:solidFill>
                    <a:prstClr val="black"/>
                  </a:solidFill>
                  <a:latin typeface="Calibri" panose="020F0502020204030204"/>
                </a:endParaRPr>
              </a:p>
              <a:p>
                <a:pPr marL="800100" lvl="1" indent="-342900">
                  <a:buFont typeface="Arial" panose="020B0604020202020204" pitchFamily="34" charset="0"/>
                  <a:buChar char="•"/>
                  <a:defRPr/>
                </a:pPr>
                <a14:m>
                  <m:oMath xmlns:m="http://schemas.openxmlformats.org/officeDocument/2006/math">
                    <m:f>
                      <m:fPr>
                        <m:ctrlPr>
                          <a:rPr lang="fr-FR" sz="2400" i="1">
                            <a:solidFill>
                              <a:prstClr val="black"/>
                            </a:solidFill>
                            <a:latin typeface="Cambria Math" panose="02040503050406030204" pitchFamily="18" charset="0"/>
                          </a:rPr>
                        </m:ctrlPr>
                      </m:fPr>
                      <m:num>
                        <m:r>
                          <a:rPr lang="fr-FR" sz="2400" b="0" i="1" smtClean="0">
                            <a:solidFill>
                              <a:prstClr val="black"/>
                            </a:solidFill>
                            <a:latin typeface="Cambria Math" panose="02040503050406030204" pitchFamily="18" charset="0"/>
                          </a:rPr>
                          <m:t>1</m:t>
                        </m:r>
                      </m:num>
                      <m:den>
                        <m:r>
                          <a:rPr lang="fr-FR" sz="2400" b="0" i="1" smtClean="0">
                            <a:solidFill>
                              <a:prstClr val="black"/>
                            </a:solidFill>
                            <a:latin typeface="Cambria Math" panose="02040503050406030204" pitchFamily="18" charset="0"/>
                          </a:rPr>
                          <m:t>10</m:t>
                        </m:r>
                      </m:den>
                    </m:f>
                    <m:r>
                      <a:rPr lang="fr-FR" sz="2400" i="1">
                        <a:solidFill>
                          <a:prstClr val="black"/>
                        </a:solidFill>
                        <a:latin typeface="Cambria Math" panose="02040503050406030204" pitchFamily="18" charset="0"/>
                      </a:rPr>
                      <m:t>+</m:t>
                    </m:r>
                    <m:rad>
                      <m:radPr>
                        <m:degHide m:val="on"/>
                        <m:ctrlPr>
                          <a:rPr lang="fr-FR" sz="2400" i="1">
                            <a:solidFill>
                              <a:prstClr val="black"/>
                            </a:solidFill>
                            <a:latin typeface="Cambria Math" panose="02040503050406030204" pitchFamily="18" charset="0"/>
                          </a:rPr>
                        </m:ctrlPr>
                      </m:radPr>
                      <m:deg/>
                      <m:e>
                        <m:r>
                          <a:rPr lang="fr-FR" sz="2400" i="1">
                            <a:solidFill>
                              <a:prstClr val="black"/>
                            </a:solidFill>
                            <a:latin typeface="Cambria Math" panose="02040503050406030204" pitchFamily="18" charset="0"/>
                          </a:rPr>
                          <m:t>2</m:t>
                        </m:r>
                      </m:e>
                    </m:rad>
                    <m:rad>
                      <m:radPr>
                        <m:degHide m:val="on"/>
                        <m:ctrlPr>
                          <a:rPr lang="fr-FR" sz="2400" i="1">
                            <a:solidFill>
                              <a:prstClr val="black"/>
                            </a:solidFill>
                            <a:latin typeface="Cambria Math" panose="02040503050406030204" pitchFamily="18" charset="0"/>
                          </a:rPr>
                        </m:ctrlPr>
                      </m:radPr>
                      <m:deg/>
                      <m:e>
                        <m:f>
                          <m:fPr>
                            <m:ctrlPr>
                              <a:rPr lang="fr-FR" sz="2400" i="1">
                                <a:solidFill>
                                  <a:prstClr val="black"/>
                                </a:solidFill>
                                <a:latin typeface="Cambria Math" panose="02040503050406030204" pitchFamily="18" charset="0"/>
                              </a:rPr>
                            </m:ctrlPr>
                          </m:fPr>
                          <m:num>
                            <m:func>
                              <m:funcPr>
                                <m:ctrlPr>
                                  <a:rPr lang="fr-FR" sz="2400" i="1">
                                    <a:solidFill>
                                      <a:prstClr val="black"/>
                                    </a:solidFill>
                                    <a:latin typeface="Cambria Math" panose="02040503050406030204" pitchFamily="18" charset="0"/>
                                  </a:rPr>
                                </m:ctrlPr>
                              </m:funcPr>
                              <m:fName>
                                <m:r>
                                  <m:rPr>
                                    <m:sty m:val="p"/>
                                  </m:rPr>
                                  <a:rPr lang="fr-FR" sz="2400">
                                    <a:solidFill>
                                      <a:prstClr val="black"/>
                                    </a:solidFill>
                                    <a:latin typeface="Cambria Math" panose="02040503050406030204" pitchFamily="18" charset="0"/>
                                  </a:rPr>
                                  <m:t>ln</m:t>
                                </m:r>
                              </m:fName>
                              <m:e>
                                <m:d>
                                  <m:dPr>
                                    <m:ctrlPr>
                                      <a:rPr lang="fr-FR" sz="2400" i="1">
                                        <a:solidFill>
                                          <a:prstClr val="black"/>
                                        </a:solidFill>
                                        <a:latin typeface="Cambria Math" panose="02040503050406030204" pitchFamily="18" charset="0"/>
                                      </a:rPr>
                                    </m:ctrlPr>
                                  </m:dPr>
                                  <m:e>
                                    <m:r>
                                      <a:rPr lang="fr-FR" sz="2400" i="1">
                                        <a:solidFill>
                                          <a:prstClr val="black"/>
                                        </a:solidFill>
                                        <a:latin typeface="Cambria Math" panose="02040503050406030204" pitchFamily="18" charset="0"/>
                                      </a:rPr>
                                      <m:t>100</m:t>
                                    </m:r>
                                  </m:e>
                                </m:d>
                              </m:e>
                            </m:func>
                          </m:num>
                          <m:den>
                            <m:r>
                              <a:rPr lang="fr-FR" sz="2400" b="0" i="1" smtClean="0">
                                <a:solidFill>
                                  <a:prstClr val="black"/>
                                </a:solidFill>
                                <a:latin typeface="Cambria Math" panose="02040503050406030204" pitchFamily="18" charset="0"/>
                              </a:rPr>
                              <m:t>10</m:t>
                            </m:r>
                          </m:den>
                        </m:f>
                      </m:e>
                    </m:rad>
                    <m:r>
                      <a:rPr lang="fr-FR" sz="2400" i="1">
                        <a:solidFill>
                          <a:prstClr val="black"/>
                        </a:solidFill>
                        <a:latin typeface="Cambria Math" panose="02040503050406030204" pitchFamily="18" charset="0"/>
                      </a:rPr>
                      <m:t>≈1,</m:t>
                    </m:r>
                    <m:r>
                      <a:rPr lang="fr-FR" sz="2400" b="0" i="1" smtClean="0">
                        <a:solidFill>
                          <a:prstClr val="black"/>
                        </a:solidFill>
                        <a:latin typeface="Cambria Math" panose="02040503050406030204" pitchFamily="18" charset="0"/>
                      </a:rPr>
                      <m:t>060</m:t>
                    </m:r>
                  </m:oMath>
                </a14:m>
                <a:endParaRPr lang="fr-FR" sz="2400" dirty="0">
                  <a:solidFill>
                    <a:prstClr val="black"/>
                  </a:solidFill>
                  <a:latin typeface="Calibri" panose="020F0502020204030204"/>
                </a:endParaRPr>
              </a:p>
              <a:p>
                <a:pPr marL="800100" lvl="1" indent="-342900">
                  <a:buFont typeface="Arial" panose="020B0604020202020204" pitchFamily="34" charset="0"/>
                  <a:buChar char="•"/>
                  <a:defRPr/>
                </a:pPr>
                <a14:m>
                  <m:oMath xmlns:m="http://schemas.openxmlformats.org/officeDocument/2006/math">
                    <m:f>
                      <m:fPr>
                        <m:ctrlPr>
                          <a:rPr lang="fr-FR" sz="2400" i="1">
                            <a:solidFill>
                              <a:prstClr val="black"/>
                            </a:solidFill>
                            <a:latin typeface="Cambria Math" panose="02040503050406030204" pitchFamily="18" charset="0"/>
                          </a:rPr>
                        </m:ctrlPr>
                      </m:fPr>
                      <m:num>
                        <m:r>
                          <a:rPr lang="fr-FR" sz="2400" b="0" i="1" smtClean="0">
                            <a:solidFill>
                              <a:prstClr val="black"/>
                            </a:solidFill>
                            <a:latin typeface="Cambria Math" panose="02040503050406030204" pitchFamily="18" charset="0"/>
                          </a:rPr>
                          <m:t>2</m:t>
                        </m:r>
                      </m:num>
                      <m:den>
                        <m:r>
                          <a:rPr lang="fr-FR" sz="2400" b="0" i="1" smtClean="0">
                            <a:solidFill>
                              <a:prstClr val="black"/>
                            </a:solidFill>
                            <a:latin typeface="Cambria Math" panose="02040503050406030204" pitchFamily="18" charset="0"/>
                          </a:rPr>
                          <m:t>11</m:t>
                        </m:r>
                      </m:den>
                    </m:f>
                    <m:r>
                      <a:rPr lang="fr-FR" sz="2400" i="1">
                        <a:solidFill>
                          <a:prstClr val="black"/>
                        </a:solidFill>
                        <a:latin typeface="Cambria Math" panose="02040503050406030204" pitchFamily="18" charset="0"/>
                      </a:rPr>
                      <m:t>+</m:t>
                    </m:r>
                    <m:rad>
                      <m:radPr>
                        <m:degHide m:val="on"/>
                        <m:ctrlPr>
                          <a:rPr lang="fr-FR" sz="2400" i="1">
                            <a:solidFill>
                              <a:prstClr val="black"/>
                            </a:solidFill>
                            <a:latin typeface="Cambria Math" panose="02040503050406030204" pitchFamily="18" charset="0"/>
                          </a:rPr>
                        </m:ctrlPr>
                      </m:radPr>
                      <m:deg/>
                      <m:e>
                        <m:r>
                          <a:rPr lang="fr-FR" sz="2400" i="1">
                            <a:solidFill>
                              <a:prstClr val="black"/>
                            </a:solidFill>
                            <a:latin typeface="Cambria Math" panose="02040503050406030204" pitchFamily="18" charset="0"/>
                          </a:rPr>
                          <m:t>2</m:t>
                        </m:r>
                      </m:e>
                    </m:rad>
                    <m:rad>
                      <m:radPr>
                        <m:degHide m:val="on"/>
                        <m:ctrlPr>
                          <a:rPr lang="fr-FR" sz="2400" i="1">
                            <a:solidFill>
                              <a:prstClr val="black"/>
                            </a:solidFill>
                            <a:latin typeface="Cambria Math" panose="02040503050406030204" pitchFamily="18" charset="0"/>
                          </a:rPr>
                        </m:ctrlPr>
                      </m:radPr>
                      <m:deg/>
                      <m:e>
                        <m:f>
                          <m:fPr>
                            <m:ctrlPr>
                              <a:rPr lang="fr-FR" sz="2400" i="1">
                                <a:solidFill>
                                  <a:prstClr val="black"/>
                                </a:solidFill>
                                <a:latin typeface="Cambria Math" panose="02040503050406030204" pitchFamily="18" charset="0"/>
                              </a:rPr>
                            </m:ctrlPr>
                          </m:fPr>
                          <m:num>
                            <m:func>
                              <m:funcPr>
                                <m:ctrlPr>
                                  <a:rPr lang="fr-FR" sz="2400" i="1">
                                    <a:solidFill>
                                      <a:prstClr val="black"/>
                                    </a:solidFill>
                                    <a:latin typeface="Cambria Math" panose="02040503050406030204" pitchFamily="18" charset="0"/>
                                  </a:rPr>
                                </m:ctrlPr>
                              </m:funcPr>
                              <m:fName>
                                <m:r>
                                  <m:rPr>
                                    <m:sty m:val="p"/>
                                  </m:rPr>
                                  <a:rPr lang="fr-FR" sz="2400">
                                    <a:solidFill>
                                      <a:prstClr val="black"/>
                                    </a:solidFill>
                                    <a:latin typeface="Cambria Math" panose="02040503050406030204" pitchFamily="18" charset="0"/>
                                  </a:rPr>
                                  <m:t>ln</m:t>
                                </m:r>
                              </m:fName>
                              <m:e>
                                <m:d>
                                  <m:dPr>
                                    <m:ctrlPr>
                                      <a:rPr lang="fr-FR" sz="2400" i="1">
                                        <a:solidFill>
                                          <a:prstClr val="black"/>
                                        </a:solidFill>
                                        <a:latin typeface="Cambria Math" panose="02040503050406030204" pitchFamily="18" charset="0"/>
                                      </a:rPr>
                                    </m:ctrlPr>
                                  </m:dPr>
                                  <m:e>
                                    <m:r>
                                      <a:rPr lang="fr-FR" sz="2400" i="1">
                                        <a:solidFill>
                                          <a:prstClr val="black"/>
                                        </a:solidFill>
                                        <a:latin typeface="Cambria Math" panose="02040503050406030204" pitchFamily="18" charset="0"/>
                                      </a:rPr>
                                      <m:t>100</m:t>
                                    </m:r>
                                  </m:e>
                                </m:d>
                              </m:e>
                            </m:func>
                          </m:num>
                          <m:den>
                            <m:r>
                              <a:rPr lang="fr-FR" sz="2400" b="0" i="1" smtClean="0">
                                <a:solidFill>
                                  <a:prstClr val="black"/>
                                </a:solidFill>
                                <a:latin typeface="Cambria Math" panose="02040503050406030204" pitchFamily="18" charset="0"/>
                              </a:rPr>
                              <m:t>11</m:t>
                            </m:r>
                          </m:den>
                        </m:f>
                      </m:e>
                    </m:rad>
                    <m:r>
                      <a:rPr lang="fr-FR" sz="2400" i="1">
                        <a:solidFill>
                          <a:prstClr val="black"/>
                        </a:solidFill>
                        <a:latin typeface="Cambria Math" panose="02040503050406030204" pitchFamily="18" charset="0"/>
                      </a:rPr>
                      <m:t>≈1,</m:t>
                    </m:r>
                    <m:r>
                      <a:rPr lang="fr-FR" sz="2400" b="0" i="1" smtClean="0">
                        <a:solidFill>
                          <a:prstClr val="black"/>
                        </a:solidFill>
                        <a:latin typeface="Cambria Math" panose="02040503050406030204" pitchFamily="18" charset="0"/>
                      </a:rPr>
                      <m:t>097</m:t>
                    </m:r>
                  </m:oMath>
                </a14:m>
                <a:endParaRPr lang="fr-FR" sz="2400" dirty="0">
                  <a:solidFill>
                    <a:prstClr val="black"/>
                  </a:solidFill>
                  <a:latin typeface="Calibri" panose="020F0502020204030204"/>
                </a:endParaRPr>
              </a:p>
            </p:txBody>
          </p:sp>
        </mc:Choice>
        <mc:Fallback xmlns="">
          <p:sp>
            <p:nvSpPr>
              <p:cNvPr id="4" name="ZoneTexte 3">
                <a:extLst>
                  <a:ext uri="{FF2B5EF4-FFF2-40B4-BE49-F238E27FC236}">
                    <a16:creationId xmlns:a16="http://schemas.microsoft.com/office/drawing/2014/main" id="{5BE2AAB0-CE53-15B8-7A87-51A899844270}"/>
                  </a:ext>
                </a:extLst>
              </p:cNvPr>
              <p:cNvSpPr txBox="1">
                <a:spLocks noRot="1" noChangeAspect="1" noMove="1" noResize="1" noEditPoints="1" noAdjustHandles="1" noChangeArrowheads="1" noChangeShapeType="1" noTextEdit="1"/>
              </p:cNvSpPr>
              <p:nvPr/>
            </p:nvSpPr>
            <p:spPr>
              <a:xfrm>
                <a:off x="844826" y="2165822"/>
                <a:ext cx="6480000" cy="3860288"/>
              </a:xfrm>
              <a:prstGeom prst="rect">
                <a:avLst/>
              </a:prstGeom>
              <a:blipFill>
                <a:blip r:embed="rId3"/>
                <a:stretch>
                  <a:fillRect l="-1174" t="-1311"/>
                </a:stretch>
              </a:blipFill>
            </p:spPr>
            <p:txBody>
              <a:bodyPr/>
              <a:lstStyle/>
              <a:p>
                <a:r>
                  <a:rPr lang="fr-FR">
                    <a:noFill/>
                  </a:rPr>
                  <a:t> </a:t>
                </a:r>
              </a:p>
            </p:txBody>
          </p:sp>
        </mc:Fallback>
      </mc:AlternateContent>
      <p:pic>
        <p:nvPicPr>
          <p:cNvPr id="7" name="Image 6" descr="Une image contenant diagramme, ligne, cercle&#10;&#10;Le contenu généré par l’IA peut être incorrect.">
            <a:extLst>
              <a:ext uri="{FF2B5EF4-FFF2-40B4-BE49-F238E27FC236}">
                <a16:creationId xmlns:a16="http://schemas.microsoft.com/office/drawing/2014/main" id="{8A45F9F5-53DB-7641-8B34-CD314A4CB939}"/>
              </a:ext>
            </a:extLst>
          </p:cNvPr>
          <p:cNvPicPr>
            <a:picLocks noChangeAspect="1"/>
          </p:cNvPicPr>
          <p:nvPr/>
        </p:nvPicPr>
        <p:blipFill>
          <a:blip r:embed="rId4"/>
          <a:stretch>
            <a:fillRect/>
          </a:stretch>
        </p:blipFill>
        <p:spPr>
          <a:xfrm>
            <a:off x="7740000" y="2160000"/>
            <a:ext cx="4320000" cy="3330720"/>
          </a:xfrm>
          <a:prstGeom prst="rect">
            <a:avLst/>
          </a:prstGeom>
        </p:spPr>
      </p:pic>
    </p:spTree>
    <p:extLst>
      <p:ext uri="{BB962C8B-B14F-4D97-AF65-F5344CB8AC3E}">
        <p14:creationId xmlns:p14="http://schemas.microsoft.com/office/powerpoint/2010/main" val="133871541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7D27D-6306-2319-E12A-9FE9B9A9625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C20D65-C874-CBBD-DEF9-548E8A42B01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4" name="ZoneTexte 3">
            <a:extLst>
              <a:ext uri="{FF2B5EF4-FFF2-40B4-BE49-F238E27FC236}">
                <a16:creationId xmlns:a16="http://schemas.microsoft.com/office/drawing/2014/main" id="{08FB0CE2-6D1C-F71A-E6C1-92F64C3D3E2E}"/>
              </a:ext>
            </a:extLst>
          </p:cNvPr>
          <p:cNvSpPr txBox="1"/>
          <p:nvPr/>
        </p:nvSpPr>
        <p:spPr>
          <a:xfrm>
            <a:off x="844826" y="1431230"/>
            <a:ext cx="10525539" cy="461665"/>
          </a:xfrm>
          <a:prstGeom prst="rect">
            <a:avLst/>
          </a:prstGeom>
          <a:noFill/>
        </p:spPr>
        <p:txBody>
          <a:bodyPr wrap="square" rtlCol="0">
            <a:spAutoFit/>
          </a:bodyPr>
          <a:lstStyle/>
          <a:p>
            <a:r>
              <a:rPr lang="fr-FR" sz="2400" b="1" dirty="0"/>
              <a:t>Politique de sélection : exemple (suite)</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A966725-268F-1603-C616-36F3F57E31D1}"/>
                  </a:ext>
                </a:extLst>
              </p:cNvPr>
              <p:cNvSpPr txBox="1"/>
              <p:nvPr/>
            </p:nvSpPr>
            <p:spPr>
              <a:xfrm>
                <a:off x="844826" y="2165822"/>
                <a:ext cx="6480000" cy="2703432"/>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Calculons maintenant les valeurs de </a:t>
                </a:r>
                <a14:m>
                  <m:oMath xmlns:m="http://schemas.openxmlformats.org/officeDocument/2006/math">
                    <m:r>
                      <a:rPr kumimoji="0" lang="fr-F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𝑈𝐶𝐵</m:t>
                    </m:r>
                    <m:r>
                      <a:rPr kumimoji="0" lang="fr-F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a14:m>
                <a:r>
                  <a:rPr lang="fr-FR" sz="2400" dirty="0">
                    <a:solidFill>
                      <a:prstClr val="black"/>
                    </a:solidFill>
                    <a:latin typeface="Calibri" panose="020F0502020204030204"/>
                  </a:rPr>
                  <a:t> pour les deux enfants du sommet précédent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2400" dirty="0">
                  <a:solidFill>
                    <a:prstClr val="black"/>
                  </a:solidFill>
                  <a:latin typeface="Calibri" panose="020F0502020204030204"/>
                </a:endParaRPr>
              </a:p>
              <a:p>
                <a:pPr marL="800100" lvl="1" indent="-342900">
                  <a:buFont typeface="Arial" panose="020B0604020202020204" pitchFamily="34" charset="0"/>
                  <a:buChar char="•"/>
                  <a:defRPr/>
                </a:pPr>
                <a14:m>
                  <m:oMath xmlns:m="http://schemas.openxmlformats.org/officeDocument/2006/math">
                    <m:f>
                      <m:fPr>
                        <m:ctrlPr>
                          <a:rPr lang="fr-FR" sz="2400" i="1" smtClean="0">
                            <a:solidFill>
                              <a:prstClr val="black"/>
                            </a:solidFill>
                            <a:latin typeface="Cambria Math" panose="02040503050406030204" pitchFamily="18" charset="0"/>
                          </a:rPr>
                        </m:ctrlPr>
                      </m:fPr>
                      <m:num>
                        <m:r>
                          <a:rPr lang="fr-FR" sz="2400" b="0" i="1" smtClean="0">
                            <a:solidFill>
                              <a:prstClr val="black"/>
                            </a:solidFill>
                            <a:latin typeface="Cambria Math" panose="02040503050406030204" pitchFamily="18" charset="0"/>
                          </a:rPr>
                          <m:t>3</m:t>
                        </m:r>
                      </m:num>
                      <m:den>
                        <m:r>
                          <a:rPr lang="fr-FR" sz="2400" b="0" i="1" smtClean="0">
                            <a:solidFill>
                              <a:prstClr val="black"/>
                            </a:solidFill>
                            <a:latin typeface="Cambria Math" panose="02040503050406030204" pitchFamily="18" charset="0"/>
                          </a:rPr>
                          <m:t>26</m:t>
                        </m:r>
                      </m:den>
                    </m:f>
                    <m:r>
                      <a:rPr lang="fr-FR" sz="2400" b="0" i="1" smtClean="0">
                        <a:solidFill>
                          <a:prstClr val="black"/>
                        </a:solidFill>
                        <a:latin typeface="Cambria Math" panose="02040503050406030204" pitchFamily="18" charset="0"/>
                      </a:rPr>
                      <m:t>+</m:t>
                    </m:r>
                    <m:rad>
                      <m:radPr>
                        <m:degHide m:val="on"/>
                        <m:ctrlPr>
                          <a:rPr lang="fr-FR" sz="2400" b="0" i="1" smtClean="0">
                            <a:solidFill>
                              <a:prstClr val="black"/>
                            </a:solidFill>
                            <a:latin typeface="Cambria Math" panose="02040503050406030204" pitchFamily="18" charset="0"/>
                          </a:rPr>
                        </m:ctrlPr>
                      </m:radPr>
                      <m:deg/>
                      <m:e>
                        <m:r>
                          <a:rPr lang="fr-FR" sz="2400" b="0" i="1" smtClean="0">
                            <a:solidFill>
                              <a:prstClr val="black"/>
                            </a:solidFill>
                            <a:latin typeface="Cambria Math" panose="02040503050406030204" pitchFamily="18" charset="0"/>
                          </a:rPr>
                          <m:t>2</m:t>
                        </m:r>
                      </m:e>
                    </m:rad>
                    <m:rad>
                      <m:radPr>
                        <m:degHide m:val="on"/>
                        <m:ctrlPr>
                          <a:rPr lang="fr-FR" sz="2400" b="0" i="1" smtClean="0">
                            <a:solidFill>
                              <a:prstClr val="black"/>
                            </a:solidFill>
                            <a:latin typeface="Cambria Math" panose="02040503050406030204" pitchFamily="18" charset="0"/>
                          </a:rPr>
                        </m:ctrlPr>
                      </m:radPr>
                      <m:deg/>
                      <m:e>
                        <m:f>
                          <m:fPr>
                            <m:ctrlPr>
                              <a:rPr lang="fr-FR" sz="2400" b="0" i="1" smtClean="0">
                                <a:solidFill>
                                  <a:prstClr val="black"/>
                                </a:solidFill>
                                <a:latin typeface="Cambria Math" panose="02040503050406030204" pitchFamily="18" charset="0"/>
                              </a:rPr>
                            </m:ctrlPr>
                          </m:fPr>
                          <m:num>
                            <m:func>
                              <m:funcPr>
                                <m:ctrlPr>
                                  <a:rPr lang="fr-FR" sz="2400" b="0" i="1" smtClean="0">
                                    <a:solidFill>
                                      <a:prstClr val="black"/>
                                    </a:solidFill>
                                    <a:latin typeface="Cambria Math" panose="02040503050406030204" pitchFamily="18" charset="0"/>
                                  </a:rPr>
                                </m:ctrlPr>
                              </m:funcPr>
                              <m:fName>
                                <m:r>
                                  <m:rPr>
                                    <m:sty m:val="p"/>
                                  </m:rPr>
                                  <a:rPr lang="fr-FR" sz="2400" b="0" i="0" smtClean="0">
                                    <a:solidFill>
                                      <a:prstClr val="black"/>
                                    </a:solidFill>
                                    <a:latin typeface="Cambria Math" panose="02040503050406030204" pitchFamily="18" charset="0"/>
                                  </a:rPr>
                                  <m:t>ln</m:t>
                                </m:r>
                              </m:fName>
                              <m:e>
                                <m:d>
                                  <m:dPr>
                                    <m:ctrlPr>
                                      <a:rPr lang="fr-FR" sz="2400" b="0" i="1" smtClean="0">
                                        <a:solidFill>
                                          <a:prstClr val="black"/>
                                        </a:solidFill>
                                        <a:latin typeface="Cambria Math" panose="02040503050406030204" pitchFamily="18" charset="0"/>
                                      </a:rPr>
                                    </m:ctrlPr>
                                  </m:dPr>
                                  <m:e>
                                    <m:r>
                                      <a:rPr lang="fr-FR" sz="2400" b="0" i="1" smtClean="0">
                                        <a:solidFill>
                                          <a:prstClr val="black"/>
                                        </a:solidFill>
                                        <a:latin typeface="Cambria Math" panose="02040503050406030204" pitchFamily="18" charset="0"/>
                                      </a:rPr>
                                      <m:t>79</m:t>
                                    </m:r>
                                  </m:e>
                                </m:d>
                              </m:e>
                            </m:func>
                          </m:num>
                          <m:den>
                            <m:r>
                              <a:rPr lang="fr-FR" sz="2400" b="0" i="1" smtClean="0">
                                <a:solidFill>
                                  <a:prstClr val="black"/>
                                </a:solidFill>
                                <a:latin typeface="Cambria Math" panose="02040503050406030204" pitchFamily="18" charset="0"/>
                              </a:rPr>
                              <m:t>26</m:t>
                            </m:r>
                          </m:den>
                        </m:f>
                      </m:e>
                    </m:rad>
                    <m:r>
                      <a:rPr lang="fr-FR" sz="2400" b="0" i="1" smtClean="0">
                        <a:solidFill>
                          <a:prstClr val="black"/>
                        </a:solidFill>
                        <a:latin typeface="Cambria Math" panose="02040503050406030204" pitchFamily="18" charset="0"/>
                      </a:rPr>
                      <m:t>≈0,695</m:t>
                    </m:r>
                  </m:oMath>
                </a14:m>
                <a:endParaRPr lang="fr-FR" sz="2400" dirty="0">
                  <a:solidFill>
                    <a:prstClr val="black"/>
                  </a:solidFill>
                  <a:latin typeface="Calibri" panose="020F0502020204030204"/>
                </a:endParaRPr>
              </a:p>
              <a:p>
                <a:pPr marL="800100" lvl="1" indent="-342900">
                  <a:buFont typeface="Arial" panose="020B0604020202020204" pitchFamily="34" charset="0"/>
                  <a:buChar char="•"/>
                  <a:defRPr/>
                </a:pPr>
                <a14:m>
                  <m:oMath xmlns:m="http://schemas.openxmlformats.org/officeDocument/2006/math">
                    <m:f>
                      <m:fPr>
                        <m:ctrlPr>
                          <a:rPr lang="fr-FR" sz="2400" i="1">
                            <a:solidFill>
                              <a:prstClr val="black"/>
                            </a:solidFill>
                            <a:latin typeface="Cambria Math" panose="02040503050406030204" pitchFamily="18" charset="0"/>
                          </a:rPr>
                        </m:ctrlPr>
                      </m:fPr>
                      <m:num>
                        <m:r>
                          <a:rPr lang="fr-FR" sz="2400" b="0" i="1" smtClean="0">
                            <a:solidFill>
                              <a:prstClr val="black"/>
                            </a:solidFill>
                            <a:latin typeface="Cambria Math" panose="02040503050406030204" pitchFamily="18" charset="0"/>
                          </a:rPr>
                          <m:t>16</m:t>
                        </m:r>
                      </m:num>
                      <m:den>
                        <m:r>
                          <a:rPr lang="fr-FR" sz="2400" b="0" i="1" smtClean="0">
                            <a:solidFill>
                              <a:prstClr val="black"/>
                            </a:solidFill>
                            <a:latin typeface="Cambria Math" panose="02040503050406030204" pitchFamily="18" charset="0"/>
                          </a:rPr>
                          <m:t>53</m:t>
                        </m:r>
                      </m:den>
                    </m:f>
                    <m:r>
                      <a:rPr lang="fr-FR" sz="2400" i="1">
                        <a:solidFill>
                          <a:prstClr val="black"/>
                        </a:solidFill>
                        <a:latin typeface="Cambria Math" panose="02040503050406030204" pitchFamily="18" charset="0"/>
                      </a:rPr>
                      <m:t>+</m:t>
                    </m:r>
                    <m:rad>
                      <m:radPr>
                        <m:degHide m:val="on"/>
                        <m:ctrlPr>
                          <a:rPr lang="fr-FR" sz="2400" i="1">
                            <a:solidFill>
                              <a:prstClr val="black"/>
                            </a:solidFill>
                            <a:latin typeface="Cambria Math" panose="02040503050406030204" pitchFamily="18" charset="0"/>
                          </a:rPr>
                        </m:ctrlPr>
                      </m:radPr>
                      <m:deg/>
                      <m:e>
                        <m:r>
                          <a:rPr lang="fr-FR" sz="2400" i="1">
                            <a:solidFill>
                              <a:prstClr val="black"/>
                            </a:solidFill>
                            <a:latin typeface="Cambria Math" panose="02040503050406030204" pitchFamily="18" charset="0"/>
                          </a:rPr>
                          <m:t>2</m:t>
                        </m:r>
                      </m:e>
                    </m:rad>
                    <m:rad>
                      <m:radPr>
                        <m:degHide m:val="on"/>
                        <m:ctrlPr>
                          <a:rPr lang="fr-FR" sz="2400" i="1">
                            <a:solidFill>
                              <a:prstClr val="black"/>
                            </a:solidFill>
                            <a:latin typeface="Cambria Math" panose="02040503050406030204" pitchFamily="18" charset="0"/>
                          </a:rPr>
                        </m:ctrlPr>
                      </m:radPr>
                      <m:deg/>
                      <m:e>
                        <m:f>
                          <m:fPr>
                            <m:ctrlPr>
                              <a:rPr lang="fr-FR" sz="2400" i="1">
                                <a:solidFill>
                                  <a:prstClr val="black"/>
                                </a:solidFill>
                                <a:latin typeface="Cambria Math" panose="02040503050406030204" pitchFamily="18" charset="0"/>
                              </a:rPr>
                            </m:ctrlPr>
                          </m:fPr>
                          <m:num>
                            <m:func>
                              <m:funcPr>
                                <m:ctrlPr>
                                  <a:rPr lang="fr-FR" sz="2400" i="1">
                                    <a:solidFill>
                                      <a:prstClr val="black"/>
                                    </a:solidFill>
                                    <a:latin typeface="Cambria Math" panose="02040503050406030204" pitchFamily="18" charset="0"/>
                                  </a:rPr>
                                </m:ctrlPr>
                              </m:funcPr>
                              <m:fName>
                                <m:r>
                                  <m:rPr>
                                    <m:sty m:val="p"/>
                                  </m:rPr>
                                  <a:rPr lang="fr-FR" sz="2400">
                                    <a:solidFill>
                                      <a:prstClr val="black"/>
                                    </a:solidFill>
                                    <a:latin typeface="Cambria Math" panose="02040503050406030204" pitchFamily="18" charset="0"/>
                                  </a:rPr>
                                  <m:t>ln</m:t>
                                </m:r>
                              </m:fName>
                              <m:e>
                                <m:d>
                                  <m:dPr>
                                    <m:ctrlPr>
                                      <a:rPr lang="fr-FR" sz="2400" i="1">
                                        <a:solidFill>
                                          <a:prstClr val="black"/>
                                        </a:solidFill>
                                        <a:latin typeface="Cambria Math" panose="02040503050406030204" pitchFamily="18" charset="0"/>
                                      </a:rPr>
                                    </m:ctrlPr>
                                  </m:dPr>
                                  <m:e>
                                    <m:r>
                                      <a:rPr lang="fr-FR" sz="2400" b="0" i="1" smtClean="0">
                                        <a:solidFill>
                                          <a:prstClr val="black"/>
                                        </a:solidFill>
                                        <a:latin typeface="Cambria Math" panose="02040503050406030204" pitchFamily="18" charset="0"/>
                                      </a:rPr>
                                      <m:t>79</m:t>
                                    </m:r>
                                  </m:e>
                                </m:d>
                              </m:e>
                            </m:func>
                          </m:num>
                          <m:den>
                            <m:r>
                              <a:rPr lang="fr-FR" sz="2400" b="0" i="1" smtClean="0">
                                <a:solidFill>
                                  <a:prstClr val="black"/>
                                </a:solidFill>
                                <a:latin typeface="Cambria Math" panose="02040503050406030204" pitchFamily="18" charset="0"/>
                              </a:rPr>
                              <m:t>53</m:t>
                            </m:r>
                          </m:den>
                        </m:f>
                      </m:e>
                    </m:rad>
                    <m:r>
                      <a:rPr lang="fr-FR" sz="2400" i="1">
                        <a:solidFill>
                          <a:prstClr val="black"/>
                        </a:solidFill>
                        <a:latin typeface="Cambria Math" panose="02040503050406030204" pitchFamily="18" charset="0"/>
                      </a:rPr>
                      <m:t>≈</m:t>
                    </m:r>
                    <m:r>
                      <a:rPr lang="fr-FR" sz="2400" i="1" smtClean="0">
                        <a:solidFill>
                          <a:prstClr val="black"/>
                        </a:solidFill>
                        <a:latin typeface="Cambria Math" panose="02040503050406030204" pitchFamily="18" charset="0"/>
                      </a:rPr>
                      <m:t>0</m:t>
                    </m:r>
                    <m:r>
                      <a:rPr lang="fr-FR" sz="2400" b="0" i="1" smtClean="0">
                        <a:solidFill>
                          <a:prstClr val="black"/>
                        </a:solidFill>
                        <a:latin typeface="Cambria Math" panose="02040503050406030204" pitchFamily="18" charset="0"/>
                      </a:rPr>
                      <m:t>,708</m:t>
                    </m:r>
                  </m:oMath>
                </a14:m>
                <a:endParaRPr lang="fr-FR" sz="2400" dirty="0">
                  <a:solidFill>
                    <a:prstClr val="black"/>
                  </a:solidFill>
                  <a:latin typeface="Calibri" panose="020F0502020204030204"/>
                </a:endParaRPr>
              </a:p>
            </p:txBody>
          </p:sp>
        </mc:Choice>
        <mc:Fallback xmlns="">
          <p:sp>
            <p:nvSpPr>
              <p:cNvPr id="5" name="ZoneTexte 4">
                <a:extLst>
                  <a:ext uri="{FF2B5EF4-FFF2-40B4-BE49-F238E27FC236}">
                    <a16:creationId xmlns:a16="http://schemas.microsoft.com/office/drawing/2014/main" id="{0A966725-268F-1603-C616-36F3F57E31D1}"/>
                  </a:ext>
                </a:extLst>
              </p:cNvPr>
              <p:cNvSpPr txBox="1">
                <a:spLocks noRot="1" noChangeAspect="1" noMove="1" noResize="1" noEditPoints="1" noAdjustHandles="1" noChangeArrowheads="1" noChangeShapeType="1" noTextEdit="1"/>
              </p:cNvSpPr>
              <p:nvPr/>
            </p:nvSpPr>
            <p:spPr>
              <a:xfrm>
                <a:off x="844826" y="2165822"/>
                <a:ext cx="6480000" cy="2703432"/>
              </a:xfrm>
              <a:prstGeom prst="rect">
                <a:avLst/>
              </a:prstGeom>
              <a:blipFill>
                <a:blip r:embed="rId3"/>
                <a:stretch>
                  <a:fillRect l="-1174" t="-1402" r="-1761"/>
                </a:stretch>
              </a:blipFill>
            </p:spPr>
            <p:txBody>
              <a:bodyPr/>
              <a:lstStyle/>
              <a:p>
                <a:r>
                  <a:rPr lang="fr-FR">
                    <a:noFill/>
                  </a:rPr>
                  <a:t> </a:t>
                </a:r>
              </a:p>
            </p:txBody>
          </p:sp>
        </mc:Fallback>
      </mc:AlternateContent>
      <p:pic>
        <p:nvPicPr>
          <p:cNvPr id="9" name="Image 8" descr="Une image contenant diagramme, ligne, cercle&#10;&#10;Le contenu généré par l’IA peut être incorrect.">
            <a:extLst>
              <a:ext uri="{FF2B5EF4-FFF2-40B4-BE49-F238E27FC236}">
                <a16:creationId xmlns:a16="http://schemas.microsoft.com/office/drawing/2014/main" id="{E67F0A94-9B27-A9A3-3CCA-41ACBCDA4A65}"/>
              </a:ext>
            </a:extLst>
          </p:cNvPr>
          <p:cNvPicPr>
            <a:picLocks noChangeAspect="1"/>
          </p:cNvPicPr>
          <p:nvPr/>
        </p:nvPicPr>
        <p:blipFill>
          <a:blip r:embed="rId4"/>
          <a:stretch>
            <a:fillRect/>
          </a:stretch>
        </p:blipFill>
        <p:spPr>
          <a:xfrm>
            <a:off x="7740000" y="2160000"/>
            <a:ext cx="4320000" cy="3330720"/>
          </a:xfrm>
          <a:prstGeom prst="rect">
            <a:avLst/>
          </a:prstGeom>
        </p:spPr>
      </p:pic>
    </p:spTree>
    <p:extLst>
      <p:ext uri="{BB962C8B-B14F-4D97-AF65-F5344CB8AC3E}">
        <p14:creationId xmlns:p14="http://schemas.microsoft.com/office/powerpoint/2010/main" val="190797358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B672F-09A5-2FE4-1DB4-CB79A56DA38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0C21A14-17A6-1AE5-ABA9-AD4AA7A8C59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8A9D1B6D-EB37-C1E3-4373-BB1736F35B71}"/>
              </a:ext>
            </a:extLst>
          </p:cNvPr>
          <p:cNvSpPr txBox="1"/>
          <p:nvPr/>
        </p:nvSpPr>
        <p:spPr>
          <a:xfrm>
            <a:off x="844826" y="1431230"/>
            <a:ext cx="10525539" cy="461665"/>
          </a:xfrm>
          <a:prstGeom prst="rect">
            <a:avLst/>
          </a:prstGeom>
          <a:noFill/>
        </p:spPr>
        <p:txBody>
          <a:bodyPr wrap="square" rtlCol="0">
            <a:spAutoFit/>
          </a:bodyPr>
          <a:lstStyle/>
          <a:p>
            <a:r>
              <a:rPr lang="fr-FR" sz="2400" b="1" dirty="0"/>
              <a:t>Politique de sélection : exemple (suite)</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35CC40E2-4F7F-551E-EA98-3DB51D4C69B8}"/>
                  </a:ext>
                </a:extLst>
              </p:cNvPr>
              <p:cNvSpPr txBox="1"/>
              <p:nvPr/>
            </p:nvSpPr>
            <p:spPr>
              <a:xfrm>
                <a:off x="844826" y="2165822"/>
                <a:ext cx="6480000" cy="381142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Calculons maintenant les valeurs de </a:t>
                </a:r>
                <a14:m>
                  <m:oMath xmlns:m="http://schemas.openxmlformats.org/officeDocument/2006/math">
                    <m:r>
                      <a:rPr kumimoji="0" lang="fr-F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𝑈𝐶𝐵</m:t>
                    </m:r>
                    <m:r>
                      <a:rPr kumimoji="0" lang="fr-F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a14:m>
                <a:r>
                  <a:rPr lang="fr-FR" sz="2400" dirty="0">
                    <a:solidFill>
                      <a:prstClr val="black"/>
                    </a:solidFill>
                    <a:latin typeface="Calibri" panose="020F0502020204030204"/>
                  </a:rPr>
                  <a:t> pour les deux enfants du sommet précédent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2400" dirty="0">
                  <a:solidFill>
                    <a:prstClr val="black"/>
                  </a:solidFill>
                  <a:latin typeface="Calibri" panose="020F0502020204030204"/>
                </a:endParaRPr>
              </a:p>
              <a:p>
                <a:pPr marL="800100" lvl="1" indent="-342900">
                  <a:buFont typeface="Arial" panose="020B0604020202020204" pitchFamily="34" charset="0"/>
                  <a:buChar char="•"/>
                  <a:defRPr/>
                </a:pPr>
                <a14:m>
                  <m:oMath xmlns:m="http://schemas.openxmlformats.org/officeDocument/2006/math">
                    <m:f>
                      <m:fPr>
                        <m:ctrlPr>
                          <a:rPr lang="fr-FR" sz="2400" i="1" smtClean="0">
                            <a:solidFill>
                              <a:prstClr val="black"/>
                            </a:solidFill>
                            <a:latin typeface="Cambria Math" panose="02040503050406030204" pitchFamily="18" charset="0"/>
                          </a:rPr>
                        </m:ctrlPr>
                      </m:fPr>
                      <m:num>
                        <m:r>
                          <a:rPr lang="fr-FR" sz="2400" b="0" i="1" smtClean="0">
                            <a:solidFill>
                              <a:prstClr val="black"/>
                            </a:solidFill>
                            <a:latin typeface="Cambria Math" panose="02040503050406030204" pitchFamily="18" charset="0"/>
                          </a:rPr>
                          <m:t>27</m:t>
                        </m:r>
                      </m:num>
                      <m:den>
                        <m:r>
                          <a:rPr lang="fr-FR" sz="2400" b="0" i="1" smtClean="0">
                            <a:solidFill>
                              <a:prstClr val="black"/>
                            </a:solidFill>
                            <a:latin typeface="Cambria Math" panose="02040503050406030204" pitchFamily="18" charset="0"/>
                          </a:rPr>
                          <m:t>35</m:t>
                        </m:r>
                      </m:den>
                    </m:f>
                    <m:r>
                      <a:rPr lang="fr-FR" sz="2400" b="0" i="1" smtClean="0">
                        <a:solidFill>
                          <a:prstClr val="black"/>
                        </a:solidFill>
                        <a:latin typeface="Cambria Math" panose="02040503050406030204" pitchFamily="18" charset="0"/>
                      </a:rPr>
                      <m:t>+</m:t>
                    </m:r>
                    <m:rad>
                      <m:radPr>
                        <m:degHide m:val="on"/>
                        <m:ctrlPr>
                          <a:rPr lang="fr-FR" sz="2400" b="0" i="1" smtClean="0">
                            <a:solidFill>
                              <a:prstClr val="black"/>
                            </a:solidFill>
                            <a:latin typeface="Cambria Math" panose="02040503050406030204" pitchFamily="18" charset="0"/>
                          </a:rPr>
                        </m:ctrlPr>
                      </m:radPr>
                      <m:deg/>
                      <m:e>
                        <m:r>
                          <a:rPr lang="fr-FR" sz="2400" b="0" i="1" smtClean="0">
                            <a:solidFill>
                              <a:prstClr val="black"/>
                            </a:solidFill>
                            <a:latin typeface="Cambria Math" panose="02040503050406030204" pitchFamily="18" charset="0"/>
                          </a:rPr>
                          <m:t>2</m:t>
                        </m:r>
                      </m:e>
                    </m:rad>
                    <m:rad>
                      <m:radPr>
                        <m:degHide m:val="on"/>
                        <m:ctrlPr>
                          <a:rPr lang="fr-FR" sz="2400" b="0" i="1" smtClean="0">
                            <a:solidFill>
                              <a:prstClr val="black"/>
                            </a:solidFill>
                            <a:latin typeface="Cambria Math" panose="02040503050406030204" pitchFamily="18" charset="0"/>
                          </a:rPr>
                        </m:ctrlPr>
                      </m:radPr>
                      <m:deg/>
                      <m:e>
                        <m:f>
                          <m:fPr>
                            <m:ctrlPr>
                              <a:rPr lang="fr-FR" sz="2400" b="0" i="1" smtClean="0">
                                <a:solidFill>
                                  <a:prstClr val="black"/>
                                </a:solidFill>
                                <a:latin typeface="Cambria Math" panose="02040503050406030204" pitchFamily="18" charset="0"/>
                              </a:rPr>
                            </m:ctrlPr>
                          </m:fPr>
                          <m:num>
                            <m:func>
                              <m:funcPr>
                                <m:ctrlPr>
                                  <a:rPr lang="fr-FR" sz="2400" b="0" i="1" smtClean="0">
                                    <a:solidFill>
                                      <a:prstClr val="black"/>
                                    </a:solidFill>
                                    <a:latin typeface="Cambria Math" panose="02040503050406030204" pitchFamily="18" charset="0"/>
                                  </a:rPr>
                                </m:ctrlPr>
                              </m:funcPr>
                              <m:fName>
                                <m:r>
                                  <m:rPr>
                                    <m:sty m:val="p"/>
                                  </m:rPr>
                                  <a:rPr lang="fr-FR" sz="2400" b="0" i="0" smtClean="0">
                                    <a:solidFill>
                                      <a:prstClr val="black"/>
                                    </a:solidFill>
                                    <a:latin typeface="Cambria Math" panose="02040503050406030204" pitchFamily="18" charset="0"/>
                                  </a:rPr>
                                  <m:t>ln</m:t>
                                </m:r>
                              </m:fName>
                              <m:e>
                                <m:d>
                                  <m:dPr>
                                    <m:ctrlPr>
                                      <a:rPr lang="fr-FR" sz="2400" b="0" i="1" smtClean="0">
                                        <a:solidFill>
                                          <a:prstClr val="black"/>
                                        </a:solidFill>
                                        <a:latin typeface="Cambria Math" panose="02040503050406030204" pitchFamily="18" charset="0"/>
                                      </a:rPr>
                                    </m:ctrlPr>
                                  </m:dPr>
                                  <m:e>
                                    <m:r>
                                      <a:rPr lang="fr-FR" sz="2400" b="0" i="1" smtClean="0">
                                        <a:solidFill>
                                          <a:prstClr val="black"/>
                                        </a:solidFill>
                                        <a:latin typeface="Cambria Math" panose="02040503050406030204" pitchFamily="18" charset="0"/>
                                      </a:rPr>
                                      <m:t>53</m:t>
                                    </m:r>
                                  </m:e>
                                </m:d>
                              </m:e>
                            </m:func>
                          </m:num>
                          <m:den>
                            <m:r>
                              <a:rPr lang="fr-FR" sz="2400" b="0" i="1" smtClean="0">
                                <a:solidFill>
                                  <a:prstClr val="black"/>
                                </a:solidFill>
                                <a:latin typeface="Cambria Math" panose="02040503050406030204" pitchFamily="18" charset="0"/>
                              </a:rPr>
                              <m:t>35</m:t>
                            </m:r>
                          </m:den>
                        </m:f>
                      </m:e>
                    </m:rad>
                    <m:r>
                      <a:rPr lang="fr-FR" sz="2400" b="0" i="1" smtClean="0">
                        <a:solidFill>
                          <a:prstClr val="black"/>
                        </a:solidFill>
                        <a:latin typeface="Cambria Math" panose="02040503050406030204" pitchFamily="18" charset="0"/>
                      </a:rPr>
                      <m:t>≈1,248</m:t>
                    </m:r>
                  </m:oMath>
                </a14:m>
                <a:endParaRPr lang="fr-FR" sz="2400" dirty="0">
                  <a:solidFill>
                    <a:prstClr val="black"/>
                  </a:solidFill>
                  <a:latin typeface="Calibri" panose="020F0502020204030204"/>
                </a:endParaRPr>
              </a:p>
              <a:p>
                <a:pPr marL="800100" lvl="1" indent="-342900">
                  <a:buFont typeface="Arial" panose="020B0604020202020204" pitchFamily="34" charset="0"/>
                  <a:buChar char="•"/>
                  <a:defRPr/>
                </a:pPr>
                <a14:m>
                  <m:oMath xmlns:m="http://schemas.openxmlformats.org/officeDocument/2006/math">
                    <m:f>
                      <m:fPr>
                        <m:ctrlPr>
                          <a:rPr lang="fr-FR" sz="2400" i="1">
                            <a:solidFill>
                              <a:prstClr val="black"/>
                            </a:solidFill>
                            <a:latin typeface="Cambria Math" panose="02040503050406030204" pitchFamily="18" charset="0"/>
                          </a:rPr>
                        </m:ctrlPr>
                      </m:fPr>
                      <m:num>
                        <m:r>
                          <a:rPr lang="fr-FR" sz="2400" b="0" i="1" smtClean="0">
                            <a:solidFill>
                              <a:prstClr val="black"/>
                            </a:solidFill>
                            <a:latin typeface="Cambria Math" panose="02040503050406030204" pitchFamily="18" charset="0"/>
                          </a:rPr>
                          <m:t>10</m:t>
                        </m:r>
                      </m:num>
                      <m:den>
                        <m:r>
                          <a:rPr lang="fr-FR" sz="2400" b="0" i="1" smtClean="0">
                            <a:solidFill>
                              <a:prstClr val="black"/>
                            </a:solidFill>
                            <a:latin typeface="Cambria Math" panose="02040503050406030204" pitchFamily="18" charset="0"/>
                          </a:rPr>
                          <m:t>18</m:t>
                        </m:r>
                      </m:den>
                    </m:f>
                    <m:r>
                      <a:rPr lang="fr-FR" sz="2400" i="1">
                        <a:solidFill>
                          <a:prstClr val="black"/>
                        </a:solidFill>
                        <a:latin typeface="Cambria Math" panose="02040503050406030204" pitchFamily="18" charset="0"/>
                      </a:rPr>
                      <m:t>+</m:t>
                    </m:r>
                    <m:rad>
                      <m:radPr>
                        <m:degHide m:val="on"/>
                        <m:ctrlPr>
                          <a:rPr lang="fr-FR" sz="2400" i="1">
                            <a:solidFill>
                              <a:prstClr val="black"/>
                            </a:solidFill>
                            <a:latin typeface="Cambria Math" panose="02040503050406030204" pitchFamily="18" charset="0"/>
                          </a:rPr>
                        </m:ctrlPr>
                      </m:radPr>
                      <m:deg/>
                      <m:e>
                        <m:r>
                          <a:rPr lang="fr-FR" sz="2400" i="1">
                            <a:solidFill>
                              <a:prstClr val="black"/>
                            </a:solidFill>
                            <a:latin typeface="Cambria Math" panose="02040503050406030204" pitchFamily="18" charset="0"/>
                          </a:rPr>
                          <m:t>2</m:t>
                        </m:r>
                      </m:e>
                    </m:rad>
                    <m:rad>
                      <m:radPr>
                        <m:degHide m:val="on"/>
                        <m:ctrlPr>
                          <a:rPr lang="fr-FR" sz="2400" i="1">
                            <a:solidFill>
                              <a:prstClr val="black"/>
                            </a:solidFill>
                            <a:latin typeface="Cambria Math" panose="02040503050406030204" pitchFamily="18" charset="0"/>
                          </a:rPr>
                        </m:ctrlPr>
                      </m:radPr>
                      <m:deg/>
                      <m:e>
                        <m:f>
                          <m:fPr>
                            <m:ctrlPr>
                              <a:rPr lang="fr-FR" sz="2400" i="1">
                                <a:solidFill>
                                  <a:prstClr val="black"/>
                                </a:solidFill>
                                <a:latin typeface="Cambria Math" panose="02040503050406030204" pitchFamily="18" charset="0"/>
                              </a:rPr>
                            </m:ctrlPr>
                          </m:fPr>
                          <m:num>
                            <m:func>
                              <m:funcPr>
                                <m:ctrlPr>
                                  <a:rPr lang="fr-FR" sz="2400" i="1">
                                    <a:solidFill>
                                      <a:prstClr val="black"/>
                                    </a:solidFill>
                                    <a:latin typeface="Cambria Math" panose="02040503050406030204" pitchFamily="18" charset="0"/>
                                  </a:rPr>
                                </m:ctrlPr>
                              </m:funcPr>
                              <m:fName>
                                <m:r>
                                  <m:rPr>
                                    <m:sty m:val="p"/>
                                  </m:rPr>
                                  <a:rPr lang="fr-FR" sz="2400">
                                    <a:solidFill>
                                      <a:prstClr val="black"/>
                                    </a:solidFill>
                                    <a:latin typeface="Cambria Math" panose="02040503050406030204" pitchFamily="18" charset="0"/>
                                  </a:rPr>
                                  <m:t>ln</m:t>
                                </m:r>
                              </m:fName>
                              <m:e>
                                <m:d>
                                  <m:dPr>
                                    <m:ctrlPr>
                                      <a:rPr lang="fr-FR" sz="2400" i="1">
                                        <a:solidFill>
                                          <a:prstClr val="black"/>
                                        </a:solidFill>
                                        <a:latin typeface="Cambria Math" panose="02040503050406030204" pitchFamily="18" charset="0"/>
                                      </a:rPr>
                                    </m:ctrlPr>
                                  </m:dPr>
                                  <m:e>
                                    <m:r>
                                      <a:rPr lang="fr-FR" sz="2400" b="0" i="1" smtClean="0">
                                        <a:solidFill>
                                          <a:prstClr val="black"/>
                                        </a:solidFill>
                                        <a:latin typeface="Cambria Math" panose="02040503050406030204" pitchFamily="18" charset="0"/>
                                      </a:rPr>
                                      <m:t>53</m:t>
                                    </m:r>
                                  </m:e>
                                </m:d>
                              </m:e>
                            </m:func>
                          </m:num>
                          <m:den>
                            <m:r>
                              <a:rPr lang="fr-FR" sz="2400" b="0" i="1" smtClean="0">
                                <a:solidFill>
                                  <a:prstClr val="black"/>
                                </a:solidFill>
                                <a:latin typeface="Cambria Math" panose="02040503050406030204" pitchFamily="18" charset="0"/>
                              </a:rPr>
                              <m:t>18</m:t>
                            </m:r>
                          </m:den>
                        </m:f>
                      </m:e>
                    </m:rad>
                    <m:r>
                      <a:rPr lang="fr-FR" sz="2400" i="1">
                        <a:solidFill>
                          <a:prstClr val="black"/>
                        </a:solidFill>
                        <a:latin typeface="Cambria Math" panose="02040503050406030204" pitchFamily="18" charset="0"/>
                      </a:rPr>
                      <m:t>≈</m:t>
                    </m:r>
                    <m:r>
                      <a:rPr lang="fr-FR" sz="2400" i="1" smtClean="0">
                        <a:solidFill>
                          <a:prstClr val="black"/>
                        </a:solidFill>
                        <a:latin typeface="Cambria Math" panose="02040503050406030204" pitchFamily="18" charset="0"/>
                      </a:rPr>
                      <m:t>1</m:t>
                    </m:r>
                    <m:r>
                      <a:rPr lang="fr-FR" sz="2400" b="0" i="1" smtClean="0">
                        <a:solidFill>
                          <a:prstClr val="black"/>
                        </a:solidFill>
                        <a:latin typeface="Cambria Math" panose="02040503050406030204" pitchFamily="18" charset="0"/>
                      </a:rPr>
                      <m:t>,220</m:t>
                    </m:r>
                  </m:oMath>
                </a14:m>
                <a:endParaRPr lang="fr-FR" sz="2400" dirty="0">
                  <a:solidFill>
                    <a:prstClr val="black"/>
                  </a:solidFill>
                  <a:latin typeface="Calibri" panose="020F0502020204030204"/>
                </a:endParaRPr>
              </a:p>
              <a:p>
                <a:pPr marL="800100" lvl="1" indent="-342900">
                  <a:buFont typeface="Arial" panose="020B0604020202020204" pitchFamily="34" charset="0"/>
                  <a:buChar char="•"/>
                  <a:defRPr/>
                </a:pPr>
                <a:endParaRPr lang="fr-FR" sz="2400" dirty="0">
                  <a:solidFill>
                    <a:prstClr val="black"/>
                  </a:solidFill>
                  <a:latin typeface="Calibri" panose="020F0502020204030204"/>
                </a:endParaRPr>
              </a:p>
              <a:p>
                <a:pPr marL="342900" indent="-342900">
                  <a:buFont typeface="Arial" panose="020B0604020202020204" pitchFamily="34" charset="0"/>
                  <a:buChar char="•"/>
                  <a:defRPr/>
                </a:pPr>
                <a:r>
                  <a:rPr lang="fr-FR" sz="2400" i="1" dirty="0">
                    <a:solidFill>
                      <a:prstClr val="black"/>
                    </a:solidFill>
                    <a:latin typeface="Calibri" panose="020F0502020204030204"/>
                  </a:rPr>
                  <a:t>In fine</a:t>
                </a:r>
                <a:r>
                  <a:rPr lang="fr-FR" sz="2400" dirty="0">
                    <a:solidFill>
                      <a:prstClr val="black"/>
                    </a:solidFill>
                    <a:latin typeface="Calibri" panose="020F0502020204030204"/>
                  </a:rPr>
                  <a:t>, on sélectionne donc le sommet dont l’évaluation actuelle est </a:t>
                </a:r>
                <a14:m>
                  <m:oMath xmlns:m="http://schemas.openxmlformats.org/officeDocument/2006/math">
                    <m:r>
                      <a:rPr lang="fr-FR" sz="2400" b="0" i="1" smtClean="0">
                        <a:solidFill>
                          <a:prstClr val="black"/>
                        </a:solidFill>
                        <a:latin typeface="Cambria Math" panose="02040503050406030204" pitchFamily="18" charset="0"/>
                      </a:rPr>
                      <m:t>27/35</m:t>
                    </m:r>
                  </m:oMath>
                </a14:m>
                <a:r>
                  <a:rPr lang="fr-FR" sz="2400" dirty="0">
                    <a:solidFill>
                      <a:prstClr val="black"/>
                    </a:solidFill>
                    <a:latin typeface="Calibri" panose="020F0502020204030204"/>
                  </a:rPr>
                  <a:t>.</a:t>
                </a:r>
              </a:p>
            </p:txBody>
          </p:sp>
        </mc:Choice>
        <mc:Fallback xmlns="">
          <p:sp>
            <p:nvSpPr>
              <p:cNvPr id="4" name="ZoneTexte 3">
                <a:extLst>
                  <a:ext uri="{FF2B5EF4-FFF2-40B4-BE49-F238E27FC236}">
                    <a16:creationId xmlns:a16="http://schemas.microsoft.com/office/drawing/2014/main" id="{35CC40E2-4F7F-551E-EA98-3DB51D4C69B8}"/>
                  </a:ext>
                </a:extLst>
              </p:cNvPr>
              <p:cNvSpPr txBox="1">
                <a:spLocks noRot="1" noChangeAspect="1" noMove="1" noResize="1" noEditPoints="1" noAdjustHandles="1" noChangeArrowheads="1" noChangeShapeType="1" noTextEdit="1"/>
              </p:cNvSpPr>
              <p:nvPr/>
            </p:nvSpPr>
            <p:spPr>
              <a:xfrm>
                <a:off x="844826" y="2165822"/>
                <a:ext cx="6480000" cy="3811428"/>
              </a:xfrm>
              <a:prstGeom prst="rect">
                <a:avLst/>
              </a:prstGeom>
              <a:blipFill>
                <a:blip r:embed="rId3"/>
                <a:stretch>
                  <a:fillRect l="-1174" t="-997" r="-1761" b="-2990"/>
                </a:stretch>
              </a:blipFill>
            </p:spPr>
            <p:txBody>
              <a:bodyPr/>
              <a:lstStyle/>
              <a:p>
                <a:r>
                  <a:rPr lang="fr-FR">
                    <a:noFill/>
                  </a:rPr>
                  <a:t> </a:t>
                </a:r>
              </a:p>
            </p:txBody>
          </p:sp>
        </mc:Fallback>
      </mc:AlternateContent>
      <p:pic>
        <p:nvPicPr>
          <p:cNvPr id="6" name="Image 5" descr="Une image contenant diagramme, ligne, cercle&#10;&#10;Le contenu généré par l’IA peut être incorrect.">
            <a:extLst>
              <a:ext uri="{FF2B5EF4-FFF2-40B4-BE49-F238E27FC236}">
                <a16:creationId xmlns:a16="http://schemas.microsoft.com/office/drawing/2014/main" id="{6DACBEC2-3F8F-A0DD-A0F3-52FFD7ACE8F1}"/>
              </a:ext>
            </a:extLst>
          </p:cNvPr>
          <p:cNvPicPr>
            <a:picLocks noChangeAspect="1"/>
          </p:cNvPicPr>
          <p:nvPr/>
        </p:nvPicPr>
        <p:blipFill>
          <a:blip r:embed="rId4"/>
          <a:stretch>
            <a:fillRect/>
          </a:stretch>
        </p:blipFill>
        <p:spPr>
          <a:xfrm>
            <a:off x="7740000" y="2160000"/>
            <a:ext cx="4320000" cy="3330720"/>
          </a:xfrm>
          <a:prstGeom prst="rect">
            <a:avLst/>
          </a:prstGeom>
        </p:spPr>
      </p:pic>
    </p:spTree>
    <p:extLst>
      <p:ext uri="{BB962C8B-B14F-4D97-AF65-F5344CB8AC3E}">
        <p14:creationId xmlns:p14="http://schemas.microsoft.com/office/powerpoint/2010/main" val="236021843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71F40-F078-BE92-0C6E-95EF77A2E5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C7898C6-8AA8-2415-1AC0-215539A4CBB9}"/>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7754A665-EE14-3060-FFEA-370C362F676C}"/>
                  </a:ext>
                </a:extLst>
              </p:cNvPr>
              <p:cNvSpPr txBox="1"/>
              <p:nvPr/>
            </p:nvSpPr>
            <p:spPr>
              <a:xfrm>
                <a:off x="844826" y="1431230"/>
                <a:ext cx="10525539" cy="5301644"/>
              </a:xfrm>
              <a:prstGeom prst="rect">
                <a:avLst/>
              </a:prstGeom>
              <a:noFill/>
            </p:spPr>
            <p:txBody>
              <a:bodyPr wrap="square" rtlCol="0">
                <a:spAutoFit/>
              </a:bodyPr>
              <a:lstStyle/>
              <a:p>
                <a:r>
                  <a:rPr lang="fr-FR" sz="2400" b="1" dirty="0"/>
                  <a:t>Politique de sélection : remarque sur l’exemple et la valeur de </a:t>
                </a:r>
                <a14:m>
                  <m:oMath xmlns:m="http://schemas.openxmlformats.org/officeDocument/2006/math">
                    <m:r>
                      <a:rPr lang="fr-FR" sz="2400" b="1" i="1" smtClean="0">
                        <a:latin typeface="Cambria Math" panose="02040503050406030204" pitchFamily="18" charset="0"/>
                      </a:rPr>
                      <m:t>𝑪</m:t>
                    </m:r>
                  </m:oMath>
                </a14:m>
                <a:endParaRPr lang="fr-FR" sz="2400" b="1" dirty="0"/>
              </a:p>
              <a:p>
                <a:endParaRPr lang="fr-FR" sz="2400" dirty="0"/>
              </a:p>
              <a:p>
                <a:pPr marL="342900" indent="-342900">
                  <a:buFont typeface="Arial" panose="020B0604020202020204" pitchFamily="34" charset="0"/>
                  <a:buChar char="•"/>
                </a:pPr>
                <a:r>
                  <a:rPr lang="fr-FR" sz="2400" dirty="0"/>
                  <a:t>Lors du premier choix on a opté pour le sommet </a:t>
                </a:r>
                <a14:m>
                  <m:oMath xmlns:m="http://schemas.openxmlformats.org/officeDocument/2006/math">
                    <m:r>
                      <a:rPr lang="fr-FR" sz="2400" b="0" i="1" smtClean="0">
                        <a:latin typeface="Cambria Math" panose="02040503050406030204" pitchFamily="18" charset="0"/>
                      </a:rPr>
                      <m:t>60/79</m:t>
                    </m:r>
                  </m:oMath>
                </a14:m>
                <a:r>
                  <a:rPr lang="fr-FR" sz="2400" dirty="0"/>
                  <a:t> qui a un pourcentage de victoires supérieur aux deux autres mais choisir le sommet </a:t>
                </a:r>
                <a14:m>
                  <m:oMath xmlns:m="http://schemas.openxmlformats.org/officeDocument/2006/math">
                    <m:r>
                      <a:rPr lang="fr-FR" sz="2400" b="0" i="1" smtClean="0">
                        <a:latin typeface="Cambria Math" panose="02040503050406030204" pitchFamily="18" charset="0"/>
                      </a:rPr>
                      <m:t>2/11</m:t>
                    </m:r>
                  </m:oMath>
                </a14:m>
                <a:r>
                  <a:rPr lang="fr-FR" sz="2400" dirty="0"/>
                  <a:t> aurait également eu du sens afin de l’explorer un peu plus et d’affiner son évaluation.</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D’ailleurs avec une constante </a:t>
                </a:r>
                <a14:m>
                  <m:oMath xmlns:m="http://schemas.openxmlformats.org/officeDocument/2006/math">
                    <m:r>
                      <a:rPr lang="fr-FR" sz="2400" b="0" i="1" smtClean="0">
                        <a:latin typeface="Cambria Math" panose="02040503050406030204" pitchFamily="18" charset="0"/>
                      </a:rPr>
                      <m:t>𝐶</m:t>
                    </m:r>
                    <m:r>
                      <a:rPr lang="fr-FR" sz="2400" b="0" i="1" smtClean="0">
                        <a:latin typeface="Cambria Math" panose="02040503050406030204" pitchFamily="18" charset="0"/>
                      </a:rPr>
                      <m:t>=1,5</m:t>
                    </m:r>
                  </m:oMath>
                </a14:m>
                <a:r>
                  <a:rPr lang="fr-FR" sz="2400" dirty="0"/>
                  <a:t> c’est ce sommet que l’on aurait choisi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defRPr/>
                </a:pPr>
                <a14:m>
                  <m:oMath xmlns:m="http://schemas.openxmlformats.org/officeDocument/2006/math">
                    <m:f>
                      <m:fPr>
                        <m:ctrlPr>
                          <a:rPr lang="fr-FR" sz="2400" i="1">
                            <a:solidFill>
                              <a:prstClr val="black"/>
                            </a:solidFill>
                            <a:latin typeface="Cambria Math" panose="02040503050406030204" pitchFamily="18" charset="0"/>
                          </a:rPr>
                        </m:ctrlPr>
                      </m:fPr>
                      <m:num>
                        <m:r>
                          <a:rPr lang="fr-FR" sz="2400" i="1">
                            <a:solidFill>
                              <a:prstClr val="black"/>
                            </a:solidFill>
                            <a:latin typeface="Cambria Math" panose="02040503050406030204" pitchFamily="18" charset="0"/>
                          </a:rPr>
                          <m:t>60</m:t>
                        </m:r>
                      </m:num>
                      <m:den>
                        <m:r>
                          <a:rPr lang="fr-FR" sz="2400" i="1">
                            <a:solidFill>
                              <a:prstClr val="black"/>
                            </a:solidFill>
                            <a:latin typeface="Cambria Math" panose="02040503050406030204" pitchFamily="18" charset="0"/>
                          </a:rPr>
                          <m:t>79</m:t>
                        </m:r>
                      </m:den>
                    </m:f>
                    <m:r>
                      <a:rPr lang="fr-FR" sz="2400" i="1">
                        <a:solidFill>
                          <a:prstClr val="black"/>
                        </a:solidFill>
                        <a:latin typeface="Cambria Math" panose="02040503050406030204" pitchFamily="18" charset="0"/>
                      </a:rPr>
                      <m:t>+</m:t>
                    </m:r>
                    <m:r>
                      <a:rPr lang="fr-FR" sz="2400" b="0" i="1" smtClean="0">
                        <a:solidFill>
                          <a:prstClr val="black"/>
                        </a:solidFill>
                        <a:latin typeface="Cambria Math" panose="02040503050406030204" pitchFamily="18" charset="0"/>
                      </a:rPr>
                      <m:t>1,5</m:t>
                    </m:r>
                    <m:rad>
                      <m:radPr>
                        <m:degHide m:val="on"/>
                        <m:ctrlPr>
                          <a:rPr lang="fr-FR" sz="2400" i="1">
                            <a:solidFill>
                              <a:prstClr val="black"/>
                            </a:solidFill>
                            <a:latin typeface="Cambria Math" panose="02040503050406030204" pitchFamily="18" charset="0"/>
                          </a:rPr>
                        </m:ctrlPr>
                      </m:radPr>
                      <m:deg/>
                      <m:e>
                        <m:f>
                          <m:fPr>
                            <m:ctrlPr>
                              <a:rPr lang="fr-FR" sz="2400" i="1">
                                <a:solidFill>
                                  <a:prstClr val="black"/>
                                </a:solidFill>
                                <a:latin typeface="Cambria Math" panose="02040503050406030204" pitchFamily="18" charset="0"/>
                              </a:rPr>
                            </m:ctrlPr>
                          </m:fPr>
                          <m:num>
                            <m:func>
                              <m:funcPr>
                                <m:ctrlPr>
                                  <a:rPr lang="fr-FR" sz="2400" i="1">
                                    <a:solidFill>
                                      <a:prstClr val="black"/>
                                    </a:solidFill>
                                    <a:latin typeface="Cambria Math" panose="02040503050406030204" pitchFamily="18" charset="0"/>
                                  </a:rPr>
                                </m:ctrlPr>
                              </m:funcPr>
                              <m:fName>
                                <m:r>
                                  <m:rPr>
                                    <m:sty m:val="p"/>
                                  </m:rPr>
                                  <a:rPr lang="fr-FR" sz="2400">
                                    <a:solidFill>
                                      <a:prstClr val="black"/>
                                    </a:solidFill>
                                    <a:latin typeface="Cambria Math" panose="02040503050406030204" pitchFamily="18" charset="0"/>
                                  </a:rPr>
                                  <m:t>ln</m:t>
                                </m:r>
                              </m:fName>
                              <m:e>
                                <m:d>
                                  <m:dPr>
                                    <m:ctrlPr>
                                      <a:rPr lang="fr-FR" sz="2400" i="1">
                                        <a:solidFill>
                                          <a:prstClr val="black"/>
                                        </a:solidFill>
                                        <a:latin typeface="Cambria Math" panose="02040503050406030204" pitchFamily="18" charset="0"/>
                                      </a:rPr>
                                    </m:ctrlPr>
                                  </m:dPr>
                                  <m:e>
                                    <m:r>
                                      <a:rPr lang="fr-FR" sz="2400" i="1">
                                        <a:solidFill>
                                          <a:prstClr val="black"/>
                                        </a:solidFill>
                                        <a:latin typeface="Cambria Math" panose="02040503050406030204" pitchFamily="18" charset="0"/>
                                      </a:rPr>
                                      <m:t>100</m:t>
                                    </m:r>
                                  </m:e>
                                </m:d>
                              </m:e>
                            </m:func>
                          </m:num>
                          <m:den>
                            <m:r>
                              <a:rPr lang="fr-FR" sz="2400" i="1">
                                <a:solidFill>
                                  <a:prstClr val="black"/>
                                </a:solidFill>
                                <a:latin typeface="Cambria Math" panose="02040503050406030204" pitchFamily="18" charset="0"/>
                              </a:rPr>
                              <m:t>79</m:t>
                            </m:r>
                          </m:den>
                        </m:f>
                      </m:e>
                    </m:rad>
                    <m:r>
                      <a:rPr lang="fr-FR" sz="2400" i="1">
                        <a:solidFill>
                          <a:prstClr val="black"/>
                        </a:solidFill>
                        <a:latin typeface="Cambria Math" panose="02040503050406030204" pitchFamily="18" charset="0"/>
                      </a:rPr>
                      <m:t>≈1,1</m:t>
                    </m:r>
                    <m:r>
                      <a:rPr lang="fr-FR" sz="2400" b="0" i="1" smtClean="0">
                        <a:solidFill>
                          <a:prstClr val="black"/>
                        </a:solidFill>
                        <a:latin typeface="Cambria Math" panose="02040503050406030204" pitchFamily="18" charset="0"/>
                      </a:rPr>
                      <m:t>22</m:t>
                    </m:r>
                  </m:oMath>
                </a14:m>
                <a:endParaRPr lang="fr-FR" sz="2400" dirty="0">
                  <a:solidFill>
                    <a:prstClr val="black"/>
                  </a:solidFill>
                </a:endParaRPr>
              </a:p>
              <a:p>
                <a:pPr marL="800100" lvl="1" indent="-342900">
                  <a:buFont typeface="Arial" panose="020B0604020202020204" pitchFamily="34" charset="0"/>
                  <a:buChar char="•"/>
                  <a:defRPr/>
                </a:pPr>
                <a14:m>
                  <m:oMath xmlns:m="http://schemas.openxmlformats.org/officeDocument/2006/math">
                    <m:f>
                      <m:fPr>
                        <m:ctrlPr>
                          <a:rPr lang="fr-FR" sz="2400" i="1">
                            <a:solidFill>
                              <a:prstClr val="black"/>
                            </a:solidFill>
                            <a:latin typeface="Cambria Math" panose="02040503050406030204" pitchFamily="18" charset="0"/>
                          </a:rPr>
                        </m:ctrlPr>
                      </m:fPr>
                      <m:num>
                        <m:r>
                          <a:rPr lang="fr-FR" sz="2400" i="1">
                            <a:solidFill>
                              <a:prstClr val="black"/>
                            </a:solidFill>
                            <a:latin typeface="Cambria Math" panose="02040503050406030204" pitchFamily="18" charset="0"/>
                          </a:rPr>
                          <m:t>1</m:t>
                        </m:r>
                      </m:num>
                      <m:den>
                        <m:r>
                          <a:rPr lang="fr-FR" sz="2400" i="1">
                            <a:solidFill>
                              <a:prstClr val="black"/>
                            </a:solidFill>
                            <a:latin typeface="Cambria Math" panose="02040503050406030204" pitchFamily="18" charset="0"/>
                          </a:rPr>
                          <m:t>10</m:t>
                        </m:r>
                      </m:den>
                    </m:f>
                    <m:r>
                      <a:rPr lang="fr-FR" sz="2400" i="1">
                        <a:solidFill>
                          <a:prstClr val="black"/>
                        </a:solidFill>
                        <a:latin typeface="Cambria Math" panose="02040503050406030204" pitchFamily="18" charset="0"/>
                      </a:rPr>
                      <m:t>+</m:t>
                    </m:r>
                    <m:r>
                      <a:rPr lang="fr-FR" sz="2400" b="0" i="1" smtClean="0">
                        <a:solidFill>
                          <a:prstClr val="black"/>
                        </a:solidFill>
                        <a:latin typeface="Cambria Math" panose="02040503050406030204" pitchFamily="18" charset="0"/>
                      </a:rPr>
                      <m:t>1,5</m:t>
                    </m:r>
                    <m:rad>
                      <m:radPr>
                        <m:degHide m:val="on"/>
                        <m:ctrlPr>
                          <a:rPr lang="fr-FR" sz="2400" i="1">
                            <a:solidFill>
                              <a:prstClr val="black"/>
                            </a:solidFill>
                            <a:latin typeface="Cambria Math" panose="02040503050406030204" pitchFamily="18" charset="0"/>
                          </a:rPr>
                        </m:ctrlPr>
                      </m:radPr>
                      <m:deg/>
                      <m:e>
                        <m:f>
                          <m:fPr>
                            <m:ctrlPr>
                              <a:rPr lang="fr-FR" sz="2400" i="1">
                                <a:solidFill>
                                  <a:prstClr val="black"/>
                                </a:solidFill>
                                <a:latin typeface="Cambria Math" panose="02040503050406030204" pitchFamily="18" charset="0"/>
                              </a:rPr>
                            </m:ctrlPr>
                          </m:fPr>
                          <m:num>
                            <m:func>
                              <m:funcPr>
                                <m:ctrlPr>
                                  <a:rPr lang="fr-FR" sz="2400" i="1">
                                    <a:solidFill>
                                      <a:prstClr val="black"/>
                                    </a:solidFill>
                                    <a:latin typeface="Cambria Math" panose="02040503050406030204" pitchFamily="18" charset="0"/>
                                  </a:rPr>
                                </m:ctrlPr>
                              </m:funcPr>
                              <m:fName>
                                <m:r>
                                  <m:rPr>
                                    <m:sty m:val="p"/>
                                  </m:rPr>
                                  <a:rPr lang="fr-FR" sz="2400">
                                    <a:solidFill>
                                      <a:prstClr val="black"/>
                                    </a:solidFill>
                                    <a:latin typeface="Cambria Math" panose="02040503050406030204" pitchFamily="18" charset="0"/>
                                  </a:rPr>
                                  <m:t>ln</m:t>
                                </m:r>
                              </m:fName>
                              <m:e>
                                <m:d>
                                  <m:dPr>
                                    <m:ctrlPr>
                                      <a:rPr lang="fr-FR" sz="2400" i="1">
                                        <a:solidFill>
                                          <a:prstClr val="black"/>
                                        </a:solidFill>
                                        <a:latin typeface="Cambria Math" panose="02040503050406030204" pitchFamily="18" charset="0"/>
                                      </a:rPr>
                                    </m:ctrlPr>
                                  </m:dPr>
                                  <m:e>
                                    <m:r>
                                      <a:rPr lang="fr-FR" sz="2400" i="1">
                                        <a:solidFill>
                                          <a:prstClr val="black"/>
                                        </a:solidFill>
                                        <a:latin typeface="Cambria Math" panose="02040503050406030204" pitchFamily="18" charset="0"/>
                                      </a:rPr>
                                      <m:t>100</m:t>
                                    </m:r>
                                  </m:e>
                                </m:d>
                              </m:e>
                            </m:func>
                          </m:num>
                          <m:den>
                            <m:r>
                              <a:rPr lang="fr-FR" sz="2400" i="1">
                                <a:solidFill>
                                  <a:prstClr val="black"/>
                                </a:solidFill>
                                <a:latin typeface="Cambria Math" panose="02040503050406030204" pitchFamily="18" charset="0"/>
                              </a:rPr>
                              <m:t>10</m:t>
                            </m:r>
                          </m:den>
                        </m:f>
                      </m:e>
                    </m:rad>
                    <m:r>
                      <a:rPr lang="fr-FR" sz="2400" i="1">
                        <a:solidFill>
                          <a:prstClr val="black"/>
                        </a:solidFill>
                        <a:latin typeface="Cambria Math" panose="02040503050406030204" pitchFamily="18" charset="0"/>
                      </a:rPr>
                      <m:t>≈1,</m:t>
                    </m:r>
                    <m:r>
                      <a:rPr lang="fr-FR" sz="2400" b="0" i="1" smtClean="0">
                        <a:solidFill>
                          <a:prstClr val="black"/>
                        </a:solidFill>
                        <a:latin typeface="Cambria Math" panose="02040503050406030204" pitchFamily="18" charset="0"/>
                      </a:rPr>
                      <m:t>118</m:t>
                    </m:r>
                  </m:oMath>
                </a14:m>
                <a:endParaRPr lang="fr-FR" sz="2400" dirty="0">
                  <a:solidFill>
                    <a:prstClr val="black"/>
                  </a:solidFill>
                </a:endParaRPr>
              </a:p>
              <a:p>
                <a:pPr marL="800100" lvl="1" indent="-342900">
                  <a:buFont typeface="Arial" panose="020B0604020202020204" pitchFamily="34" charset="0"/>
                  <a:buChar char="•"/>
                  <a:defRPr/>
                </a:pPr>
                <a14:m>
                  <m:oMath xmlns:m="http://schemas.openxmlformats.org/officeDocument/2006/math">
                    <m:f>
                      <m:fPr>
                        <m:ctrlPr>
                          <a:rPr lang="fr-FR" sz="2400" i="1">
                            <a:solidFill>
                              <a:prstClr val="black"/>
                            </a:solidFill>
                            <a:latin typeface="Cambria Math" panose="02040503050406030204" pitchFamily="18" charset="0"/>
                          </a:rPr>
                        </m:ctrlPr>
                      </m:fPr>
                      <m:num>
                        <m:r>
                          <a:rPr lang="fr-FR" sz="2400" i="1">
                            <a:solidFill>
                              <a:prstClr val="black"/>
                            </a:solidFill>
                            <a:latin typeface="Cambria Math" panose="02040503050406030204" pitchFamily="18" charset="0"/>
                          </a:rPr>
                          <m:t>2</m:t>
                        </m:r>
                      </m:num>
                      <m:den>
                        <m:r>
                          <a:rPr lang="fr-FR" sz="2400" i="1">
                            <a:solidFill>
                              <a:prstClr val="black"/>
                            </a:solidFill>
                            <a:latin typeface="Cambria Math" panose="02040503050406030204" pitchFamily="18" charset="0"/>
                          </a:rPr>
                          <m:t>11</m:t>
                        </m:r>
                      </m:den>
                    </m:f>
                    <m:r>
                      <a:rPr lang="fr-FR" sz="2400" i="1">
                        <a:solidFill>
                          <a:prstClr val="black"/>
                        </a:solidFill>
                        <a:latin typeface="Cambria Math" panose="02040503050406030204" pitchFamily="18" charset="0"/>
                      </a:rPr>
                      <m:t>+</m:t>
                    </m:r>
                    <m:rad>
                      <m:radPr>
                        <m:degHide m:val="on"/>
                        <m:ctrlPr>
                          <a:rPr lang="fr-FR" sz="2400" i="1" smtClean="0">
                            <a:solidFill>
                              <a:prstClr val="black"/>
                            </a:solidFill>
                            <a:latin typeface="Cambria Math" panose="02040503050406030204" pitchFamily="18" charset="0"/>
                          </a:rPr>
                        </m:ctrlPr>
                      </m:radPr>
                      <m:deg/>
                      <m:e>
                        <m:r>
                          <a:rPr lang="fr-FR" sz="2400" i="1">
                            <a:solidFill>
                              <a:prstClr val="black"/>
                            </a:solidFill>
                            <a:latin typeface="Cambria Math" panose="02040503050406030204" pitchFamily="18" charset="0"/>
                          </a:rPr>
                          <m:t>2</m:t>
                        </m:r>
                      </m:e>
                    </m:rad>
                    <m:rad>
                      <m:radPr>
                        <m:degHide m:val="on"/>
                        <m:ctrlPr>
                          <a:rPr lang="fr-FR" sz="2400" i="1">
                            <a:solidFill>
                              <a:prstClr val="black"/>
                            </a:solidFill>
                            <a:latin typeface="Cambria Math" panose="02040503050406030204" pitchFamily="18" charset="0"/>
                          </a:rPr>
                        </m:ctrlPr>
                      </m:radPr>
                      <m:deg/>
                      <m:e>
                        <m:f>
                          <m:fPr>
                            <m:ctrlPr>
                              <a:rPr lang="fr-FR" sz="2400" i="1">
                                <a:solidFill>
                                  <a:prstClr val="black"/>
                                </a:solidFill>
                                <a:latin typeface="Cambria Math" panose="02040503050406030204" pitchFamily="18" charset="0"/>
                              </a:rPr>
                            </m:ctrlPr>
                          </m:fPr>
                          <m:num>
                            <m:func>
                              <m:funcPr>
                                <m:ctrlPr>
                                  <a:rPr lang="fr-FR" sz="2400" i="1">
                                    <a:solidFill>
                                      <a:prstClr val="black"/>
                                    </a:solidFill>
                                    <a:latin typeface="Cambria Math" panose="02040503050406030204" pitchFamily="18" charset="0"/>
                                  </a:rPr>
                                </m:ctrlPr>
                              </m:funcPr>
                              <m:fName>
                                <m:r>
                                  <m:rPr>
                                    <m:sty m:val="p"/>
                                  </m:rPr>
                                  <a:rPr lang="fr-FR" sz="2400">
                                    <a:solidFill>
                                      <a:prstClr val="black"/>
                                    </a:solidFill>
                                    <a:latin typeface="Cambria Math" panose="02040503050406030204" pitchFamily="18" charset="0"/>
                                  </a:rPr>
                                  <m:t>ln</m:t>
                                </m:r>
                              </m:fName>
                              <m:e>
                                <m:d>
                                  <m:dPr>
                                    <m:ctrlPr>
                                      <a:rPr lang="fr-FR" sz="2400" i="1">
                                        <a:solidFill>
                                          <a:prstClr val="black"/>
                                        </a:solidFill>
                                        <a:latin typeface="Cambria Math" panose="02040503050406030204" pitchFamily="18" charset="0"/>
                                      </a:rPr>
                                    </m:ctrlPr>
                                  </m:dPr>
                                  <m:e>
                                    <m:r>
                                      <a:rPr lang="fr-FR" sz="2400" i="1">
                                        <a:solidFill>
                                          <a:prstClr val="black"/>
                                        </a:solidFill>
                                        <a:latin typeface="Cambria Math" panose="02040503050406030204" pitchFamily="18" charset="0"/>
                                      </a:rPr>
                                      <m:t>100</m:t>
                                    </m:r>
                                  </m:e>
                                </m:d>
                              </m:e>
                            </m:func>
                          </m:num>
                          <m:den>
                            <m:r>
                              <a:rPr lang="fr-FR" sz="2400" i="1">
                                <a:solidFill>
                                  <a:prstClr val="black"/>
                                </a:solidFill>
                                <a:latin typeface="Cambria Math" panose="02040503050406030204" pitchFamily="18" charset="0"/>
                              </a:rPr>
                              <m:t>11</m:t>
                            </m:r>
                          </m:den>
                        </m:f>
                      </m:e>
                    </m:rad>
                    <m:r>
                      <a:rPr lang="fr-FR" sz="2400" i="1">
                        <a:solidFill>
                          <a:prstClr val="black"/>
                        </a:solidFill>
                        <a:latin typeface="Cambria Math" panose="02040503050406030204" pitchFamily="18" charset="0"/>
                      </a:rPr>
                      <m:t>≈1,</m:t>
                    </m:r>
                    <m:r>
                      <a:rPr lang="fr-FR" sz="2400" b="0" i="1" smtClean="0">
                        <a:solidFill>
                          <a:prstClr val="black"/>
                        </a:solidFill>
                        <a:latin typeface="Cambria Math" panose="02040503050406030204" pitchFamily="18" charset="0"/>
                      </a:rPr>
                      <m:t>152</m:t>
                    </m:r>
                  </m:oMath>
                </a14:m>
                <a:endParaRPr lang="fr-FR" sz="2400" dirty="0"/>
              </a:p>
            </p:txBody>
          </p:sp>
        </mc:Choice>
        <mc:Fallback xmlns="">
          <p:sp>
            <p:nvSpPr>
              <p:cNvPr id="3" name="ZoneTexte 2">
                <a:extLst>
                  <a:ext uri="{FF2B5EF4-FFF2-40B4-BE49-F238E27FC236}">
                    <a16:creationId xmlns:a16="http://schemas.microsoft.com/office/drawing/2014/main" id="{7754A665-EE14-3060-FFEA-370C362F676C}"/>
                  </a:ext>
                </a:extLst>
              </p:cNvPr>
              <p:cNvSpPr txBox="1">
                <a:spLocks noRot="1" noChangeAspect="1" noMove="1" noResize="1" noEditPoints="1" noAdjustHandles="1" noChangeArrowheads="1" noChangeShapeType="1" noTextEdit="1"/>
              </p:cNvSpPr>
              <p:nvPr/>
            </p:nvSpPr>
            <p:spPr>
              <a:xfrm>
                <a:off x="844826" y="1431230"/>
                <a:ext cx="10525539" cy="5301644"/>
              </a:xfrm>
              <a:prstGeom prst="rect">
                <a:avLst/>
              </a:prstGeom>
              <a:blipFill>
                <a:blip r:embed="rId3"/>
                <a:stretch>
                  <a:fillRect l="-843" t="-718" r="-602"/>
                </a:stretch>
              </a:blipFill>
            </p:spPr>
            <p:txBody>
              <a:bodyPr/>
              <a:lstStyle/>
              <a:p>
                <a:r>
                  <a:rPr lang="fr-FR">
                    <a:noFill/>
                  </a:rPr>
                  <a:t> </a:t>
                </a:r>
              </a:p>
            </p:txBody>
          </p:sp>
        </mc:Fallback>
      </mc:AlternateContent>
    </p:spTree>
    <p:extLst>
      <p:ext uri="{BB962C8B-B14F-4D97-AF65-F5344CB8AC3E}">
        <p14:creationId xmlns:p14="http://schemas.microsoft.com/office/powerpoint/2010/main" val="42879428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EEC84-2A98-821D-546B-5DFBBD95333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E2CE68C-4DE1-C198-AE49-9EABF3C81C5A}"/>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166CFC8C-C587-1EBB-5017-F1BE6E6526F7}"/>
              </a:ext>
            </a:extLst>
          </p:cNvPr>
          <p:cNvSpPr txBox="1"/>
          <p:nvPr/>
        </p:nvSpPr>
        <p:spPr>
          <a:xfrm>
            <a:off x="844826" y="1431230"/>
            <a:ext cx="10525539" cy="2677656"/>
          </a:xfrm>
          <a:prstGeom prst="rect">
            <a:avLst/>
          </a:prstGeom>
          <a:noFill/>
        </p:spPr>
        <p:txBody>
          <a:bodyPr wrap="square" rtlCol="0">
            <a:spAutoFit/>
          </a:bodyPr>
          <a:lstStyle/>
          <a:p>
            <a:r>
              <a:rPr lang="fr-FR" sz="2400" b="1" dirty="0"/>
              <a:t>Politique de sélection : remarque sur les premières itérations</a:t>
            </a:r>
          </a:p>
          <a:p>
            <a:endParaRPr lang="fr-FR" sz="2400" dirty="0"/>
          </a:p>
          <a:p>
            <a:pPr marL="342900" indent="-342900">
              <a:buFont typeface="Arial" panose="020B0604020202020204" pitchFamily="34" charset="0"/>
              <a:buChar char="•"/>
            </a:pPr>
            <a:r>
              <a:rPr lang="fr-FR" sz="2400" dirty="0"/>
              <a:t>Initialement l’arbre de recherche ne comporte que la racine qui n’est bien sûr pas complètement déployée.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Les premières itérations vont donc consister à ajouter un par un les enfants de la racine à l’arbre de recherche : </a:t>
            </a:r>
          </a:p>
        </p:txBody>
      </p:sp>
      <p:pic>
        <p:nvPicPr>
          <p:cNvPr id="11" name="Image 10" descr="Une image contenant ligne, cercle, conception&#10;&#10;Le contenu généré par l’IA peut être incorrect.">
            <a:extLst>
              <a:ext uri="{FF2B5EF4-FFF2-40B4-BE49-F238E27FC236}">
                <a16:creationId xmlns:a16="http://schemas.microsoft.com/office/drawing/2014/main" id="{F44DCA59-1C5C-1971-C6FD-C861D4F2435B}"/>
              </a:ext>
            </a:extLst>
          </p:cNvPr>
          <p:cNvPicPr>
            <a:picLocks noChangeAspect="1"/>
          </p:cNvPicPr>
          <p:nvPr/>
        </p:nvPicPr>
        <p:blipFill>
          <a:blip r:embed="rId3"/>
          <a:stretch>
            <a:fillRect/>
          </a:stretch>
        </p:blipFill>
        <p:spPr>
          <a:xfrm>
            <a:off x="2209800" y="4393072"/>
            <a:ext cx="7772400" cy="1476756"/>
          </a:xfrm>
          <a:prstGeom prst="rect">
            <a:avLst/>
          </a:prstGeom>
        </p:spPr>
      </p:pic>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A0D015C1-0676-5F6C-C9D1-F60914DDB1CE}"/>
                  </a:ext>
                </a:extLst>
              </p:cNvPr>
              <p:cNvSpPr txBox="1"/>
              <p:nvPr/>
            </p:nvSpPr>
            <p:spPr>
              <a:xfrm>
                <a:off x="3702754" y="5938876"/>
                <a:ext cx="1636889" cy="369332"/>
              </a:xfrm>
              <a:prstGeom prst="rect">
                <a:avLst/>
              </a:prstGeom>
              <a:noFill/>
            </p:spPr>
            <p:txBody>
              <a:bodyPr wrap="square" rtlCol="0">
                <a:spAutoFit/>
              </a:bodyPr>
              <a:lstStyle/>
              <a:p>
                <a:pPr algn="ctr"/>
                <a:r>
                  <a:rPr lang="fr-FR" dirty="0"/>
                  <a:t>Itération </a:t>
                </a:r>
                <a14:m>
                  <m:oMath xmlns:m="http://schemas.openxmlformats.org/officeDocument/2006/math">
                    <m:r>
                      <a:rPr lang="fr-FR" b="0" i="1" smtClean="0">
                        <a:latin typeface="Cambria Math" panose="02040503050406030204" pitchFamily="18" charset="0"/>
                      </a:rPr>
                      <m:t>𝑛</m:t>
                    </m:r>
                    <m:r>
                      <a:rPr lang="fr-FR" b="0" i="1" smtClean="0">
                        <a:latin typeface="Cambria Math" panose="02040503050406030204" pitchFamily="18" charset="0"/>
                      </a:rPr>
                      <m:t>°1</m:t>
                    </m:r>
                  </m:oMath>
                </a14:m>
                <a:endParaRPr lang="fr-FR" dirty="0"/>
              </a:p>
            </p:txBody>
          </p:sp>
        </mc:Choice>
        <mc:Fallback xmlns="">
          <p:sp>
            <p:nvSpPr>
              <p:cNvPr id="12" name="ZoneTexte 11">
                <a:extLst>
                  <a:ext uri="{FF2B5EF4-FFF2-40B4-BE49-F238E27FC236}">
                    <a16:creationId xmlns:a16="http://schemas.microsoft.com/office/drawing/2014/main" id="{A0D015C1-0676-5F6C-C9D1-F60914DDB1CE}"/>
                  </a:ext>
                </a:extLst>
              </p:cNvPr>
              <p:cNvSpPr txBox="1">
                <a:spLocks noRot="1" noChangeAspect="1" noMove="1" noResize="1" noEditPoints="1" noAdjustHandles="1" noChangeArrowheads="1" noChangeShapeType="1" noTextEdit="1"/>
              </p:cNvSpPr>
              <p:nvPr/>
            </p:nvSpPr>
            <p:spPr>
              <a:xfrm>
                <a:off x="3702754" y="5938876"/>
                <a:ext cx="1636889" cy="369332"/>
              </a:xfrm>
              <a:prstGeom prst="rect">
                <a:avLst/>
              </a:prstGeom>
              <a:blipFill>
                <a:blip r:embed="rId4"/>
                <a:stretch>
                  <a:fillRect t="-6667" b="-2666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2595BF45-47D8-E007-8790-DE700649375E}"/>
                  </a:ext>
                </a:extLst>
              </p:cNvPr>
              <p:cNvSpPr txBox="1"/>
              <p:nvPr/>
            </p:nvSpPr>
            <p:spPr>
              <a:xfrm>
                <a:off x="5966177" y="5938876"/>
                <a:ext cx="1636889" cy="369332"/>
              </a:xfrm>
              <a:prstGeom prst="rect">
                <a:avLst/>
              </a:prstGeom>
              <a:noFill/>
            </p:spPr>
            <p:txBody>
              <a:bodyPr wrap="square" rtlCol="0">
                <a:spAutoFit/>
              </a:bodyPr>
              <a:lstStyle/>
              <a:p>
                <a:pPr algn="ctr"/>
                <a:r>
                  <a:rPr lang="fr-FR" dirty="0"/>
                  <a:t>Itération </a:t>
                </a:r>
                <a14:m>
                  <m:oMath xmlns:m="http://schemas.openxmlformats.org/officeDocument/2006/math">
                    <m:r>
                      <a:rPr lang="fr-FR" b="0" i="1" smtClean="0">
                        <a:latin typeface="Cambria Math" panose="02040503050406030204" pitchFamily="18" charset="0"/>
                      </a:rPr>
                      <m:t>𝑛</m:t>
                    </m:r>
                    <m:r>
                      <a:rPr lang="fr-FR" b="0" i="1" smtClean="0">
                        <a:latin typeface="Cambria Math" panose="02040503050406030204" pitchFamily="18" charset="0"/>
                      </a:rPr>
                      <m:t>°2</m:t>
                    </m:r>
                  </m:oMath>
                </a14:m>
                <a:endParaRPr lang="fr-FR" dirty="0"/>
              </a:p>
            </p:txBody>
          </p:sp>
        </mc:Choice>
        <mc:Fallback xmlns="">
          <p:sp>
            <p:nvSpPr>
              <p:cNvPr id="13" name="ZoneTexte 12">
                <a:extLst>
                  <a:ext uri="{FF2B5EF4-FFF2-40B4-BE49-F238E27FC236}">
                    <a16:creationId xmlns:a16="http://schemas.microsoft.com/office/drawing/2014/main" id="{2595BF45-47D8-E007-8790-DE700649375E}"/>
                  </a:ext>
                </a:extLst>
              </p:cNvPr>
              <p:cNvSpPr txBox="1">
                <a:spLocks noRot="1" noChangeAspect="1" noMove="1" noResize="1" noEditPoints="1" noAdjustHandles="1" noChangeArrowheads="1" noChangeShapeType="1" noTextEdit="1"/>
              </p:cNvSpPr>
              <p:nvPr/>
            </p:nvSpPr>
            <p:spPr>
              <a:xfrm>
                <a:off x="5966177" y="5938876"/>
                <a:ext cx="1636889" cy="369332"/>
              </a:xfrm>
              <a:prstGeom prst="rect">
                <a:avLst/>
              </a:prstGeom>
              <a:blipFill>
                <a:blip r:embed="rId5"/>
                <a:stretch>
                  <a:fillRect t="-6667" b="-2666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581221A6-DB8F-658F-D743-13933F564CEB}"/>
                  </a:ext>
                </a:extLst>
              </p:cNvPr>
              <p:cNvSpPr txBox="1"/>
              <p:nvPr/>
            </p:nvSpPr>
            <p:spPr>
              <a:xfrm>
                <a:off x="8427154" y="5938876"/>
                <a:ext cx="1636889" cy="369332"/>
              </a:xfrm>
              <a:prstGeom prst="rect">
                <a:avLst/>
              </a:prstGeom>
              <a:noFill/>
            </p:spPr>
            <p:txBody>
              <a:bodyPr wrap="square" rtlCol="0">
                <a:spAutoFit/>
              </a:bodyPr>
              <a:lstStyle/>
              <a:p>
                <a:pPr algn="ctr"/>
                <a:r>
                  <a:rPr lang="fr-FR" dirty="0"/>
                  <a:t>Itération </a:t>
                </a:r>
                <a14:m>
                  <m:oMath xmlns:m="http://schemas.openxmlformats.org/officeDocument/2006/math">
                    <m:r>
                      <a:rPr lang="fr-FR" b="0" i="1" smtClean="0">
                        <a:latin typeface="Cambria Math" panose="02040503050406030204" pitchFamily="18" charset="0"/>
                      </a:rPr>
                      <m:t>𝑛</m:t>
                    </m:r>
                    <m:r>
                      <a:rPr lang="fr-FR" b="0" i="1" smtClean="0">
                        <a:latin typeface="Cambria Math" panose="02040503050406030204" pitchFamily="18" charset="0"/>
                      </a:rPr>
                      <m:t>°3</m:t>
                    </m:r>
                  </m:oMath>
                </a14:m>
                <a:endParaRPr lang="fr-FR" dirty="0"/>
              </a:p>
            </p:txBody>
          </p:sp>
        </mc:Choice>
        <mc:Fallback xmlns="">
          <p:sp>
            <p:nvSpPr>
              <p:cNvPr id="14" name="ZoneTexte 13">
                <a:extLst>
                  <a:ext uri="{FF2B5EF4-FFF2-40B4-BE49-F238E27FC236}">
                    <a16:creationId xmlns:a16="http://schemas.microsoft.com/office/drawing/2014/main" id="{581221A6-DB8F-658F-D743-13933F564CEB}"/>
                  </a:ext>
                </a:extLst>
              </p:cNvPr>
              <p:cNvSpPr txBox="1">
                <a:spLocks noRot="1" noChangeAspect="1" noMove="1" noResize="1" noEditPoints="1" noAdjustHandles="1" noChangeArrowheads="1" noChangeShapeType="1" noTextEdit="1"/>
              </p:cNvSpPr>
              <p:nvPr/>
            </p:nvSpPr>
            <p:spPr>
              <a:xfrm>
                <a:off x="8427154" y="5938876"/>
                <a:ext cx="1636889" cy="369332"/>
              </a:xfrm>
              <a:prstGeom prst="rect">
                <a:avLst/>
              </a:prstGeom>
              <a:blipFill>
                <a:blip r:embed="rId6"/>
                <a:stretch>
                  <a:fillRect t="-6667" b="-26667"/>
                </a:stretch>
              </a:blipFill>
            </p:spPr>
            <p:txBody>
              <a:bodyPr/>
              <a:lstStyle/>
              <a:p>
                <a:r>
                  <a:rPr lang="fr-FR">
                    <a:noFill/>
                  </a:rPr>
                  <a:t> </a:t>
                </a:r>
              </a:p>
            </p:txBody>
          </p:sp>
        </mc:Fallback>
      </mc:AlternateContent>
      <p:sp>
        <p:nvSpPr>
          <p:cNvPr id="15" name="ZoneTexte 14">
            <a:extLst>
              <a:ext uri="{FF2B5EF4-FFF2-40B4-BE49-F238E27FC236}">
                <a16:creationId xmlns:a16="http://schemas.microsoft.com/office/drawing/2014/main" id="{C0263EB5-8A92-E490-5CD8-CC8FF2946DE1}"/>
              </a:ext>
            </a:extLst>
          </p:cNvPr>
          <p:cNvSpPr txBox="1"/>
          <p:nvPr/>
        </p:nvSpPr>
        <p:spPr>
          <a:xfrm>
            <a:off x="1653821" y="5800376"/>
            <a:ext cx="1636889" cy="646331"/>
          </a:xfrm>
          <a:prstGeom prst="rect">
            <a:avLst/>
          </a:prstGeom>
          <a:noFill/>
        </p:spPr>
        <p:txBody>
          <a:bodyPr wrap="square" rtlCol="0">
            <a:spAutoFit/>
          </a:bodyPr>
          <a:lstStyle/>
          <a:p>
            <a:pPr algn="ctr"/>
            <a:r>
              <a:rPr lang="fr-FR" dirty="0"/>
              <a:t>Création de l’arbre</a:t>
            </a:r>
          </a:p>
        </p:txBody>
      </p:sp>
    </p:spTree>
    <p:extLst>
      <p:ext uri="{BB962C8B-B14F-4D97-AF65-F5344CB8AC3E}">
        <p14:creationId xmlns:p14="http://schemas.microsoft.com/office/powerpoint/2010/main" val="115255722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B05FA-8A55-C0B8-1140-3573919E9C3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2F50A1-EB9C-6041-3050-CD8FD9512BE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17075712-709F-CDF6-948B-31E0DD185AD9}"/>
              </a:ext>
            </a:extLst>
          </p:cNvPr>
          <p:cNvSpPr txBox="1"/>
          <p:nvPr/>
        </p:nvSpPr>
        <p:spPr>
          <a:xfrm>
            <a:off x="844826" y="1431230"/>
            <a:ext cx="10525539" cy="1938992"/>
          </a:xfrm>
          <a:prstGeom prst="rect">
            <a:avLst/>
          </a:prstGeom>
          <a:noFill/>
        </p:spPr>
        <p:txBody>
          <a:bodyPr wrap="square" rtlCol="0">
            <a:spAutoFit/>
          </a:bodyPr>
          <a:lstStyle/>
          <a:p>
            <a:r>
              <a:rPr lang="fr-FR" sz="2400" b="1" dirty="0"/>
              <a:t>Politique de sélection : remarque sur les premières itérations (suite)</a:t>
            </a:r>
          </a:p>
          <a:p>
            <a:endParaRPr lang="fr-FR" sz="2400" dirty="0"/>
          </a:p>
          <a:p>
            <a:pPr marL="342900" indent="-342900">
              <a:buFont typeface="Arial" panose="020B0604020202020204" pitchFamily="34" charset="0"/>
              <a:buChar char="•"/>
            </a:pPr>
            <a:r>
              <a:rPr lang="fr-FR" sz="2400" dirty="0"/>
              <a:t>Ce fait de déployer tous les enfants d’un sommet (à la manière d’un parcours en largeur) n’est valable que pour la racine et lors des premières itérations. On pourra très bien avoir ce genre de configuration par la suite :</a:t>
            </a:r>
          </a:p>
        </p:txBody>
      </p:sp>
      <p:pic>
        <p:nvPicPr>
          <p:cNvPr id="9" name="Image 8" descr="Une image contenant Bleu électrique, ligne, conception&#10;&#10;Le contenu généré par l’IA peut être incorrect.">
            <a:extLst>
              <a:ext uri="{FF2B5EF4-FFF2-40B4-BE49-F238E27FC236}">
                <a16:creationId xmlns:a16="http://schemas.microsoft.com/office/drawing/2014/main" id="{376206F6-DF4C-ACD2-46A8-F18C7E26279E}"/>
              </a:ext>
            </a:extLst>
          </p:cNvPr>
          <p:cNvPicPr>
            <a:picLocks noChangeAspect="1"/>
          </p:cNvPicPr>
          <p:nvPr/>
        </p:nvPicPr>
        <p:blipFill>
          <a:blip r:embed="rId3"/>
          <a:stretch>
            <a:fillRect/>
          </a:stretch>
        </p:blipFill>
        <p:spPr>
          <a:xfrm>
            <a:off x="474133" y="3972874"/>
            <a:ext cx="10080000" cy="2520000"/>
          </a:xfrm>
          <a:prstGeom prst="rect">
            <a:avLst/>
          </a:prstGeom>
        </p:spPr>
      </p:pic>
      <p:cxnSp>
        <p:nvCxnSpPr>
          <p:cNvPr id="11" name="Connecteur droit 10">
            <a:extLst>
              <a:ext uri="{FF2B5EF4-FFF2-40B4-BE49-F238E27FC236}">
                <a16:creationId xmlns:a16="http://schemas.microsoft.com/office/drawing/2014/main" id="{7128169C-AD23-EFFF-CF7F-A8FCBC5BC787}"/>
              </a:ext>
            </a:extLst>
          </p:cNvPr>
          <p:cNvCxnSpPr/>
          <p:nvPr/>
        </p:nvCxnSpPr>
        <p:spPr>
          <a:xfrm>
            <a:off x="10848622" y="5232874"/>
            <a:ext cx="778934"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295284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59C9E-0DAD-D314-94FA-8AA844BC6F3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5F1FD6E-6CFC-3A71-055D-F06EEEE8B4A1}"/>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EE40C00B-DA13-54BE-735A-41B8A67B0B52}"/>
              </a:ext>
            </a:extLst>
          </p:cNvPr>
          <p:cNvSpPr txBox="1"/>
          <p:nvPr/>
        </p:nvSpPr>
        <p:spPr>
          <a:xfrm>
            <a:off x="844826" y="1431230"/>
            <a:ext cx="10525539" cy="3785652"/>
          </a:xfrm>
          <a:prstGeom prst="rect">
            <a:avLst/>
          </a:prstGeom>
          <a:noFill/>
        </p:spPr>
        <p:txBody>
          <a:bodyPr wrap="square" rtlCol="0">
            <a:spAutoFit/>
          </a:bodyPr>
          <a:lstStyle/>
          <a:p>
            <a:r>
              <a:rPr lang="fr-FR" sz="2400" b="1" dirty="0"/>
              <a:t>Politique de jeu</a:t>
            </a:r>
          </a:p>
          <a:p>
            <a:endParaRPr lang="fr-FR" sz="2400" dirty="0"/>
          </a:p>
          <a:p>
            <a:pPr marL="342900" indent="-342900">
              <a:buFont typeface="Arial" panose="020B0604020202020204" pitchFamily="34" charset="0"/>
              <a:buChar char="•"/>
            </a:pPr>
            <a:r>
              <a:rPr lang="fr-FR" sz="2400" dirty="0"/>
              <a:t>Dans la version la plus élémentaire de l’algorithme, la politique de jeu consiste à choisir aléatoirement selon une </a:t>
            </a:r>
            <a:r>
              <a:rPr lang="fr-FR" sz="2400" b="1" dirty="0"/>
              <a:t>loi uniforme </a:t>
            </a:r>
            <a:r>
              <a:rPr lang="fr-FR" sz="2400" dirty="0"/>
              <a:t>un coup parmi ceux disponibles depuis l’état courant et à recommencer jusqu’à atteindre une position finale.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Cela peut suffire pour des jeux aux règles simples mais pour d’autres plus élaborés il conviendra d’établir une vraie politique de jeu afin d’orienter le déroulement des parties.</a:t>
            </a:r>
          </a:p>
        </p:txBody>
      </p:sp>
      <p:pic>
        <p:nvPicPr>
          <p:cNvPr id="5" name="Graphique 4" descr="Panneau de signalisation avec un remplissage uni">
            <a:extLst>
              <a:ext uri="{FF2B5EF4-FFF2-40B4-BE49-F238E27FC236}">
                <a16:creationId xmlns:a16="http://schemas.microsoft.com/office/drawing/2014/main" id="{A7AAE682-ABB7-9E17-3DCE-99249FDE3F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14218084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CA949-02AB-A191-20BD-8950D9C496D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24D5DF-7346-5AF6-11DA-65702D04E070}"/>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FAD56F0C-B831-F771-F85D-3317AD5962D2}"/>
              </a:ext>
            </a:extLst>
          </p:cNvPr>
          <p:cNvSpPr txBox="1"/>
          <p:nvPr/>
        </p:nvSpPr>
        <p:spPr>
          <a:xfrm>
            <a:off x="844826" y="1431230"/>
            <a:ext cx="10525539" cy="3046988"/>
          </a:xfrm>
          <a:prstGeom prst="rect">
            <a:avLst/>
          </a:prstGeom>
          <a:noFill/>
        </p:spPr>
        <p:txBody>
          <a:bodyPr wrap="square" rtlCol="0">
            <a:spAutoFit/>
          </a:bodyPr>
          <a:lstStyle/>
          <a:p>
            <a:r>
              <a:rPr lang="fr-FR" sz="2400" b="1" dirty="0"/>
              <a:t>Politique de jeu (suite)</a:t>
            </a:r>
          </a:p>
          <a:p>
            <a:endParaRPr lang="fr-FR" sz="2400" dirty="0"/>
          </a:p>
          <a:p>
            <a:pPr marL="342900" indent="-342900">
              <a:buFont typeface="Arial" panose="020B0604020202020204" pitchFamily="34" charset="0"/>
              <a:buChar char="•"/>
            </a:pPr>
            <a:r>
              <a:rPr lang="fr-FR" sz="2400" dirty="0"/>
              <a:t>On pourra par exemple utiliser des heuristiques de jeu, comme privilégier les angles à Othello ou viser des prises aux échecs.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On peut également concevoir des réseaux de neurones, entraînés à jouer contre eux-mêmes.</a:t>
            </a:r>
          </a:p>
        </p:txBody>
      </p:sp>
      <p:pic>
        <p:nvPicPr>
          <p:cNvPr id="5" name="Graphique 4" descr="Cerveau dans une tête avec un remplissage uni">
            <a:extLst>
              <a:ext uri="{FF2B5EF4-FFF2-40B4-BE49-F238E27FC236}">
                <a16:creationId xmlns:a16="http://schemas.microsoft.com/office/drawing/2014/main" id="{3DF3D7AC-401A-E0F5-B05E-F5B81FA504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7433833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EBB81-EED7-09D3-B326-EE34128231A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7AA9CAF-808B-CE14-7658-8F53000E3207}"/>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AD4EF07D-773C-94BE-71FA-5E09E81C6934}"/>
                  </a:ext>
                </a:extLst>
              </p:cNvPr>
              <p:cNvSpPr txBox="1"/>
              <p:nvPr/>
            </p:nvSpPr>
            <p:spPr>
              <a:xfrm>
                <a:off x="844826" y="1431230"/>
                <a:ext cx="10525539" cy="3416320"/>
              </a:xfrm>
              <a:prstGeom prst="rect">
                <a:avLst/>
              </a:prstGeom>
              <a:noFill/>
            </p:spPr>
            <p:txBody>
              <a:bodyPr wrap="square" rtlCol="0">
                <a:spAutoFit/>
              </a:bodyPr>
              <a:lstStyle/>
              <a:p>
                <a:r>
                  <a:rPr lang="fr-FR" sz="2400" b="1" dirty="0"/>
                  <a:t>Meilleur coup</a:t>
                </a:r>
              </a:p>
              <a:p>
                <a:endParaRPr lang="fr-FR" sz="2400" dirty="0"/>
              </a:p>
              <a:p>
                <a:pPr marL="342900" indent="-342900">
                  <a:buFont typeface="Arial" panose="020B0604020202020204" pitchFamily="34" charset="0"/>
                  <a:buChar char="•"/>
                </a:pPr>
                <a:r>
                  <a:rPr lang="fr-FR" sz="2400" dirty="0"/>
                  <a:t>Rappelons que l’on stoppe les itérations, chacune d’elles étant constituée des quatre étapes précédentes, quand une limite de temps est dépassée ou quand un nombre maximal d’itérations est atteint.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Il faut alors retourner le “meilleur“ coup à jouer pour l’IA. Celui-ci correspondra à l’un des enfants </a:t>
                </a:r>
                <a14:m>
                  <m:oMath xmlns:m="http://schemas.openxmlformats.org/officeDocument/2006/math">
                    <m:r>
                      <a:rPr lang="fr-FR" sz="2400" b="0" i="1" smtClean="0">
                        <a:latin typeface="Cambria Math" panose="02040503050406030204" pitchFamily="18" charset="0"/>
                      </a:rPr>
                      <m:t>𝑥</m:t>
                    </m:r>
                  </m:oMath>
                </a14:m>
                <a:r>
                  <a:rPr lang="fr-FR" sz="2400" dirty="0"/>
                  <a:t> de la racine de l’arbre de recherche.</a:t>
                </a:r>
              </a:p>
            </p:txBody>
          </p:sp>
        </mc:Choice>
        <mc:Fallback xmlns="">
          <p:sp>
            <p:nvSpPr>
              <p:cNvPr id="3" name="ZoneTexte 2">
                <a:extLst>
                  <a:ext uri="{FF2B5EF4-FFF2-40B4-BE49-F238E27FC236}">
                    <a16:creationId xmlns:a16="http://schemas.microsoft.com/office/drawing/2014/main" id="{AD4EF07D-773C-94BE-71FA-5E09E81C6934}"/>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3"/>
                <a:stretch>
                  <a:fillRect l="-843" t="-1481" b="-3333"/>
                </a:stretch>
              </a:blipFill>
            </p:spPr>
            <p:txBody>
              <a:bodyPr/>
              <a:lstStyle/>
              <a:p>
                <a:r>
                  <a:rPr lang="fr-FR">
                    <a:noFill/>
                  </a:rPr>
                  <a:t> </a:t>
                </a:r>
              </a:p>
            </p:txBody>
          </p:sp>
        </mc:Fallback>
      </mc:AlternateContent>
      <p:pic>
        <p:nvPicPr>
          <p:cNvPr id="5" name="Graphique 4" descr="Enfant avec ballon avec un remplissage uni">
            <a:extLst>
              <a:ext uri="{FF2B5EF4-FFF2-40B4-BE49-F238E27FC236}">
                <a16:creationId xmlns:a16="http://schemas.microsoft.com/office/drawing/2014/main" id="{695F7282-3D06-918D-FEBC-7C8D717424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76596782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B6396-73DA-EE08-B570-633C77D40A7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6424605-3C12-9948-9869-B4396C21822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41CEBD0E-E149-E31A-0B97-904A50A48B58}"/>
                  </a:ext>
                </a:extLst>
              </p:cNvPr>
              <p:cNvSpPr txBox="1"/>
              <p:nvPr/>
            </p:nvSpPr>
            <p:spPr>
              <a:xfrm>
                <a:off x="844826" y="1431230"/>
                <a:ext cx="10525539" cy="3635354"/>
              </a:xfrm>
              <a:prstGeom prst="rect">
                <a:avLst/>
              </a:prstGeom>
              <a:noFill/>
            </p:spPr>
            <p:txBody>
              <a:bodyPr wrap="square" rtlCol="0">
                <a:spAutoFit/>
              </a:bodyPr>
              <a:lstStyle/>
              <a:p>
                <a:r>
                  <a:rPr lang="fr-FR" sz="2400" b="1" dirty="0"/>
                  <a:t>Meilleur coup (suite)</a:t>
                </a:r>
              </a:p>
              <a:p>
                <a:endParaRPr lang="fr-FR" sz="2400" dirty="0"/>
              </a:p>
              <a:p>
                <a:pPr marL="342900" indent="-342900">
                  <a:buFont typeface="Arial" panose="020B0604020202020204" pitchFamily="34" charset="0"/>
                  <a:buChar char="•"/>
                </a:pPr>
                <a:r>
                  <a:rPr lang="fr-FR" sz="2400" dirty="0"/>
                  <a:t>On pourra alors opter pour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Le coup correspondant à l’enfant </a:t>
                </a:r>
                <a14:m>
                  <m:oMath xmlns:m="http://schemas.openxmlformats.org/officeDocument/2006/math">
                    <m:r>
                      <a:rPr lang="fr-FR" sz="2400" b="0" i="1" smtClean="0">
                        <a:latin typeface="Cambria Math" panose="02040503050406030204" pitchFamily="18" charset="0"/>
                      </a:rPr>
                      <m:t>𝑥</m:t>
                    </m:r>
                  </m:oMath>
                </a14:m>
                <a:r>
                  <a:rPr lang="fr-FR" sz="2400" dirty="0"/>
                  <a:t> ayant le pourcentage de victoire le plus important, </a:t>
                </a:r>
                <a:r>
                  <a:rPr lang="fr-FR" sz="2400" i="1" dirty="0"/>
                  <a:t>i.e.</a:t>
                </a:r>
                <a:r>
                  <a:rPr lang="fr-FR" sz="2400" dirty="0"/>
                  <a:t> celui avec le ratio </a:t>
                </a:r>
                <a14:m>
                  <m:oMath xmlns:m="http://schemas.openxmlformats.org/officeDocument/2006/math">
                    <m:f>
                      <m:fPr>
                        <m:ctrlPr>
                          <a:rPr lang="fr-FR" sz="2400" i="1" smtClean="0">
                            <a:latin typeface="Cambria Math" panose="02040503050406030204" pitchFamily="18" charset="0"/>
                          </a:rPr>
                        </m:ctrlPr>
                      </m:fPr>
                      <m:num>
                        <m:r>
                          <a:rPr lang="fr-FR" sz="2400" b="0" i="1" smtClean="0">
                            <a:latin typeface="Cambria Math" panose="02040503050406030204" pitchFamily="18" charset="0"/>
                          </a:rPr>
                          <m:t>𝑈</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num>
                      <m:den>
                        <m:r>
                          <a:rPr lang="fr-FR" sz="2400" b="0" i="1" smtClean="0">
                            <a:latin typeface="Cambria Math" panose="02040503050406030204" pitchFamily="18" charset="0"/>
                          </a:rPr>
                          <m:t>𝑁</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den>
                    </m:f>
                  </m:oMath>
                </a14:m>
                <a:r>
                  <a:rPr lang="fr-FR" sz="2400" dirty="0"/>
                  <a:t> le plus grand.</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Le coup correspondant à l’enfant </a:t>
                </a:r>
                <a14:m>
                  <m:oMath xmlns:m="http://schemas.openxmlformats.org/officeDocument/2006/math">
                    <m:r>
                      <a:rPr lang="fr-FR" sz="2400" b="0" i="1" smtClean="0">
                        <a:latin typeface="Cambria Math" panose="02040503050406030204" pitchFamily="18" charset="0"/>
                      </a:rPr>
                      <m:t>𝑥</m:t>
                    </m:r>
                  </m:oMath>
                </a14:m>
                <a:r>
                  <a:rPr lang="fr-FR" sz="2400" dirty="0"/>
                  <a:t> ayant été le plus visité, </a:t>
                </a:r>
                <a:r>
                  <a:rPr lang="fr-FR" sz="2400" i="1" dirty="0"/>
                  <a:t>i.e.</a:t>
                </a:r>
                <a:r>
                  <a:rPr lang="fr-FR" sz="2400" dirty="0"/>
                  <a:t> celui dont la valeur de </a:t>
                </a:r>
                <a14:m>
                  <m:oMath xmlns:m="http://schemas.openxmlformats.org/officeDocument/2006/math">
                    <m:r>
                      <a:rPr lang="fr-FR" sz="2400" b="0" i="1" smtClean="0">
                        <a:latin typeface="Cambria Math" panose="02040503050406030204" pitchFamily="18" charset="0"/>
                      </a:rPr>
                      <m:t>𝑁</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𝑥</m:t>
                        </m:r>
                      </m:e>
                    </m:d>
                  </m:oMath>
                </a14:m>
                <a:r>
                  <a:rPr lang="fr-FR" sz="2400" dirty="0"/>
                  <a:t> est la plus élevée.</a:t>
                </a:r>
              </a:p>
            </p:txBody>
          </p:sp>
        </mc:Choice>
        <mc:Fallback xmlns="">
          <p:sp>
            <p:nvSpPr>
              <p:cNvPr id="3" name="ZoneTexte 2">
                <a:extLst>
                  <a:ext uri="{FF2B5EF4-FFF2-40B4-BE49-F238E27FC236}">
                    <a16:creationId xmlns:a16="http://schemas.microsoft.com/office/drawing/2014/main" id="{41CEBD0E-E149-E31A-0B97-904A50A48B58}"/>
                  </a:ext>
                </a:extLst>
              </p:cNvPr>
              <p:cNvSpPr txBox="1">
                <a:spLocks noRot="1" noChangeAspect="1" noMove="1" noResize="1" noEditPoints="1" noAdjustHandles="1" noChangeArrowheads="1" noChangeShapeType="1" noTextEdit="1"/>
              </p:cNvSpPr>
              <p:nvPr/>
            </p:nvSpPr>
            <p:spPr>
              <a:xfrm>
                <a:off x="844826" y="1431230"/>
                <a:ext cx="10525539" cy="3635354"/>
              </a:xfrm>
              <a:prstGeom prst="rect">
                <a:avLst/>
              </a:prstGeom>
              <a:blipFill>
                <a:blip r:embed="rId3"/>
                <a:stretch>
                  <a:fillRect l="-843" t="-1394" b="-3136"/>
                </a:stretch>
              </a:blipFill>
            </p:spPr>
            <p:txBody>
              <a:bodyPr/>
              <a:lstStyle/>
              <a:p>
                <a:r>
                  <a:rPr lang="fr-FR">
                    <a:noFill/>
                  </a:rPr>
                  <a:t> </a:t>
                </a:r>
              </a:p>
            </p:txBody>
          </p:sp>
        </mc:Fallback>
      </mc:AlternateContent>
      <p:pic>
        <p:nvPicPr>
          <p:cNvPr id="5" name="Graphique 4" descr="Couronne avec un remplissage uni">
            <a:extLst>
              <a:ext uri="{FF2B5EF4-FFF2-40B4-BE49-F238E27FC236}">
                <a16:creationId xmlns:a16="http://schemas.microsoft.com/office/drawing/2014/main" id="{1DC1AC78-DF3F-DAFE-E519-27BA2B138F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60903983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DA1A8-B9D2-F50A-98E1-75619148918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6BB808B-CE1D-99F9-016E-69847EECDF29}"/>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64330F74-4E28-7F78-DB8C-83B7EC4FD851}"/>
              </a:ext>
            </a:extLst>
          </p:cNvPr>
          <p:cNvSpPr txBox="1"/>
          <p:nvPr/>
        </p:nvSpPr>
        <p:spPr>
          <a:xfrm>
            <a:off x="844826" y="1431230"/>
            <a:ext cx="10525539" cy="3416320"/>
          </a:xfrm>
          <a:prstGeom prst="rect">
            <a:avLst/>
          </a:prstGeom>
          <a:noFill/>
        </p:spPr>
        <p:txBody>
          <a:bodyPr wrap="square" rtlCol="0">
            <a:spAutoFit/>
          </a:bodyPr>
          <a:lstStyle/>
          <a:p>
            <a:r>
              <a:rPr lang="fr-FR" sz="2400" b="1" dirty="0"/>
              <a:t>Meilleur coup (suite)</a:t>
            </a:r>
          </a:p>
          <a:p>
            <a:endParaRPr lang="fr-FR" sz="2400" dirty="0"/>
          </a:p>
          <a:p>
            <a:pPr marL="342900" indent="-342900">
              <a:buFont typeface="Arial" panose="020B0604020202020204" pitchFamily="34" charset="0"/>
              <a:buChar char="•"/>
            </a:pPr>
            <a:r>
              <a:rPr lang="fr-FR" sz="2400" dirty="0"/>
              <a:t>Dans de nombreux cas les deux choix coïncident car la politique de sélection tend au fur et à mesure des itérations à privilégier le terme d’exploitation par rapport à celui d’exploration.</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Les sommets les plus visités seront donc généralement ceux qui ont aussi le meilleur ratio.</a:t>
            </a:r>
          </a:p>
        </p:txBody>
      </p:sp>
      <p:pic>
        <p:nvPicPr>
          <p:cNvPr id="5" name="Graphique 4" descr="Montagnes avec un remplissage uni">
            <a:extLst>
              <a:ext uri="{FF2B5EF4-FFF2-40B4-BE49-F238E27FC236}">
                <a16:creationId xmlns:a16="http://schemas.microsoft.com/office/drawing/2014/main" id="{A841092D-88B6-E979-4357-26C8EE2311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62891165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5934-7BCD-2FB3-230F-B75D2D2F1C9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C40AE54-A95A-1247-9A60-C73AC329A4F8}"/>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52C12D91-38D7-4EE7-79BD-AC2FC70E7C1F}"/>
                  </a:ext>
                </a:extLst>
              </p:cNvPr>
              <p:cNvSpPr txBox="1"/>
              <p:nvPr/>
            </p:nvSpPr>
            <p:spPr>
              <a:xfrm>
                <a:off x="844826" y="1431230"/>
                <a:ext cx="10525539" cy="3416320"/>
              </a:xfrm>
              <a:prstGeom prst="rect">
                <a:avLst/>
              </a:prstGeom>
              <a:noFill/>
            </p:spPr>
            <p:txBody>
              <a:bodyPr wrap="square" rtlCol="0">
                <a:spAutoFit/>
              </a:bodyPr>
              <a:lstStyle/>
              <a:p>
                <a:r>
                  <a:rPr lang="fr-FR" sz="2400" b="1" dirty="0"/>
                  <a:t>Meilleur coup (suite)</a:t>
                </a:r>
              </a:p>
              <a:p>
                <a:endParaRPr lang="fr-FR" sz="2400" dirty="0"/>
              </a:p>
              <a:p>
                <a:pPr marL="342900" indent="-342900">
                  <a:buFont typeface="Arial" panose="020B0604020202020204" pitchFamily="34" charset="0"/>
                  <a:buChar char="•"/>
                </a:pPr>
                <a:r>
                  <a:rPr lang="fr-FR" sz="2400" dirty="0"/>
                  <a:t>Cela dit on choisira en général l’enfant de la racine ayant été le plus visité, pour par exemple sélectionner un sommet ayant un ratio de </a:t>
                </a:r>
                <a14:m>
                  <m:oMath xmlns:m="http://schemas.openxmlformats.org/officeDocument/2006/math">
                    <m:r>
                      <a:rPr lang="fr-FR" sz="2400" b="0" i="1" smtClean="0">
                        <a:latin typeface="Cambria Math" panose="02040503050406030204" pitchFamily="18" charset="0"/>
                      </a:rPr>
                      <m:t>65/100</m:t>
                    </m:r>
                  </m:oMath>
                </a14:m>
                <a:r>
                  <a:rPr lang="fr-FR" sz="2400" dirty="0"/>
                  <a:t> par rapport à un autre de ratio </a:t>
                </a:r>
                <a14:m>
                  <m:oMath xmlns:m="http://schemas.openxmlformats.org/officeDocument/2006/math">
                    <m:r>
                      <a:rPr lang="fr-FR" sz="2400" b="0" i="1" smtClean="0">
                        <a:latin typeface="Cambria Math" panose="02040503050406030204" pitchFamily="18" charset="0"/>
                      </a:rPr>
                      <m:t>2/3</m:t>
                    </m:r>
                  </m:oMath>
                </a14:m>
                <a:r>
                  <a:rPr lang="fr-FR" sz="2400" dirty="0"/>
                  <a: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On peut en effet penser que même si le ratio du second est plus élevé, la fiabilité de l’évaluation du premier est supérieure.</a:t>
                </a:r>
              </a:p>
            </p:txBody>
          </p:sp>
        </mc:Choice>
        <mc:Fallback xmlns="">
          <p:sp>
            <p:nvSpPr>
              <p:cNvPr id="3" name="ZoneTexte 2">
                <a:extLst>
                  <a:ext uri="{FF2B5EF4-FFF2-40B4-BE49-F238E27FC236}">
                    <a16:creationId xmlns:a16="http://schemas.microsoft.com/office/drawing/2014/main" id="{52C12D91-38D7-4EE7-79BD-AC2FC70E7C1F}"/>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3"/>
                <a:stretch>
                  <a:fillRect l="-843" t="-1481" r="-1325" b="-3333"/>
                </a:stretch>
              </a:blipFill>
            </p:spPr>
            <p:txBody>
              <a:bodyPr/>
              <a:lstStyle/>
              <a:p>
                <a:r>
                  <a:rPr lang="fr-FR">
                    <a:noFill/>
                  </a:rPr>
                  <a:t> </a:t>
                </a:r>
              </a:p>
            </p:txBody>
          </p:sp>
        </mc:Fallback>
      </mc:AlternateContent>
      <p:pic>
        <p:nvPicPr>
          <p:cNvPr id="5" name="Graphique 4" descr="Chronomètre 66% avec un remplissage uni">
            <a:extLst>
              <a:ext uri="{FF2B5EF4-FFF2-40B4-BE49-F238E27FC236}">
                <a16:creationId xmlns:a16="http://schemas.microsoft.com/office/drawing/2014/main" id="{0AA8E40B-A82C-1050-BECA-7542611D2F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53447248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E9552-8397-B7F3-885F-00EA6619638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F114046-7158-A237-72F7-C12B18F9688E}"/>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7AF06464-8A36-3D93-D811-DC4DBA169D8D}"/>
                  </a:ext>
                </a:extLst>
              </p:cNvPr>
              <p:cNvSpPr txBox="1"/>
              <p:nvPr/>
            </p:nvSpPr>
            <p:spPr>
              <a:xfrm>
                <a:off x="844826" y="1431230"/>
                <a:ext cx="10525539" cy="3662541"/>
              </a:xfrm>
              <a:prstGeom prst="rect">
                <a:avLst/>
              </a:prstGeom>
              <a:noFill/>
            </p:spPr>
            <p:txBody>
              <a:bodyPr wrap="square" rtlCol="0">
                <a:spAutoFit/>
              </a:bodyPr>
              <a:lstStyle/>
              <a:p>
                <a:r>
                  <a:rPr lang="fr-FR" sz="2400" b="1" dirty="0"/>
                  <a:t>MCTS : pseudo-code</a:t>
                </a:r>
              </a:p>
              <a:p>
                <a:endParaRPr lang="fr-FR" sz="2400" dirty="0"/>
              </a:p>
              <a:p>
                <a:endParaRPr lang="fr-FR" sz="2400" dirty="0"/>
              </a:p>
              <a:p>
                <a:r>
                  <a:rPr lang="fr-FR" sz="2000" dirty="0"/>
                  <a:t>FONCTION </a:t>
                </a:r>
                <a14:m>
                  <m:oMath xmlns:m="http://schemas.openxmlformats.org/officeDocument/2006/math">
                    <m:r>
                      <a:rPr lang="fr-FR" sz="2000" i="1" dirty="0" smtClean="0">
                        <a:latin typeface="Cambria Math" panose="02040503050406030204" pitchFamily="18" charset="0"/>
                      </a:rPr>
                      <m:t>𝑚𝑜𝑛𝑡𝑒𝐶𝑎𝑟𝑙𝑜𝑇𝑟𝑒𝑒𝑆𝑒𝑎𝑟𝑐h</m:t>
                    </m:r>
                    <m:d>
                      <m:dPr>
                        <m:ctrlPr>
                          <a:rPr lang="fr-FR" sz="2000" i="1" dirty="0" smtClean="0">
                            <a:latin typeface="Cambria Math" panose="02040503050406030204" pitchFamily="18" charset="0"/>
                          </a:rPr>
                        </m:ctrlPr>
                      </m:dPr>
                      <m:e>
                        <m:r>
                          <a:rPr lang="fr-FR" sz="2000" b="0" i="1" dirty="0" smtClean="0">
                            <a:latin typeface="Cambria Math" panose="02040503050406030204" pitchFamily="18" charset="0"/>
                          </a:rPr>
                          <m:t>𝑝𝑜𝑠𝑖𝑡𝑖𝑜𝑛</m:t>
                        </m:r>
                      </m:e>
                    </m:d>
                  </m:oMath>
                </a14:m>
                <a:endParaRPr lang="fr-FR" sz="2000" dirty="0"/>
              </a:p>
              <a:p>
                <a:r>
                  <a:rPr lang="fr-FR" sz="2000" dirty="0"/>
                  <a:t>	</a:t>
                </a:r>
                <a14:m>
                  <m:oMath xmlns:m="http://schemas.openxmlformats.org/officeDocument/2006/math">
                    <m:r>
                      <a:rPr lang="fr-FR" sz="2000" b="0" i="1" smtClean="0">
                        <a:latin typeface="Cambria Math" panose="02040503050406030204" pitchFamily="18" charset="0"/>
                      </a:rPr>
                      <m:t>𝑎𝑟𝑏𝑟𝑒</m:t>
                    </m:r>
                    <m:r>
                      <a:rPr lang="fr-FR" sz="2000" i="1">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𝑠𝑜𝑚𝑚𝑒𝑡</m:t>
                    </m:r>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𝑝𝑜𝑠𝑖𝑡𝑖𝑜𝑛</m:t>
                    </m:r>
                    <m:r>
                      <a:rPr lang="fr-FR" sz="2000" b="0" i="1" smtClean="0">
                        <a:latin typeface="Cambria Math" panose="02040503050406030204" pitchFamily="18" charset="0"/>
                        <a:ea typeface="Cambria Math" panose="02040503050406030204" pitchFamily="18" charset="0"/>
                      </a:rPr>
                      <m:t>)</m:t>
                    </m:r>
                  </m:oMath>
                </a14:m>
                <a:endParaRPr lang="fr-FR" sz="2000" dirty="0"/>
              </a:p>
              <a:p>
                <a:r>
                  <a:rPr lang="fr-FR" sz="2000" dirty="0"/>
                  <a:t>	TANT QUE </a:t>
                </a:r>
                <a14:m>
                  <m:oMath xmlns:m="http://schemas.openxmlformats.org/officeDocument/2006/math">
                    <m:d>
                      <m:dPr>
                        <m:ctrlPr>
                          <a:rPr lang="fr-FR" sz="2000" i="1" smtClean="0">
                            <a:latin typeface="Cambria Math" panose="02040503050406030204" pitchFamily="18" charset="0"/>
                          </a:rPr>
                        </m:ctrlPr>
                      </m:dPr>
                      <m:e>
                        <m:r>
                          <a:rPr lang="fr-FR" sz="2000" b="0" i="1" smtClean="0">
                            <a:latin typeface="Cambria Math" panose="02040503050406030204" pitchFamily="18" charset="0"/>
                          </a:rPr>
                          <m:t>𝑡𝑒𝑚𝑝𝑠</m:t>
                        </m:r>
                        <m:r>
                          <a:rPr lang="fr-FR" sz="2000" b="0" i="1" smtClean="0">
                            <a:latin typeface="Cambria Math" panose="02040503050406030204" pitchFamily="18" charset="0"/>
                          </a:rPr>
                          <m:t>&lt;</m:t>
                        </m:r>
                        <m:r>
                          <a:rPr lang="fr-FR" sz="2000" b="0" i="1" smtClean="0">
                            <a:latin typeface="Cambria Math" panose="02040503050406030204" pitchFamily="18" charset="0"/>
                          </a:rPr>
                          <m:t>𝑡𝑒𝑚𝑝𝑠𝑀𝑎𝑥</m:t>
                        </m:r>
                      </m:e>
                    </m:d>
                    <m:r>
                      <a:rPr lang="fr-FR" sz="2000" b="0" i="1" smtClean="0">
                        <a:latin typeface="Cambria Math" panose="02040503050406030204" pitchFamily="18" charset="0"/>
                      </a:rPr>
                      <m:t> </m:t>
                    </m:r>
                    <m:r>
                      <m:rPr>
                        <m:nor/>
                      </m:rPr>
                      <a:rPr lang="fr-FR" sz="2000" b="0" i="0" smtClean="0">
                        <a:latin typeface="Cambria Math" panose="02040503050406030204" pitchFamily="18" charset="0"/>
                      </a:rPr>
                      <m:t>ET</m:t>
                    </m:r>
                    <m:r>
                      <a:rPr lang="fr-FR" sz="2000" b="0" i="1" smtClean="0">
                        <a:latin typeface="Cambria Math" panose="02040503050406030204" pitchFamily="18" charset="0"/>
                      </a:rPr>
                      <m:t> (</m:t>
                    </m:r>
                    <m:r>
                      <a:rPr lang="fr-FR" sz="2000" b="0" i="1" smtClean="0">
                        <a:latin typeface="Cambria Math" panose="02040503050406030204" pitchFamily="18" charset="0"/>
                      </a:rPr>
                      <m:t>𝑖𝑡</m:t>
                    </m:r>
                    <m:r>
                      <a:rPr lang="fr-FR" sz="2000" b="0" i="1" smtClean="0">
                        <a:latin typeface="Cambria Math" panose="02040503050406030204" pitchFamily="18" charset="0"/>
                      </a:rPr>
                      <m:t>é</m:t>
                    </m:r>
                    <m:r>
                      <a:rPr lang="fr-FR" sz="2000" b="0" i="1" smtClean="0">
                        <a:latin typeface="Cambria Math" panose="02040503050406030204" pitchFamily="18" charset="0"/>
                      </a:rPr>
                      <m:t>𝑟𝑎𝑡𝑖𝑜𝑛𝑠</m:t>
                    </m:r>
                    <m:r>
                      <a:rPr lang="fr-FR" sz="2000" b="0" i="1" smtClean="0">
                        <a:latin typeface="Cambria Math" panose="02040503050406030204" pitchFamily="18" charset="0"/>
                      </a:rPr>
                      <m:t>&lt;</m:t>
                    </m:r>
                    <m:r>
                      <a:rPr lang="fr-FR" sz="2000" b="0" i="1" smtClean="0">
                        <a:latin typeface="Cambria Math" panose="02040503050406030204" pitchFamily="18" charset="0"/>
                      </a:rPr>
                      <m:t>𝑖𝑡</m:t>
                    </m:r>
                    <m:r>
                      <a:rPr lang="fr-FR" sz="2000" b="0" i="1" smtClean="0">
                        <a:latin typeface="Cambria Math" panose="02040503050406030204" pitchFamily="18" charset="0"/>
                      </a:rPr>
                      <m:t>é</m:t>
                    </m:r>
                    <m:r>
                      <a:rPr lang="fr-FR" sz="2000" b="0" i="1" smtClean="0">
                        <a:latin typeface="Cambria Math" panose="02040503050406030204" pitchFamily="18" charset="0"/>
                      </a:rPr>
                      <m:t>𝑟𝑎𝑡𝑖𝑜𝑛𝑠𝑀𝑎𝑥</m:t>
                    </m:r>
                    <m:r>
                      <a:rPr lang="fr-FR" sz="2000" b="0" i="1" smtClean="0">
                        <a:latin typeface="Cambria Math" panose="02040503050406030204" pitchFamily="18" charset="0"/>
                      </a:rPr>
                      <m:t>)</m:t>
                    </m:r>
                  </m:oMath>
                </a14:m>
                <a:r>
                  <a:rPr lang="fr-FR" sz="2000" dirty="0"/>
                  <a:t> FAIRE</a:t>
                </a:r>
              </a:p>
              <a:p>
                <a:r>
                  <a:rPr lang="fr-FR" sz="2000" dirty="0"/>
                  <a:t>		</a:t>
                </a:r>
                <a14:m>
                  <m:oMath xmlns:m="http://schemas.openxmlformats.org/officeDocument/2006/math">
                    <m:r>
                      <a:rPr lang="fr-FR" sz="2000" b="0" i="1" smtClean="0">
                        <a:latin typeface="Cambria Math" panose="02040503050406030204" pitchFamily="18" charset="0"/>
                      </a:rPr>
                      <m:t>𝑠𝑜𝑚𝑚𝑒𝑡𝑆</m:t>
                    </m:r>
                    <m:r>
                      <a:rPr lang="fr-FR" sz="2000" b="0" i="1" smtClean="0">
                        <a:latin typeface="Cambria Math" panose="02040503050406030204" pitchFamily="18" charset="0"/>
                      </a:rPr>
                      <m:t>é</m:t>
                    </m:r>
                    <m:r>
                      <a:rPr lang="fr-FR" sz="2000" b="0" i="1" smtClean="0">
                        <a:latin typeface="Cambria Math" panose="02040503050406030204" pitchFamily="18" charset="0"/>
                      </a:rPr>
                      <m:t>𝑙𝑒𝑐𝑡𝑖𝑜𝑛𝑛</m:t>
                    </m:r>
                    <m:r>
                      <a:rPr lang="fr-FR" sz="2000" b="0" i="1" smtClean="0">
                        <a:latin typeface="Cambria Math" panose="02040503050406030204" pitchFamily="18" charset="0"/>
                      </a:rPr>
                      <m:t>é←</m:t>
                    </m:r>
                    <m:r>
                      <a:rPr lang="fr-FR" sz="2000" b="0" i="1" smtClean="0">
                        <a:latin typeface="Cambria Math" panose="02040503050406030204" pitchFamily="18" charset="0"/>
                        <a:ea typeface="Cambria Math" panose="02040503050406030204" pitchFamily="18" charset="0"/>
                      </a:rPr>
                      <m:t>𝑠</m:t>
                    </m:r>
                    <m:r>
                      <a:rPr lang="fr-FR" sz="2000" b="0" i="1" smtClean="0">
                        <a:latin typeface="Cambria Math" panose="02040503050406030204" pitchFamily="18" charset="0"/>
                        <a:ea typeface="Cambria Math" panose="02040503050406030204" pitchFamily="18" charset="0"/>
                      </a:rPr>
                      <m:t>é</m:t>
                    </m:r>
                    <m:r>
                      <a:rPr lang="fr-FR" sz="2000" b="0" i="1" smtClean="0">
                        <a:latin typeface="Cambria Math" panose="02040503050406030204" pitchFamily="18" charset="0"/>
                        <a:ea typeface="Cambria Math" panose="02040503050406030204" pitchFamily="18" charset="0"/>
                      </a:rPr>
                      <m:t>𝑙𝑒𝑐𝑡𝑖𝑜𝑛𝑈𝐶𝑇</m:t>
                    </m:r>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𝑎𝑟𝑏𝑟𝑒</m:t>
                    </m:r>
                    <m:r>
                      <a:rPr lang="fr-FR" sz="2000" b="0" i="1" smtClean="0">
                        <a:latin typeface="Cambria Math" panose="02040503050406030204" pitchFamily="18" charset="0"/>
                        <a:ea typeface="Cambria Math" panose="02040503050406030204" pitchFamily="18" charset="0"/>
                      </a:rPr>
                      <m:t>)</m:t>
                    </m:r>
                  </m:oMath>
                </a14:m>
                <a:endParaRPr lang="fr-FR" sz="2000" dirty="0"/>
              </a:p>
              <a:p>
                <a:r>
                  <a:rPr lang="fr-FR" sz="2000" dirty="0"/>
                  <a:t>		</a:t>
                </a:r>
                <a14:m>
                  <m:oMath xmlns:m="http://schemas.openxmlformats.org/officeDocument/2006/math">
                    <m:r>
                      <a:rPr lang="fr-FR" sz="2000" b="0" i="1" smtClean="0">
                        <a:latin typeface="Cambria Math" panose="02040503050406030204" pitchFamily="18" charset="0"/>
                      </a:rPr>
                      <m:t>𝑛𝑜𝑢𝑣𝑒𝑎𝑢𝑆𝑜𝑚𝑚𝑒𝑡</m:t>
                    </m:r>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𝑒𝑥𝑝𝑎𝑛𝑠𝑖𝑜𝑛</m:t>
                    </m:r>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𝑎𝑟𝑏𝑟𝑒</m:t>
                    </m:r>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𝑠𝑜𝑚𝑚𝑒𝑡𝑆</m:t>
                    </m:r>
                    <m:r>
                      <a:rPr lang="fr-FR" sz="2000" b="0" i="1" smtClean="0">
                        <a:latin typeface="Cambria Math" panose="02040503050406030204" pitchFamily="18" charset="0"/>
                        <a:ea typeface="Cambria Math" panose="02040503050406030204" pitchFamily="18" charset="0"/>
                      </a:rPr>
                      <m:t>é</m:t>
                    </m:r>
                    <m:r>
                      <a:rPr lang="fr-FR" sz="2000" b="0" i="1" smtClean="0">
                        <a:latin typeface="Cambria Math" panose="02040503050406030204" pitchFamily="18" charset="0"/>
                        <a:ea typeface="Cambria Math" panose="02040503050406030204" pitchFamily="18" charset="0"/>
                      </a:rPr>
                      <m:t>𝑙𝑒𝑐𝑡𝑖𝑜𝑛𝑛</m:t>
                    </m:r>
                    <m:r>
                      <a:rPr lang="fr-FR" sz="2000" b="0" i="1" smtClean="0">
                        <a:latin typeface="Cambria Math" panose="02040503050406030204" pitchFamily="18" charset="0"/>
                        <a:ea typeface="Cambria Math" panose="02040503050406030204" pitchFamily="18" charset="0"/>
                      </a:rPr>
                      <m:t>é)</m:t>
                    </m:r>
                  </m:oMath>
                </a14:m>
                <a:endParaRPr lang="fr-FR" sz="2000" dirty="0"/>
              </a:p>
              <a:p>
                <a:r>
                  <a:rPr lang="fr-FR" sz="2000" dirty="0"/>
                  <a:t>		</a:t>
                </a:r>
                <a14:m>
                  <m:oMath xmlns:m="http://schemas.openxmlformats.org/officeDocument/2006/math">
                    <m:r>
                      <a:rPr lang="fr-FR" sz="2000" b="0" i="1" smtClean="0">
                        <a:latin typeface="Cambria Math" panose="02040503050406030204" pitchFamily="18" charset="0"/>
                      </a:rPr>
                      <m:t>𝑟</m:t>
                    </m:r>
                    <m:r>
                      <a:rPr lang="fr-FR" sz="2000" b="0" i="1" smtClean="0">
                        <a:latin typeface="Cambria Math" panose="02040503050406030204" pitchFamily="18" charset="0"/>
                      </a:rPr>
                      <m:t>é</m:t>
                    </m:r>
                    <m:r>
                      <a:rPr lang="fr-FR" sz="2000" b="0" i="1" smtClean="0">
                        <a:latin typeface="Cambria Math" panose="02040503050406030204" pitchFamily="18" charset="0"/>
                      </a:rPr>
                      <m:t>𝑠𝑢𝑙𝑡𝑎𝑡</m:t>
                    </m:r>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𝑠𝑖𝑚𝑢𝑙𝑎𝑡𝑖𝑜𝑛</m:t>
                    </m:r>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𝑛𝑜𝑢𝑣𝑒𝑎𝑢𝑆𝑜𝑚𝑚𝑒𝑡</m:t>
                    </m:r>
                    <m:r>
                      <a:rPr lang="fr-FR" sz="2000" b="0" i="1" smtClean="0">
                        <a:latin typeface="Cambria Math" panose="02040503050406030204" pitchFamily="18" charset="0"/>
                        <a:ea typeface="Cambria Math" panose="02040503050406030204" pitchFamily="18" charset="0"/>
                      </a:rPr>
                      <m:t>)</m:t>
                    </m:r>
                  </m:oMath>
                </a14:m>
                <a:endParaRPr lang="fr-FR" sz="2000" dirty="0"/>
              </a:p>
              <a:p>
                <a:r>
                  <a:rPr lang="fr-FR" sz="2000" dirty="0"/>
                  <a:t>		</a:t>
                </a:r>
                <a14:m>
                  <m:oMath xmlns:m="http://schemas.openxmlformats.org/officeDocument/2006/math">
                    <m:r>
                      <a:rPr lang="fr-FR" sz="2000" b="0" i="1" smtClean="0">
                        <a:latin typeface="Cambria Math" panose="02040503050406030204" pitchFamily="18" charset="0"/>
                      </a:rPr>
                      <m:t>𝑟</m:t>
                    </m:r>
                    <m:r>
                      <a:rPr lang="fr-FR" sz="2000" b="0" i="1" smtClean="0">
                        <a:latin typeface="Cambria Math" panose="02040503050406030204" pitchFamily="18" charset="0"/>
                      </a:rPr>
                      <m:t>é</m:t>
                    </m:r>
                    <m:r>
                      <a:rPr lang="fr-FR" sz="2000" b="0" i="1" smtClean="0">
                        <a:latin typeface="Cambria Math" panose="02040503050406030204" pitchFamily="18" charset="0"/>
                      </a:rPr>
                      <m:t>𝑡𝑟𝑜𝑝𝑟𝑜𝑝𝑎𝑔𝑎𝑡𝑖𝑜𝑛</m:t>
                    </m:r>
                    <m:r>
                      <a:rPr lang="fr-FR" sz="2000" b="0" i="1" smtClean="0">
                        <a:latin typeface="Cambria Math" panose="02040503050406030204" pitchFamily="18" charset="0"/>
                      </a:rPr>
                      <m:t>(</m:t>
                    </m:r>
                    <m:r>
                      <a:rPr lang="fr-FR" sz="2000" b="0" i="1" smtClean="0">
                        <a:latin typeface="Cambria Math" panose="02040503050406030204" pitchFamily="18" charset="0"/>
                      </a:rPr>
                      <m:t>𝑎𝑟𝑏𝑟𝑒</m:t>
                    </m:r>
                    <m:r>
                      <a:rPr lang="fr-FR" sz="2000" b="0" i="1" smtClean="0">
                        <a:latin typeface="Cambria Math" panose="02040503050406030204" pitchFamily="18" charset="0"/>
                      </a:rPr>
                      <m:t>,</m:t>
                    </m:r>
                    <m:r>
                      <a:rPr lang="fr-FR" sz="2000" b="0" i="1" smtClean="0">
                        <a:latin typeface="Cambria Math" panose="02040503050406030204" pitchFamily="18" charset="0"/>
                      </a:rPr>
                      <m:t>𝑠𝑜𝑚𝑚𝑒𝑡𝑆</m:t>
                    </m:r>
                    <m:r>
                      <a:rPr lang="fr-FR" sz="2000" b="0" i="1" smtClean="0">
                        <a:latin typeface="Cambria Math" panose="02040503050406030204" pitchFamily="18" charset="0"/>
                      </a:rPr>
                      <m:t>é</m:t>
                    </m:r>
                    <m:r>
                      <a:rPr lang="fr-FR" sz="2000" b="0" i="1" smtClean="0">
                        <a:latin typeface="Cambria Math" panose="02040503050406030204" pitchFamily="18" charset="0"/>
                      </a:rPr>
                      <m:t>𝑙𝑒𝑐𝑡𝑖𝑜𝑛𝑛</m:t>
                    </m:r>
                    <m:r>
                      <a:rPr lang="fr-FR" sz="2000" b="0" i="1" smtClean="0">
                        <a:latin typeface="Cambria Math" panose="02040503050406030204" pitchFamily="18" charset="0"/>
                      </a:rPr>
                      <m:t>é, </m:t>
                    </m:r>
                    <m:r>
                      <a:rPr lang="fr-FR" sz="2000" b="0" i="1" smtClean="0">
                        <a:latin typeface="Cambria Math" panose="02040503050406030204" pitchFamily="18" charset="0"/>
                      </a:rPr>
                      <m:t>𝑟</m:t>
                    </m:r>
                    <m:r>
                      <a:rPr lang="fr-FR" sz="2000" b="0" i="1" smtClean="0">
                        <a:latin typeface="Cambria Math" panose="02040503050406030204" pitchFamily="18" charset="0"/>
                      </a:rPr>
                      <m:t>é</m:t>
                    </m:r>
                    <m:r>
                      <a:rPr lang="fr-FR" sz="2000" b="0" i="1" smtClean="0">
                        <a:latin typeface="Cambria Math" panose="02040503050406030204" pitchFamily="18" charset="0"/>
                      </a:rPr>
                      <m:t>𝑠𝑢𝑙𝑡𝑎𝑡</m:t>
                    </m:r>
                    <m:r>
                      <a:rPr lang="fr-FR" sz="2000" b="0" i="1" smtClean="0">
                        <a:latin typeface="Cambria Math" panose="02040503050406030204" pitchFamily="18" charset="0"/>
                      </a:rPr>
                      <m:t>)</m:t>
                    </m:r>
                  </m:oMath>
                </a14:m>
                <a:endParaRPr lang="fr-FR" sz="2000" dirty="0"/>
              </a:p>
              <a:p>
                <a:r>
                  <a:rPr lang="fr-FR" sz="2000" dirty="0"/>
                  <a:t>	RETOURNER </a:t>
                </a:r>
                <a14:m>
                  <m:oMath xmlns:m="http://schemas.openxmlformats.org/officeDocument/2006/math">
                    <m:r>
                      <a:rPr lang="fr-FR" sz="2000" b="0" i="1" smtClean="0">
                        <a:latin typeface="Cambria Math" panose="02040503050406030204" pitchFamily="18" charset="0"/>
                      </a:rPr>
                      <m:t>𝑚𝑒𝑖𝑙𝑙𝑒𝑢𝑟𝐶𝑜𝑢𝑝</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𝑎𝑟𝑏𝑟𝑒</m:t>
                        </m:r>
                      </m:e>
                    </m:d>
                  </m:oMath>
                </a14:m>
                <a:endParaRPr lang="fr-FR" sz="2000" dirty="0"/>
              </a:p>
            </p:txBody>
          </p:sp>
        </mc:Choice>
        <mc:Fallback xmlns="">
          <p:sp>
            <p:nvSpPr>
              <p:cNvPr id="3" name="ZoneTexte 2">
                <a:extLst>
                  <a:ext uri="{FF2B5EF4-FFF2-40B4-BE49-F238E27FC236}">
                    <a16:creationId xmlns:a16="http://schemas.microsoft.com/office/drawing/2014/main" id="{7AF06464-8A36-3D93-D811-DC4DBA169D8D}"/>
                  </a:ext>
                </a:extLst>
              </p:cNvPr>
              <p:cNvSpPr txBox="1">
                <a:spLocks noRot="1" noChangeAspect="1" noMove="1" noResize="1" noEditPoints="1" noAdjustHandles="1" noChangeArrowheads="1" noChangeShapeType="1" noTextEdit="1"/>
              </p:cNvSpPr>
              <p:nvPr/>
            </p:nvSpPr>
            <p:spPr>
              <a:xfrm>
                <a:off x="844826" y="1431230"/>
                <a:ext cx="10525539" cy="3662541"/>
              </a:xfrm>
              <a:prstGeom prst="rect">
                <a:avLst/>
              </a:prstGeom>
              <a:blipFill>
                <a:blip r:embed="rId3"/>
                <a:stretch>
                  <a:fillRect l="-843" t="-1379" b="-1724"/>
                </a:stretch>
              </a:blipFill>
            </p:spPr>
            <p:txBody>
              <a:bodyPr/>
              <a:lstStyle/>
              <a:p>
                <a:r>
                  <a:rPr lang="fr-FR">
                    <a:noFill/>
                  </a:rPr>
                  <a:t> </a:t>
                </a:r>
              </a:p>
            </p:txBody>
          </p:sp>
        </mc:Fallback>
      </mc:AlternateContent>
      <p:pic>
        <p:nvPicPr>
          <p:cNvPr id="5" name="Graphique 4" descr="Machine à sous avec un remplissage uni">
            <a:extLst>
              <a:ext uri="{FF2B5EF4-FFF2-40B4-BE49-F238E27FC236}">
                <a16:creationId xmlns:a16="http://schemas.microsoft.com/office/drawing/2014/main" id="{FF1B1358-B339-71E9-9442-05F0FAB0942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2477818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6829D-EE2A-3468-AAF8-971DA3077E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CC644D-5944-FBDE-B8ED-153EED40C0AE}"/>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154DBA20-DC2F-936A-758C-CD3BA6DF62EC}"/>
                  </a:ext>
                </a:extLst>
              </p:cNvPr>
              <p:cNvSpPr txBox="1"/>
              <p:nvPr/>
            </p:nvSpPr>
            <p:spPr>
              <a:xfrm>
                <a:off x="844826" y="1431230"/>
                <a:ext cx="10525539" cy="4317720"/>
              </a:xfrm>
              <a:prstGeom prst="rect">
                <a:avLst/>
              </a:prstGeom>
              <a:noFill/>
            </p:spPr>
            <p:txBody>
              <a:bodyPr wrap="square" rtlCol="0">
                <a:spAutoFit/>
              </a:bodyPr>
              <a:lstStyle/>
              <a:p>
                <a:r>
                  <a:rPr lang="fr-FR" sz="2400" b="1" dirty="0"/>
                  <a:t>MCTS : pseudo-code (suite)</a:t>
                </a:r>
              </a:p>
              <a:p>
                <a:endParaRPr lang="fr-FR" sz="2400" dirty="0"/>
              </a:p>
              <a:p>
                <a:endParaRPr lang="fr-FR" sz="2400" dirty="0"/>
              </a:p>
              <a:p>
                <a:pPr lvl="0"/>
                <a:r>
                  <a:rPr lang="fr-FR" sz="2000" dirty="0">
                    <a:solidFill>
                      <a:prstClr val="black"/>
                    </a:solidFill>
                  </a:rPr>
                  <a:t>FONCTION </a:t>
                </a:r>
                <a14:m>
                  <m:oMath xmlns:m="http://schemas.openxmlformats.org/officeDocument/2006/math">
                    <m:r>
                      <a:rPr lang="fr-FR" sz="2000" i="1">
                        <a:solidFill>
                          <a:prstClr val="black"/>
                        </a:solidFill>
                        <a:latin typeface="Cambria Math" panose="02040503050406030204" pitchFamily="18" charset="0"/>
                      </a:rPr>
                      <m:t>𝑠𝑜𝑚𝑚𝑒𝑡</m:t>
                    </m:r>
                    <m:d>
                      <m:dPr>
                        <m:ctrlPr>
                          <a:rPr lang="fr-FR" sz="2000" i="1">
                            <a:solidFill>
                              <a:prstClr val="black"/>
                            </a:solidFill>
                            <a:latin typeface="Cambria Math" panose="02040503050406030204" pitchFamily="18" charset="0"/>
                          </a:rPr>
                        </m:ctrlPr>
                      </m:dPr>
                      <m:e>
                        <m:r>
                          <a:rPr lang="fr-FR" sz="2000" i="1">
                            <a:solidFill>
                              <a:prstClr val="black"/>
                            </a:solidFill>
                            <a:latin typeface="Cambria Math" panose="02040503050406030204" pitchFamily="18" charset="0"/>
                          </a:rPr>
                          <m:t>𝑝𝑜𝑠𝑖𝑡𝑖𝑜𝑛</m:t>
                        </m:r>
                      </m:e>
                    </m:d>
                  </m:oMath>
                </a14:m>
                <a:endParaRPr lang="fr-FR" sz="2000" dirty="0">
                  <a:solidFill>
                    <a:prstClr val="black"/>
                  </a:solidFill>
                </a:endParaRPr>
              </a:p>
              <a:p>
                <a:pPr lvl="0"/>
                <a:r>
                  <a:rPr lang="fr-FR" sz="2000" dirty="0">
                    <a:solidFill>
                      <a:prstClr val="black"/>
                    </a:solidFill>
                  </a:rPr>
                  <a:t>	# transforme la </a:t>
                </a:r>
                <a14:m>
                  <m:oMath xmlns:m="http://schemas.openxmlformats.org/officeDocument/2006/math">
                    <m:r>
                      <a:rPr lang="fr-FR" sz="2000" i="1">
                        <a:solidFill>
                          <a:prstClr val="black"/>
                        </a:solidFill>
                        <a:latin typeface="Cambria Math" panose="02040503050406030204" pitchFamily="18" charset="0"/>
                      </a:rPr>
                      <m:t>𝑝𝑜𝑠𝑖𝑡𝑖𝑜𝑛</m:t>
                    </m:r>
                  </m:oMath>
                </a14:m>
                <a:r>
                  <a:rPr lang="fr-FR" sz="2000" dirty="0">
                    <a:solidFill>
                      <a:prstClr val="black"/>
                    </a:solidFill>
                  </a:rPr>
                  <a:t> de jeu en un sommet d’un arbre de recherche</a:t>
                </a:r>
              </a:p>
              <a:p>
                <a:pPr lvl="0"/>
                <a:r>
                  <a:rPr lang="fr-FR" sz="2000" dirty="0">
                    <a:solidFill>
                      <a:prstClr val="black"/>
                    </a:solidFill>
                  </a:rPr>
                  <a:t>	# ce sommet comportera des liens vers son parent et ses éventuels enfants</a:t>
                </a:r>
              </a:p>
              <a:p>
                <a:pPr lvl="0"/>
                <a:r>
                  <a:rPr lang="fr-FR" sz="2000" dirty="0">
                    <a:solidFill>
                      <a:prstClr val="black"/>
                    </a:solidFill>
                  </a:rPr>
                  <a:t>	# ainsi que les statistiques </a:t>
                </a:r>
                <a14:m>
                  <m:oMath xmlns:m="http://schemas.openxmlformats.org/officeDocument/2006/math">
                    <m:r>
                      <a:rPr lang="fr-FR" sz="2000" i="1">
                        <a:solidFill>
                          <a:prstClr val="black"/>
                        </a:solidFill>
                        <a:latin typeface="Cambria Math" panose="02040503050406030204" pitchFamily="18" charset="0"/>
                      </a:rPr>
                      <m:t>𝑈</m:t>
                    </m:r>
                  </m:oMath>
                </a14:m>
                <a:r>
                  <a:rPr lang="fr-FR" sz="2000" dirty="0">
                    <a:solidFill>
                      <a:prstClr val="black"/>
                    </a:solidFill>
                  </a:rPr>
                  <a:t> et </a:t>
                </a:r>
                <a14:m>
                  <m:oMath xmlns:m="http://schemas.openxmlformats.org/officeDocument/2006/math">
                    <m:r>
                      <a:rPr lang="fr-FR" sz="2000" i="1">
                        <a:solidFill>
                          <a:prstClr val="black"/>
                        </a:solidFill>
                        <a:latin typeface="Cambria Math" panose="02040503050406030204" pitchFamily="18" charset="0"/>
                      </a:rPr>
                      <m:t>𝑁</m:t>
                    </m:r>
                  </m:oMath>
                </a14:m>
                <a:r>
                  <a:rPr lang="fr-FR" sz="2000" dirty="0">
                    <a:solidFill>
                      <a:prstClr val="black"/>
                    </a:solidFill>
                  </a:rPr>
                  <a:t> et le </a:t>
                </a:r>
                <a14:m>
                  <m:oMath xmlns:m="http://schemas.openxmlformats.org/officeDocument/2006/math">
                    <m:r>
                      <a:rPr lang="fr-FR" sz="2000" i="1">
                        <a:solidFill>
                          <a:prstClr val="black"/>
                        </a:solidFill>
                        <a:latin typeface="Cambria Math" panose="02040503050406030204" pitchFamily="18" charset="0"/>
                      </a:rPr>
                      <m:t>𝑗𝑜𝑢𝑒𝑢𝑟</m:t>
                    </m:r>
                  </m:oMath>
                </a14:m>
                <a:r>
                  <a:rPr lang="fr-FR" sz="2000" dirty="0">
                    <a:solidFill>
                      <a:prstClr val="black"/>
                    </a:solidFill>
                  </a:rPr>
                  <a:t> dont c’est le tour</a:t>
                </a:r>
              </a:p>
              <a:p>
                <a:endParaRPr lang="fr-FR" sz="2000" dirty="0"/>
              </a:p>
              <a:p>
                <a:endParaRPr lang="fr-FR" sz="2000" dirty="0"/>
              </a:p>
              <a:p>
                <a:r>
                  <a:rPr lang="fr-FR" sz="2000" dirty="0"/>
                  <a:t>FONCTION </a:t>
                </a:r>
                <a14:m>
                  <m:oMath xmlns:m="http://schemas.openxmlformats.org/officeDocument/2006/math">
                    <m:r>
                      <a:rPr lang="fr-FR" sz="2000" i="1">
                        <a:latin typeface="Cambria Math" panose="02040503050406030204" pitchFamily="18" charset="0"/>
                      </a:rPr>
                      <m:t>𝑚𝑒𝑖𝑙𝑙𝑒𝑢𝑟𝐶𝑜𝑢𝑝</m:t>
                    </m:r>
                    <m:d>
                      <m:dPr>
                        <m:ctrlPr>
                          <a:rPr lang="fr-FR" sz="2000" i="1">
                            <a:latin typeface="Cambria Math" panose="02040503050406030204" pitchFamily="18" charset="0"/>
                          </a:rPr>
                        </m:ctrlPr>
                      </m:dPr>
                      <m:e>
                        <m:r>
                          <a:rPr lang="fr-FR" sz="2000" i="1">
                            <a:latin typeface="Cambria Math" panose="02040503050406030204" pitchFamily="18" charset="0"/>
                          </a:rPr>
                          <m:t>𝑎𝑟𝑏𝑟𝑒</m:t>
                        </m:r>
                      </m:e>
                    </m:d>
                  </m:oMath>
                </a14:m>
                <a:endParaRPr lang="fr-FR" sz="2000" dirty="0"/>
              </a:p>
              <a:p>
                <a:r>
                  <a:rPr lang="fr-FR" sz="2000" dirty="0"/>
                  <a:t>	# retourne le meilleur coup issu de la racine ici on choisi le plus visité</a:t>
                </a:r>
              </a:p>
              <a:p>
                <a:r>
                  <a:rPr lang="fr-FR" sz="2000" dirty="0"/>
                  <a:t>	# la fonction arg max est ici calculée sur les sommets </a:t>
                </a:r>
                <a14:m>
                  <m:oMath xmlns:m="http://schemas.openxmlformats.org/officeDocument/2006/math">
                    <m:r>
                      <a:rPr lang="fr-FR" sz="2000" b="0" i="1" smtClean="0">
                        <a:latin typeface="Cambria Math" panose="02040503050406030204" pitchFamily="18" charset="0"/>
                      </a:rPr>
                      <m:t>𝑥</m:t>
                    </m:r>
                  </m:oMath>
                </a14:m>
                <a:r>
                  <a:rPr lang="fr-FR" sz="2000" dirty="0"/>
                  <a:t> successeurs de la racine</a:t>
                </a:r>
              </a:p>
              <a:p>
                <a:r>
                  <a:rPr lang="fr-FR" sz="2000" dirty="0"/>
                  <a:t>	RETOURNER </a:t>
                </a:r>
                <a14:m>
                  <m:oMath xmlns:m="http://schemas.openxmlformats.org/officeDocument/2006/math">
                    <m:func>
                      <m:funcPr>
                        <m:ctrlPr>
                          <a:rPr lang="fr-FR" sz="2000" i="1" smtClean="0">
                            <a:latin typeface="Cambria Math" panose="02040503050406030204" pitchFamily="18" charset="0"/>
                          </a:rPr>
                        </m:ctrlPr>
                      </m:funcPr>
                      <m:fName>
                        <m:limLow>
                          <m:limLowPr>
                            <m:ctrlPr>
                              <a:rPr lang="fr-FR" sz="2000" i="1" smtClean="0">
                                <a:latin typeface="Cambria Math" panose="02040503050406030204" pitchFamily="18" charset="0"/>
                              </a:rPr>
                            </m:ctrlPr>
                          </m:limLowPr>
                          <m:e>
                            <m:r>
                              <m:rPr>
                                <m:sty m:val="p"/>
                              </m:rPr>
                              <a:rPr lang="fr-FR" sz="2000" b="0" i="0" smtClean="0">
                                <a:latin typeface="Cambria Math" panose="02040503050406030204" pitchFamily="18" charset="0"/>
                              </a:rPr>
                              <m:t>arg</m:t>
                            </m:r>
                            <m:r>
                              <a:rPr lang="fr-FR" sz="2000" b="0" i="0" smtClean="0">
                                <a:latin typeface="Cambria Math" panose="02040503050406030204" pitchFamily="18" charset="0"/>
                              </a:rPr>
                              <m:t> </m:t>
                            </m:r>
                            <m:r>
                              <m:rPr>
                                <m:sty m:val="p"/>
                              </m:rPr>
                              <a:rPr lang="fr-FR" sz="2000" b="0" i="0" smtClean="0">
                                <a:latin typeface="Cambria Math" panose="02040503050406030204" pitchFamily="18" charset="0"/>
                              </a:rPr>
                              <m:t>max</m:t>
                            </m:r>
                          </m:e>
                          <m:lim>
                            <m:r>
                              <a:rPr lang="fr-FR" sz="2000" b="0" i="1" smtClean="0">
                                <a:latin typeface="Cambria Math" panose="02040503050406030204" pitchFamily="18" charset="0"/>
                              </a:rPr>
                              <m:t>𝑥</m:t>
                            </m:r>
                          </m:lim>
                        </m:limLow>
                      </m:fName>
                      <m:e>
                        <m:d>
                          <m:dPr>
                            <m:ctrlPr>
                              <a:rPr lang="fr-FR" sz="2000" i="1" smtClean="0">
                                <a:latin typeface="Cambria Math" panose="02040503050406030204" pitchFamily="18" charset="0"/>
                              </a:rPr>
                            </m:ctrlPr>
                          </m:dPr>
                          <m:e>
                            <m:r>
                              <a:rPr lang="fr-FR" sz="2000" b="0" i="1" smtClean="0">
                                <a:latin typeface="Cambria Math" panose="02040503050406030204" pitchFamily="18" charset="0"/>
                              </a:rPr>
                              <m:t>𝑁</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𝑥</m:t>
                                </m:r>
                              </m:e>
                            </m:d>
                          </m:e>
                        </m:d>
                      </m:e>
                    </m:func>
                  </m:oMath>
                </a14:m>
                <a:endParaRPr lang="fr-FR" sz="2000" dirty="0"/>
              </a:p>
            </p:txBody>
          </p:sp>
        </mc:Choice>
        <mc:Fallback xmlns="">
          <p:sp>
            <p:nvSpPr>
              <p:cNvPr id="3" name="ZoneTexte 2">
                <a:extLst>
                  <a:ext uri="{FF2B5EF4-FFF2-40B4-BE49-F238E27FC236}">
                    <a16:creationId xmlns:a16="http://schemas.microsoft.com/office/drawing/2014/main" id="{154DBA20-DC2F-936A-758C-CD3BA6DF62EC}"/>
                  </a:ext>
                </a:extLst>
              </p:cNvPr>
              <p:cNvSpPr txBox="1">
                <a:spLocks noRot="1" noChangeAspect="1" noMove="1" noResize="1" noEditPoints="1" noAdjustHandles="1" noChangeArrowheads="1" noChangeShapeType="1" noTextEdit="1"/>
              </p:cNvSpPr>
              <p:nvPr/>
            </p:nvSpPr>
            <p:spPr>
              <a:xfrm>
                <a:off x="844826" y="1431230"/>
                <a:ext cx="10525539" cy="4317720"/>
              </a:xfrm>
              <a:prstGeom prst="rect">
                <a:avLst/>
              </a:prstGeom>
              <a:blipFill>
                <a:blip r:embed="rId2"/>
                <a:stretch>
                  <a:fillRect l="-843" t="-1173" b="-1173"/>
                </a:stretch>
              </a:blipFill>
            </p:spPr>
            <p:txBody>
              <a:bodyPr/>
              <a:lstStyle/>
              <a:p>
                <a:r>
                  <a:rPr lang="fr-FR">
                    <a:noFill/>
                  </a:rPr>
                  <a:t> </a:t>
                </a:r>
              </a:p>
            </p:txBody>
          </p:sp>
        </mc:Fallback>
      </mc:AlternateContent>
    </p:spTree>
    <p:extLst>
      <p:ext uri="{BB962C8B-B14F-4D97-AF65-F5344CB8AC3E}">
        <p14:creationId xmlns:p14="http://schemas.microsoft.com/office/powerpoint/2010/main" val="135290351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F2A16-C6FE-7EED-23BC-A14A249447F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A22E469-10BF-0E68-A629-A37516252188}"/>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557CD03F-F141-A669-042D-A917508DEDAB}"/>
                  </a:ext>
                </a:extLst>
              </p:cNvPr>
              <p:cNvSpPr txBox="1"/>
              <p:nvPr/>
            </p:nvSpPr>
            <p:spPr>
              <a:xfrm>
                <a:off x="844826" y="1431230"/>
                <a:ext cx="10525539" cy="4354269"/>
              </a:xfrm>
              <a:prstGeom prst="rect">
                <a:avLst/>
              </a:prstGeom>
              <a:noFill/>
            </p:spPr>
            <p:txBody>
              <a:bodyPr wrap="square" rtlCol="0">
                <a:spAutoFit/>
              </a:bodyPr>
              <a:lstStyle/>
              <a:p>
                <a:r>
                  <a:rPr lang="fr-FR" sz="2400" b="1" dirty="0"/>
                  <a:t>MCTS : pseudo-code (suite)</a:t>
                </a:r>
              </a:p>
              <a:p>
                <a:endParaRPr lang="fr-FR" sz="2400" dirty="0"/>
              </a:p>
              <a:p>
                <a:endParaRPr lang="fr-FR" sz="2400" dirty="0"/>
              </a:p>
              <a:p>
                <a:r>
                  <a:rPr lang="fr-FR" sz="2000" dirty="0"/>
                  <a:t>FONCTION </a:t>
                </a:r>
                <a14:m>
                  <m:oMath xmlns:m="http://schemas.openxmlformats.org/officeDocument/2006/math">
                    <m:r>
                      <a:rPr lang="fr-FR" sz="2000" i="1">
                        <a:latin typeface="Cambria Math" panose="02040503050406030204" pitchFamily="18" charset="0"/>
                        <a:ea typeface="Cambria Math" panose="02040503050406030204" pitchFamily="18" charset="0"/>
                      </a:rPr>
                      <m:t>𝑠</m:t>
                    </m:r>
                    <m:r>
                      <a:rPr lang="fr-FR" sz="2000" i="1">
                        <a:latin typeface="Cambria Math" panose="02040503050406030204" pitchFamily="18" charset="0"/>
                        <a:ea typeface="Cambria Math" panose="02040503050406030204" pitchFamily="18" charset="0"/>
                      </a:rPr>
                      <m:t>é</m:t>
                    </m:r>
                    <m:r>
                      <a:rPr lang="fr-FR" sz="2000" i="1">
                        <a:latin typeface="Cambria Math" panose="02040503050406030204" pitchFamily="18" charset="0"/>
                        <a:ea typeface="Cambria Math" panose="02040503050406030204" pitchFamily="18" charset="0"/>
                      </a:rPr>
                      <m:t>𝑙𝑒𝑐𝑡𝑖𝑜𝑛𝑈𝐶𝑇</m:t>
                    </m:r>
                    <m:r>
                      <a:rPr lang="fr-FR" sz="2000" i="1">
                        <a:latin typeface="Cambria Math" panose="02040503050406030204" pitchFamily="18" charset="0"/>
                        <a:ea typeface="Cambria Math" panose="02040503050406030204" pitchFamily="18" charset="0"/>
                      </a:rPr>
                      <m:t>(</m:t>
                    </m:r>
                    <m:r>
                      <a:rPr lang="fr-FR" sz="2000" i="1">
                        <a:latin typeface="Cambria Math" panose="02040503050406030204" pitchFamily="18" charset="0"/>
                        <a:ea typeface="Cambria Math" panose="02040503050406030204" pitchFamily="18" charset="0"/>
                      </a:rPr>
                      <m:t>𝑎𝑟𝑏𝑟𝑒</m:t>
                    </m:r>
                    <m:r>
                      <a:rPr lang="fr-FR" sz="2000" i="1">
                        <a:latin typeface="Cambria Math" panose="02040503050406030204" pitchFamily="18" charset="0"/>
                        <a:ea typeface="Cambria Math" panose="02040503050406030204" pitchFamily="18" charset="0"/>
                      </a:rPr>
                      <m:t>)</m:t>
                    </m:r>
                  </m:oMath>
                </a14:m>
                <a:endParaRPr lang="fr-FR" sz="2000" dirty="0"/>
              </a:p>
              <a:p>
                <a:r>
                  <a:rPr lang="fr-FR" sz="2000" dirty="0"/>
                  <a:t>	# la fonction arg max est ici calculée sur les sommets </a:t>
                </a:r>
                <a14:m>
                  <m:oMath xmlns:m="http://schemas.openxmlformats.org/officeDocument/2006/math">
                    <m:r>
                      <a:rPr lang="fr-FR" sz="2000" i="1">
                        <a:latin typeface="Cambria Math" panose="02040503050406030204" pitchFamily="18" charset="0"/>
                      </a:rPr>
                      <m:t>𝑥</m:t>
                    </m:r>
                  </m:oMath>
                </a14:m>
                <a:r>
                  <a:rPr lang="fr-FR" sz="2000" dirty="0"/>
                  <a:t> successeurs du sommet courant</a:t>
                </a:r>
              </a:p>
              <a:p>
                <a:r>
                  <a:rPr lang="fr-FR" sz="2000" dirty="0"/>
                  <a:t>	</a:t>
                </a:r>
                <a14:m>
                  <m:oMath xmlns:m="http://schemas.openxmlformats.org/officeDocument/2006/math">
                    <m:r>
                      <a:rPr lang="fr-FR" sz="2000" b="0" i="1" smtClean="0">
                        <a:latin typeface="Cambria Math" panose="02040503050406030204" pitchFamily="18" charset="0"/>
                      </a:rPr>
                      <m:t>𝑠𝑜𝑚𝑚𝑒𝑡𝐶𝑜𝑢𝑟𝑎𝑛𝑡</m:t>
                    </m:r>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𝑟𝑎𝑐𝑖𝑛𝑒</m:t>
                    </m:r>
                    <m:d>
                      <m:dPr>
                        <m:ctrlPr>
                          <a:rPr lang="fr-FR" sz="2000" b="0" i="1" smtClean="0">
                            <a:latin typeface="Cambria Math" panose="02040503050406030204" pitchFamily="18" charset="0"/>
                            <a:ea typeface="Cambria Math" panose="02040503050406030204" pitchFamily="18" charset="0"/>
                          </a:rPr>
                        </m:ctrlPr>
                      </m:dPr>
                      <m:e>
                        <m:r>
                          <a:rPr lang="fr-FR" sz="2000" b="0" i="1" smtClean="0">
                            <a:latin typeface="Cambria Math" panose="02040503050406030204" pitchFamily="18" charset="0"/>
                            <a:ea typeface="Cambria Math" panose="02040503050406030204" pitchFamily="18" charset="0"/>
                          </a:rPr>
                          <m:t>𝑎𝑟𝑏𝑟𝑒</m:t>
                        </m:r>
                      </m:e>
                    </m:d>
                  </m:oMath>
                </a14:m>
                <a:endParaRPr lang="fr-FR" sz="2000" dirty="0"/>
              </a:p>
              <a:p>
                <a:r>
                  <a:rPr lang="fr-FR" sz="2000" dirty="0"/>
                  <a:t>	TANT QUE </a:t>
                </a:r>
                <a14:m>
                  <m:oMath xmlns:m="http://schemas.openxmlformats.org/officeDocument/2006/math">
                    <m:r>
                      <a:rPr lang="fr-FR" sz="2000" b="0" i="1" smtClean="0">
                        <a:latin typeface="Cambria Math" panose="02040503050406030204" pitchFamily="18" charset="0"/>
                      </a:rPr>
                      <m:t>𝑠𝑜𝑚𝑚𝑒𝑡𝐶𝑜𝑢𝑟𝑎𝑛𝑡</m:t>
                    </m:r>
                  </m:oMath>
                </a14:m>
                <a:r>
                  <a:rPr lang="fr-FR" sz="2000" dirty="0"/>
                  <a:t> n’est pas une position finale FAIRE</a:t>
                </a:r>
              </a:p>
              <a:p>
                <a:r>
                  <a:rPr lang="fr-FR" sz="2000" dirty="0"/>
                  <a:t>		SI </a:t>
                </a:r>
                <a14:m>
                  <m:oMath xmlns:m="http://schemas.openxmlformats.org/officeDocument/2006/math">
                    <m:r>
                      <a:rPr lang="fr-FR" sz="2000" i="1">
                        <a:latin typeface="Cambria Math" panose="02040503050406030204" pitchFamily="18" charset="0"/>
                      </a:rPr>
                      <m:t>𝑠𝑜𝑚𝑚𝑒𝑡𝐶𝑜𝑢𝑟𝑎𝑛𝑡</m:t>
                    </m:r>
                  </m:oMath>
                </a14:m>
                <a:r>
                  <a:rPr lang="fr-FR" sz="2000" dirty="0"/>
                  <a:t> n’est pas complètement déployé ALORS</a:t>
                </a:r>
              </a:p>
              <a:p>
                <a:r>
                  <a:rPr lang="fr-FR" sz="2000" dirty="0"/>
                  <a:t>			RETOURNER </a:t>
                </a:r>
                <a14:m>
                  <m:oMath xmlns:m="http://schemas.openxmlformats.org/officeDocument/2006/math">
                    <m:r>
                      <a:rPr lang="fr-FR" sz="2000" i="1">
                        <a:latin typeface="Cambria Math" panose="02040503050406030204" pitchFamily="18" charset="0"/>
                      </a:rPr>
                      <m:t>𝑠𝑜𝑚𝑚𝑒𝑡𝐶𝑜𝑢𝑟𝑎𝑛𝑡</m:t>
                    </m:r>
                  </m:oMath>
                </a14:m>
                <a:endParaRPr lang="fr-FR" sz="2000" dirty="0"/>
              </a:p>
              <a:p>
                <a:r>
                  <a:rPr lang="fr-FR" sz="2000" dirty="0"/>
                  <a:t>		SINON</a:t>
                </a:r>
              </a:p>
              <a:p>
                <a:r>
                  <a:rPr lang="fr-FR" sz="2000" dirty="0"/>
                  <a:t>			 </a:t>
                </a:r>
                <a14:m>
                  <m:oMath xmlns:m="http://schemas.openxmlformats.org/officeDocument/2006/math">
                    <m:r>
                      <a:rPr lang="fr-FR" sz="2000" i="1">
                        <a:latin typeface="Cambria Math" panose="02040503050406030204" pitchFamily="18" charset="0"/>
                      </a:rPr>
                      <m:t>𝑠𝑜𝑚𝑚𝑒𝑡𝐶𝑜𝑢𝑟𝑎𝑛𝑡</m:t>
                    </m:r>
                    <m:r>
                      <a:rPr lang="fr-FR" sz="2000" i="1" smtClean="0">
                        <a:latin typeface="Cambria Math" panose="02040503050406030204" pitchFamily="18" charset="0"/>
                        <a:ea typeface="Cambria Math" panose="02040503050406030204" pitchFamily="18" charset="0"/>
                      </a:rPr>
                      <m:t>←</m:t>
                    </m:r>
                    <m:func>
                      <m:funcPr>
                        <m:ctrlPr>
                          <a:rPr lang="fr-FR" sz="2000" i="1" smtClean="0">
                            <a:latin typeface="Cambria Math" panose="02040503050406030204" pitchFamily="18" charset="0"/>
                            <a:ea typeface="Cambria Math" panose="02040503050406030204" pitchFamily="18" charset="0"/>
                          </a:rPr>
                        </m:ctrlPr>
                      </m:funcPr>
                      <m:fName>
                        <m:limLow>
                          <m:limLowPr>
                            <m:ctrlPr>
                              <a:rPr lang="fr-FR" sz="2000" i="1" smtClean="0">
                                <a:latin typeface="Cambria Math" panose="02040503050406030204" pitchFamily="18" charset="0"/>
                                <a:ea typeface="Cambria Math" panose="02040503050406030204" pitchFamily="18" charset="0"/>
                              </a:rPr>
                            </m:ctrlPr>
                          </m:limLowPr>
                          <m:e>
                            <m:r>
                              <m:rPr>
                                <m:sty m:val="p"/>
                              </m:rPr>
                              <a:rPr lang="fr-FR" sz="2000" b="0" i="0" smtClean="0">
                                <a:latin typeface="Cambria Math" panose="02040503050406030204" pitchFamily="18" charset="0"/>
                                <a:ea typeface="Cambria Math" panose="02040503050406030204" pitchFamily="18" charset="0"/>
                              </a:rPr>
                              <m:t>arg</m:t>
                            </m:r>
                            <m:r>
                              <a:rPr lang="fr-FR" sz="2000" b="0" i="0" smtClean="0">
                                <a:latin typeface="Cambria Math" panose="02040503050406030204" pitchFamily="18" charset="0"/>
                                <a:ea typeface="Cambria Math" panose="02040503050406030204" pitchFamily="18" charset="0"/>
                              </a:rPr>
                              <m:t> </m:t>
                            </m:r>
                            <m:r>
                              <m:rPr>
                                <m:sty m:val="p"/>
                              </m:rPr>
                              <a:rPr lang="fr-FR" sz="2000" i="0" smtClean="0">
                                <a:latin typeface="Cambria Math" panose="02040503050406030204" pitchFamily="18" charset="0"/>
                                <a:ea typeface="Cambria Math" panose="02040503050406030204" pitchFamily="18" charset="0"/>
                              </a:rPr>
                              <m:t>max</m:t>
                            </m:r>
                          </m:e>
                          <m:lim>
                            <m:r>
                              <a:rPr lang="fr-FR" sz="2000" b="0" i="1" smtClean="0">
                                <a:latin typeface="Cambria Math" panose="02040503050406030204" pitchFamily="18" charset="0"/>
                                <a:ea typeface="Cambria Math" panose="02040503050406030204" pitchFamily="18" charset="0"/>
                              </a:rPr>
                              <m:t>𝑥</m:t>
                            </m:r>
                          </m:lim>
                        </m:limLow>
                      </m:fName>
                      <m:e>
                        <m:d>
                          <m:dPr>
                            <m:ctrlPr>
                              <a:rPr lang="fr-FR" sz="2000" i="1" smtClean="0">
                                <a:latin typeface="Cambria Math" panose="02040503050406030204" pitchFamily="18" charset="0"/>
                                <a:ea typeface="Cambria Math" panose="02040503050406030204" pitchFamily="18" charset="0"/>
                              </a:rPr>
                            </m:ctrlPr>
                          </m:dPr>
                          <m:e>
                            <m:f>
                              <m:fPr>
                                <m:ctrlPr>
                                  <a:rPr lang="fr-FR" sz="2000" i="1">
                                    <a:latin typeface="Cambria Math" panose="02040503050406030204" pitchFamily="18" charset="0"/>
                                  </a:rPr>
                                </m:ctrlPr>
                              </m:fPr>
                              <m:num>
                                <m:r>
                                  <a:rPr lang="fr-FR" sz="2000" i="1">
                                    <a:latin typeface="Cambria Math" panose="02040503050406030204" pitchFamily="18" charset="0"/>
                                  </a:rPr>
                                  <m:t>𝑈</m:t>
                                </m:r>
                                <m:d>
                                  <m:dPr>
                                    <m:ctrlPr>
                                      <a:rPr lang="fr-FR" sz="2000" i="1">
                                        <a:latin typeface="Cambria Math" panose="02040503050406030204" pitchFamily="18" charset="0"/>
                                      </a:rPr>
                                    </m:ctrlPr>
                                  </m:dPr>
                                  <m:e>
                                    <m:r>
                                      <a:rPr lang="fr-FR" sz="2000" i="1">
                                        <a:latin typeface="Cambria Math" panose="02040503050406030204" pitchFamily="18" charset="0"/>
                                      </a:rPr>
                                      <m:t>𝑥</m:t>
                                    </m:r>
                                  </m:e>
                                </m:d>
                              </m:num>
                              <m:den>
                                <m:r>
                                  <a:rPr lang="fr-FR" sz="2000" i="1">
                                    <a:latin typeface="Cambria Math" panose="02040503050406030204" pitchFamily="18" charset="0"/>
                                  </a:rPr>
                                  <m:t>𝑁</m:t>
                                </m:r>
                                <m:d>
                                  <m:dPr>
                                    <m:ctrlPr>
                                      <a:rPr lang="fr-FR" sz="2000" i="1">
                                        <a:latin typeface="Cambria Math" panose="02040503050406030204" pitchFamily="18" charset="0"/>
                                      </a:rPr>
                                    </m:ctrlPr>
                                  </m:dPr>
                                  <m:e>
                                    <m:r>
                                      <a:rPr lang="fr-FR" sz="2000" i="1">
                                        <a:latin typeface="Cambria Math" panose="02040503050406030204" pitchFamily="18" charset="0"/>
                                      </a:rPr>
                                      <m:t>𝑥</m:t>
                                    </m:r>
                                  </m:e>
                                </m:d>
                              </m:den>
                            </m:f>
                            <m:r>
                              <a:rPr lang="fr-FR" sz="2000" i="1">
                                <a:latin typeface="Cambria Math" panose="02040503050406030204" pitchFamily="18" charset="0"/>
                              </a:rPr>
                              <m:t>+</m:t>
                            </m:r>
                            <m:r>
                              <a:rPr lang="fr-FR" sz="2000" i="1">
                                <a:latin typeface="Cambria Math" panose="02040503050406030204" pitchFamily="18" charset="0"/>
                              </a:rPr>
                              <m:t>𝐶</m:t>
                            </m:r>
                            <m:r>
                              <a:rPr lang="fr-FR" sz="2000" i="1">
                                <a:latin typeface="Cambria Math" panose="02040503050406030204" pitchFamily="18" charset="0"/>
                              </a:rPr>
                              <m:t>×</m:t>
                            </m:r>
                            <m:rad>
                              <m:radPr>
                                <m:degHide m:val="on"/>
                                <m:ctrlPr>
                                  <a:rPr lang="fr-FR" sz="2000" i="1">
                                    <a:latin typeface="Cambria Math" panose="02040503050406030204" pitchFamily="18" charset="0"/>
                                  </a:rPr>
                                </m:ctrlPr>
                              </m:radPr>
                              <m:deg/>
                              <m:e>
                                <m:f>
                                  <m:fPr>
                                    <m:ctrlPr>
                                      <a:rPr lang="fr-FR" sz="2000" i="1">
                                        <a:latin typeface="Cambria Math" panose="02040503050406030204" pitchFamily="18" charset="0"/>
                                      </a:rPr>
                                    </m:ctrlPr>
                                  </m:fPr>
                                  <m:num>
                                    <m:func>
                                      <m:funcPr>
                                        <m:ctrlPr>
                                          <a:rPr lang="fr-FR" sz="2000" i="1">
                                            <a:latin typeface="Cambria Math" panose="02040503050406030204" pitchFamily="18" charset="0"/>
                                          </a:rPr>
                                        </m:ctrlPr>
                                      </m:funcPr>
                                      <m:fName>
                                        <m:r>
                                          <m:rPr>
                                            <m:sty m:val="p"/>
                                          </m:rPr>
                                          <a:rPr lang="fr-FR" sz="2000">
                                            <a:latin typeface="Cambria Math" panose="02040503050406030204" pitchFamily="18" charset="0"/>
                                          </a:rPr>
                                          <m:t>log</m:t>
                                        </m:r>
                                      </m:fName>
                                      <m:e>
                                        <m:d>
                                          <m:dPr>
                                            <m:ctrlPr>
                                              <a:rPr lang="fr-FR" sz="2000" i="1">
                                                <a:latin typeface="Cambria Math" panose="02040503050406030204" pitchFamily="18" charset="0"/>
                                              </a:rPr>
                                            </m:ctrlPr>
                                          </m:dPr>
                                          <m:e>
                                            <m:r>
                                              <a:rPr lang="fr-FR" sz="2000" i="1">
                                                <a:latin typeface="Cambria Math" panose="02040503050406030204" pitchFamily="18" charset="0"/>
                                              </a:rPr>
                                              <m:t>𝑁</m:t>
                                            </m:r>
                                            <m:d>
                                              <m:dPr>
                                                <m:ctrlPr>
                                                  <a:rPr lang="fr-FR" sz="2000" i="1">
                                                    <a:latin typeface="Cambria Math" panose="02040503050406030204" pitchFamily="18" charset="0"/>
                                                  </a:rPr>
                                                </m:ctrlPr>
                                              </m:dPr>
                                              <m:e>
                                                <m:r>
                                                  <a:rPr lang="fr-FR" sz="2000" b="0" i="1" smtClean="0">
                                                    <a:latin typeface="Cambria Math" panose="02040503050406030204" pitchFamily="18" charset="0"/>
                                                  </a:rPr>
                                                  <m:t>𝑠𝑜𝑚𝑚𝑒𝑡𝐶𝑜𝑢𝑟𝑎𝑛𝑡</m:t>
                                                </m:r>
                                              </m:e>
                                            </m:d>
                                          </m:e>
                                        </m:d>
                                      </m:e>
                                    </m:func>
                                  </m:num>
                                  <m:den>
                                    <m:r>
                                      <a:rPr lang="fr-FR" sz="2000" i="1">
                                        <a:latin typeface="Cambria Math" panose="02040503050406030204" pitchFamily="18" charset="0"/>
                                      </a:rPr>
                                      <m:t>𝑁</m:t>
                                    </m:r>
                                    <m:d>
                                      <m:dPr>
                                        <m:ctrlPr>
                                          <a:rPr lang="fr-FR" sz="2000" i="1">
                                            <a:latin typeface="Cambria Math" panose="02040503050406030204" pitchFamily="18" charset="0"/>
                                          </a:rPr>
                                        </m:ctrlPr>
                                      </m:dPr>
                                      <m:e>
                                        <m:r>
                                          <a:rPr lang="fr-FR" sz="2000" i="1">
                                            <a:latin typeface="Cambria Math" panose="02040503050406030204" pitchFamily="18" charset="0"/>
                                          </a:rPr>
                                          <m:t>𝑥</m:t>
                                        </m:r>
                                      </m:e>
                                    </m:d>
                                  </m:den>
                                </m:f>
                              </m:e>
                            </m:rad>
                          </m:e>
                        </m:d>
                      </m:e>
                    </m:func>
                  </m:oMath>
                </a14:m>
                <a:endParaRPr lang="fr-FR" sz="2000" dirty="0"/>
              </a:p>
              <a:p>
                <a:r>
                  <a:rPr lang="fr-FR" sz="2000" dirty="0"/>
                  <a:t>	RETOURNER </a:t>
                </a:r>
                <a14:m>
                  <m:oMath xmlns:m="http://schemas.openxmlformats.org/officeDocument/2006/math">
                    <m:r>
                      <a:rPr lang="fr-FR" sz="2000" b="0" i="1" smtClean="0">
                        <a:latin typeface="Cambria Math" panose="02040503050406030204" pitchFamily="18" charset="0"/>
                      </a:rPr>
                      <m:t>𝑠𝑜𝑚𝑚𝑒𝑡𝐶𝑜𝑢𝑟𝑎𝑛𝑡</m:t>
                    </m:r>
                  </m:oMath>
                </a14:m>
                <a:endParaRPr lang="fr-FR" sz="2000" dirty="0"/>
              </a:p>
            </p:txBody>
          </p:sp>
        </mc:Choice>
        <mc:Fallback xmlns="">
          <p:sp>
            <p:nvSpPr>
              <p:cNvPr id="3" name="ZoneTexte 2">
                <a:extLst>
                  <a:ext uri="{FF2B5EF4-FFF2-40B4-BE49-F238E27FC236}">
                    <a16:creationId xmlns:a16="http://schemas.microsoft.com/office/drawing/2014/main" id="{557CD03F-F141-A669-042D-A917508DEDAB}"/>
                  </a:ext>
                </a:extLst>
              </p:cNvPr>
              <p:cNvSpPr txBox="1">
                <a:spLocks noRot="1" noChangeAspect="1" noMove="1" noResize="1" noEditPoints="1" noAdjustHandles="1" noChangeArrowheads="1" noChangeShapeType="1" noTextEdit="1"/>
              </p:cNvSpPr>
              <p:nvPr/>
            </p:nvSpPr>
            <p:spPr>
              <a:xfrm>
                <a:off x="844826" y="1431230"/>
                <a:ext cx="10525539" cy="4354269"/>
              </a:xfrm>
              <a:prstGeom prst="rect">
                <a:avLst/>
              </a:prstGeom>
              <a:blipFill>
                <a:blip r:embed="rId3"/>
                <a:stretch>
                  <a:fillRect l="-843" t="-1163" b="-1453"/>
                </a:stretch>
              </a:blipFill>
            </p:spPr>
            <p:txBody>
              <a:bodyPr/>
              <a:lstStyle/>
              <a:p>
                <a:r>
                  <a:rPr lang="fr-FR">
                    <a:noFill/>
                  </a:rPr>
                  <a:t> </a:t>
                </a:r>
              </a:p>
            </p:txBody>
          </p:sp>
        </mc:Fallback>
      </mc:AlternateContent>
    </p:spTree>
    <p:extLst>
      <p:ext uri="{BB962C8B-B14F-4D97-AF65-F5344CB8AC3E}">
        <p14:creationId xmlns:p14="http://schemas.microsoft.com/office/powerpoint/2010/main" val="237622580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1A1D3-A77B-4EC9-F6D6-AA36A84EB01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F487036-AEA7-E1EA-0BA3-8B4C22E395E0}"/>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E0B3A303-26BE-C89D-411D-17AAC512E8CD}"/>
                  </a:ext>
                </a:extLst>
              </p:cNvPr>
              <p:cNvSpPr txBox="1"/>
              <p:nvPr/>
            </p:nvSpPr>
            <p:spPr>
              <a:xfrm>
                <a:off x="844826" y="1431230"/>
                <a:ext cx="10525539" cy="4585871"/>
              </a:xfrm>
              <a:prstGeom prst="rect">
                <a:avLst/>
              </a:prstGeom>
              <a:noFill/>
            </p:spPr>
            <p:txBody>
              <a:bodyPr wrap="square" rtlCol="0">
                <a:spAutoFit/>
              </a:bodyPr>
              <a:lstStyle/>
              <a:p>
                <a:r>
                  <a:rPr lang="fr-FR" sz="2400" b="1" dirty="0"/>
                  <a:t>MCTS : pseudo-code (suite)</a:t>
                </a:r>
              </a:p>
              <a:p>
                <a:endParaRPr lang="fr-FR" sz="2400" dirty="0"/>
              </a:p>
              <a:p>
                <a:endParaRPr lang="fr-FR" sz="2400" dirty="0"/>
              </a:p>
              <a:p>
                <a:r>
                  <a:rPr lang="fr-FR" sz="2000" dirty="0"/>
                  <a:t>FONCTION </a:t>
                </a:r>
                <a14:m>
                  <m:oMath xmlns:m="http://schemas.openxmlformats.org/officeDocument/2006/math">
                    <m:r>
                      <a:rPr lang="fr-FR" sz="2000" i="1">
                        <a:latin typeface="Cambria Math" panose="02040503050406030204" pitchFamily="18" charset="0"/>
                        <a:ea typeface="Cambria Math" panose="02040503050406030204" pitchFamily="18" charset="0"/>
                      </a:rPr>
                      <m:t>𝑒𝑥𝑝𝑎𝑛𝑠𝑖𝑜𝑛</m:t>
                    </m:r>
                    <m:r>
                      <a:rPr lang="fr-FR" sz="2000" i="1">
                        <a:latin typeface="Cambria Math" panose="02040503050406030204" pitchFamily="18" charset="0"/>
                        <a:ea typeface="Cambria Math" panose="02040503050406030204" pitchFamily="18" charset="0"/>
                      </a:rPr>
                      <m:t>(</m:t>
                    </m:r>
                    <m:r>
                      <a:rPr lang="fr-FR" sz="2000" i="1">
                        <a:latin typeface="Cambria Math" panose="02040503050406030204" pitchFamily="18" charset="0"/>
                        <a:ea typeface="Cambria Math" panose="02040503050406030204" pitchFamily="18" charset="0"/>
                      </a:rPr>
                      <m:t>𝑎𝑟𝑏𝑟𝑒</m:t>
                    </m:r>
                    <m:r>
                      <a:rPr lang="fr-FR" sz="2000" i="1">
                        <a:latin typeface="Cambria Math" panose="02040503050406030204" pitchFamily="18" charset="0"/>
                        <a:ea typeface="Cambria Math" panose="02040503050406030204" pitchFamily="18" charset="0"/>
                      </a:rPr>
                      <m:t>,</m:t>
                    </m:r>
                    <m:r>
                      <a:rPr lang="fr-FR" sz="2000" i="1">
                        <a:latin typeface="Cambria Math" panose="02040503050406030204" pitchFamily="18" charset="0"/>
                        <a:ea typeface="Cambria Math" panose="02040503050406030204" pitchFamily="18" charset="0"/>
                      </a:rPr>
                      <m:t>𝑠𝑜𝑚𝑚𝑒𝑡</m:t>
                    </m:r>
                    <m:r>
                      <a:rPr lang="fr-FR" sz="2000" i="1">
                        <a:latin typeface="Cambria Math" panose="02040503050406030204" pitchFamily="18" charset="0"/>
                        <a:ea typeface="Cambria Math" panose="02040503050406030204" pitchFamily="18" charset="0"/>
                      </a:rPr>
                      <m:t>)</m:t>
                    </m:r>
                  </m:oMath>
                </a14:m>
                <a:endParaRPr lang="fr-FR" sz="2000" dirty="0"/>
              </a:p>
              <a:p>
                <a:r>
                  <a:rPr lang="fr-FR" sz="2000" dirty="0"/>
                  <a:t>	choisir arbitrairement un enfant pas encore traité </a:t>
                </a:r>
                <a14:m>
                  <m:oMath xmlns:m="http://schemas.openxmlformats.org/officeDocument/2006/math">
                    <m:r>
                      <a:rPr lang="fr-FR" sz="2000" b="0" i="1" smtClean="0">
                        <a:latin typeface="Cambria Math" panose="02040503050406030204" pitchFamily="18" charset="0"/>
                      </a:rPr>
                      <m:t>𝑥</m:t>
                    </m:r>
                  </m:oMath>
                </a14:m>
                <a:r>
                  <a:rPr lang="fr-FR" sz="2000" dirty="0"/>
                  <a:t> de </a:t>
                </a:r>
                <a14:m>
                  <m:oMath xmlns:m="http://schemas.openxmlformats.org/officeDocument/2006/math">
                    <m:r>
                      <a:rPr lang="fr-FR" sz="2000" b="0" i="1" smtClean="0">
                        <a:latin typeface="Cambria Math" panose="02040503050406030204" pitchFamily="18" charset="0"/>
                      </a:rPr>
                      <m:t>𝑠𝑜𝑚𝑚𝑒𝑡</m:t>
                    </m:r>
                  </m:oMath>
                </a14:m>
                <a:endParaRPr lang="fr-FR" sz="2000" dirty="0"/>
              </a:p>
              <a:p>
                <a:r>
                  <a:rPr lang="fr-FR" sz="2000" dirty="0"/>
                  <a:t>	ajouter </a:t>
                </a:r>
                <a14:m>
                  <m:oMath xmlns:m="http://schemas.openxmlformats.org/officeDocument/2006/math">
                    <m:r>
                      <a:rPr lang="fr-FR" sz="2000" b="0" i="1" smtClean="0">
                        <a:latin typeface="Cambria Math" panose="02040503050406030204" pitchFamily="18" charset="0"/>
                      </a:rPr>
                      <m:t>𝑥</m:t>
                    </m:r>
                  </m:oMath>
                </a14:m>
                <a:r>
                  <a:rPr lang="fr-FR" sz="2000" dirty="0"/>
                  <a:t> comme enfant de </a:t>
                </a:r>
                <a14:m>
                  <m:oMath xmlns:m="http://schemas.openxmlformats.org/officeDocument/2006/math">
                    <m:r>
                      <a:rPr lang="fr-FR" sz="2000" i="1">
                        <a:latin typeface="Cambria Math" panose="02040503050406030204" pitchFamily="18" charset="0"/>
                      </a:rPr>
                      <m:t>𝑠𝑜𝑚𝑚𝑒𝑡</m:t>
                    </m:r>
                  </m:oMath>
                </a14:m>
                <a:r>
                  <a:rPr lang="fr-FR" sz="2000" dirty="0"/>
                  <a:t> dans </a:t>
                </a:r>
                <a14:m>
                  <m:oMath xmlns:m="http://schemas.openxmlformats.org/officeDocument/2006/math">
                    <m:r>
                      <a:rPr lang="fr-FR" sz="2000" b="0" i="1" smtClean="0">
                        <a:latin typeface="Cambria Math" panose="02040503050406030204" pitchFamily="18" charset="0"/>
                      </a:rPr>
                      <m:t>𝑎𝑟𝑏𝑟𝑒</m:t>
                    </m:r>
                  </m:oMath>
                </a14:m>
                <a:endParaRPr lang="fr-FR" sz="2000" dirty="0"/>
              </a:p>
              <a:p>
                <a:r>
                  <a:rPr lang="fr-FR" sz="2000" dirty="0"/>
                  <a:t>	RETOURNER </a:t>
                </a:r>
                <a14:m>
                  <m:oMath xmlns:m="http://schemas.openxmlformats.org/officeDocument/2006/math">
                    <m:r>
                      <a:rPr lang="fr-FR" sz="2000" b="0" i="1" smtClean="0">
                        <a:latin typeface="Cambria Math" panose="02040503050406030204" pitchFamily="18" charset="0"/>
                      </a:rPr>
                      <m:t>𝑥</m:t>
                    </m:r>
                  </m:oMath>
                </a14:m>
                <a:endParaRPr lang="fr-FR" sz="2000" dirty="0"/>
              </a:p>
              <a:p>
                <a:endParaRPr lang="fr-FR" sz="2000" dirty="0"/>
              </a:p>
              <a:p>
                <a:endParaRPr lang="fr-FR" sz="2000" dirty="0"/>
              </a:p>
              <a:p>
                <a:r>
                  <a:rPr lang="fr-FR" sz="2000" dirty="0"/>
                  <a:t>FONCTION </a:t>
                </a:r>
                <a14:m>
                  <m:oMath xmlns:m="http://schemas.openxmlformats.org/officeDocument/2006/math">
                    <m:r>
                      <a:rPr lang="fr-FR" sz="2000" i="1">
                        <a:latin typeface="Cambria Math" panose="02040503050406030204" pitchFamily="18" charset="0"/>
                        <a:ea typeface="Cambria Math" panose="02040503050406030204" pitchFamily="18" charset="0"/>
                      </a:rPr>
                      <m:t>𝑠𝑖𝑚𝑢𝑙𝑎𝑡𝑖𝑜𝑛</m:t>
                    </m:r>
                    <m:r>
                      <a:rPr lang="fr-FR" sz="2000" i="1">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𝑠</m:t>
                    </m:r>
                    <m:r>
                      <a:rPr lang="fr-FR" sz="2000" i="1">
                        <a:latin typeface="Cambria Math" panose="02040503050406030204" pitchFamily="18" charset="0"/>
                        <a:ea typeface="Cambria Math" panose="02040503050406030204" pitchFamily="18" charset="0"/>
                      </a:rPr>
                      <m:t>𝑜𝑚𝑚𝑒𝑡</m:t>
                    </m:r>
                    <m:r>
                      <a:rPr lang="fr-FR" sz="2000" i="1">
                        <a:latin typeface="Cambria Math" panose="02040503050406030204" pitchFamily="18" charset="0"/>
                        <a:ea typeface="Cambria Math" panose="02040503050406030204" pitchFamily="18" charset="0"/>
                      </a:rPr>
                      <m:t>)</m:t>
                    </m:r>
                  </m:oMath>
                </a14:m>
                <a:endParaRPr lang="fr-FR" sz="2000" dirty="0"/>
              </a:p>
              <a:p>
                <a:r>
                  <a:rPr lang="fr-FR" sz="2000" dirty="0"/>
                  <a:t>	TANT QUE </a:t>
                </a:r>
                <a14:m>
                  <m:oMath xmlns:m="http://schemas.openxmlformats.org/officeDocument/2006/math">
                    <m:r>
                      <a:rPr lang="fr-FR" sz="2000" b="0" i="1" smtClean="0">
                        <a:latin typeface="Cambria Math" panose="02040503050406030204" pitchFamily="18" charset="0"/>
                      </a:rPr>
                      <m:t>𝑠𝑜𝑚𝑚𝑒𝑡</m:t>
                    </m:r>
                  </m:oMath>
                </a14:m>
                <a:r>
                  <a:rPr lang="fr-FR" sz="2000" dirty="0"/>
                  <a:t> n’est pas une position finale FAIRE</a:t>
                </a:r>
              </a:p>
              <a:p>
                <a:r>
                  <a:rPr lang="fr-FR" sz="2000" dirty="0"/>
                  <a:t>		choisir aléatoirement un </a:t>
                </a:r>
                <a14:m>
                  <m:oMath xmlns:m="http://schemas.openxmlformats.org/officeDocument/2006/math">
                    <m:r>
                      <a:rPr lang="fr-FR" sz="2000" b="0" i="1" smtClean="0">
                        <a:latin typeface="Cambria Math" panose="02040503050406030204" pitchFamily="18" charset="0"/>
                      </a:rPr>
                      <m:t>𝑐𝑜𝑢𝑝</m:t>
                    </m:r>
                  </m:oMath>
                </a14:m>
                <a:r>
                  <a:rPr lang="fr-FR" sz="2000" dirty="0"/>
                  <a:t> parmi ceux disponibles depuis </a:t>
                </a:r>
                <a14:m>
                  <m:oMath xmlns:m="http://schemas.openxmlformats.org/officeDocument/2006/math">
                    <m:r>
                      <a:rPr lang="fr-FR" sz="2000" b="0" i="1" smtClean="0">
                        <a:latin typeface="Cambria Math" panose="02040503050406030204" pitchFamily="18" charset="0"/>
                      </a:rPr>
                      <m:t>𝑠𝑜𝑚𝑚𝑒𝑡</m:t>
                    </m:r>
                  </m:oMath>
                </a14:m>
                <a:endParaRPr lang="fr-FR" sz="2000" dirty="0"/>
              </a:p>
              <a:p>
                <a:r>
                  <a:rPr lang="fr-FR" sz="2000" dirty="0"/>
                  <a:t>		</a:t>
                </a:r>
                <a14:m>
                  <m:oMath xmlns:m="http://schemas.openxmlformats.org/officeDocument/2006/math">
                    <m:r>
                      <a:rPr lang="fr-FR" sz="2000" b="0" i="1" dirty="0" smtClean="0">
                        <a:solidFill>
                          <a:prstClr val="black"/>
                        </a:solidFill>
                        <a:latin typeface="Cambria Math" panose="02040503050406030204" pitchFamily="18" charset="0"/>
                      </a:rPr>
                      <m:t>𝑠𝑜𝑚𝑚𝑒𝑡</m:t>
                    </m:r>
                    <m:r>
                      <a:rPr lang="fr-FR" sz="2000" i="1" dirty="0">
                        <a:solidFill>
                          <a:prstClr val="black"/>
                        </a:solidFill>
                        <a:latin typeface="Cambria Math" panose="02040503050406030204" pitchFamily="18" charset="0"/>
                        <a:ea typeface="Cambria Math" panose="02040503050406030204" pitchFamily="18" charset="0"/>
                      </a:rPr>
                      <m:t>←</m:t>
                    </m:r>
                    <m:r>
                      <m:rPr>
                        <m:nor/>
                      </m:rPr>
                      <a:rPr lang="fr-FR" sz="2000" dirty="0" err="1">
                        <a:solidFill>
                          <a:prstClr val="black"/>
                        </a:solidFill>
                        <a:latin typeface="Cambria Math" panose="02040503050406030204" pitchFamily="18" charset="0"/>
                      </a:rPr>
                      <m:t>joueCoup</m:t>
                    </m:r>
                    <m:r>
                      <a:rPr lang="fr-FR" sz="2000" i="1" dirty="0">
                        <a:solidFill>
                          <a:prstClr val="black"/>
                        </a:solidFill>
                        <a:latin typeface="Cambria Math" panose="02040503050406030204" pitchFamily="18" charset="0"/>
                      </a:rPr>
                      <m:t>(</m:t>
                    </m:r>
                    <m:r>
                      <a:rPr lang="fr-FR" sz="2000" b="0" i="1" dirty="0" smtClean="0">
                        <a:solidFill>
                          <a:prstClr val="black"/>
                        </a:solidFill>
                        <a:latin typeface="Cambria Math" panose="02040503050406030204" pitchFamily="18" charset="0"/>
                      </a:rPr>
                      <m:t>𝑠𝑜𝑚𝑚𝑒𝑡</m:t>
                    </m:r>
                    <m:r>
                      <a:rPr lang="fr-FR" sz="2000" i="1" dirty="0">
                        <a:solidFill>
                          <a:prstClr val="black"/>
                        </a:solidFill>
                        <a:latin typeface="Cambria Math" panose="02040503050406030204" pitchFamily="18" charset="0"/>
                      </a:rPr>
                      <m:t>, </m:t>
                    </m:r>
                    <m:r>
                      <a:rPr lang="fr-FR" sz="2000" i="1" dirty="0">
                        <a:solidFill>
                          <a:prstClr val="black"/>
                        </a:solidFill>
                        <a:latin typeface="Cambria Math" panose="02040503050406030204" pitchFamily="18" charset="0"/>
                      </a:rPr>
                      <m:t>𝑐𝑜𝑢𝑝</m:t>
                    </m:r>
                    <m:r>
                      <a:rPr lang="fr-FR" sz="2000" i="1" dirty="0">
                        <a:solidFill>
                          <a:prstClr val="black"/>
                        </a:solidFill>
                        <a:latin typeface="Cambria Math" panose="02040503050406030204" pitchFamily="18" charset="0"/>
                      </a:rPr>
                      <m:t>)</m:t>
                    </m:r>
                  </m:oMath>
                </a14:m>
                <a:endParaRPr lang="fr-FR" sz="2000" dirty="0"/>
              </a:p>
              <a:p>
                <a:r>
                  <a:rPr lang="fr-FR" sz="2000" dirty="0"/>
                  <a:t>	RETOURNER résultat correspondant à </a:t>
                </a:r>
                <a14:m>
                  <m:oMath xmlns:m="http://schemas.openxmlformats.org/officeDocument/2006/math">
                    <m:r>
                      <a:rPr lang="fr-FR" sz="2000" b="0" i="1" smtClean="0">
                        <a:latin typeface="Cambria Math" panose="02040503050406030204" pitchFamily="18" charset="0"/>
                      </a:rPr>
                      <m:t>𝑠𝑜𝑚𝑚𝑒𝑡</m:t>
                    </m:r>
                  </m:oMath>
                </a14:m>
                <a:endParaRPr lang="fr-FR" sz="2000" dirty="0"/>
              </a:p>
            </p:txBody>
          </p:sp>
        </mc:Choice>
        <mc:Fallback xmlns="">
          <p:sp>
            <p:nvSpPr>
              <p:cNvPr id="3" name="ZoneTexte 2">
                <a:extLst>
                  <a:ext uri="{FF2B5EF4-FFF2-40B4-BE49-F238E27FC236}">
                    <a16:creationId xmlns:a16="http://schemas.microsoft.com/office/drawing/2014/main" id="{E0B3A303-26BE-C89D-411D-17AAC512E8CD}"/>
                  </a:ext>
                </a:extLst>
              </p:cNvPr>
              <p:cNvSpPr txBox="1">
                <a:spLocks noRot="1" noChangeAspect="1" noMove="1" noResize="1" noEditPoints="1" noAdjustHandles="1" noChangeArrowheads="1" noChangeShapeType="1" noTextEdit="1"/>
              </p:cNvSpPr>
              <p:nvPr/>
            </p:nvSpPr>
            <p:spPr>
              <a:xfrm>
                <a:off x="844826" y="1431230"/>
                <a:ext cx="10525539" cy="4585871"/>
              </a:xfrm>
              <a:prstGeom prst="rect">
                <a:avLst/>
              </a:prstGeom>
              <a:blipFill>
                <a:blip r:embed="rId3"/>
                <a:stretch>
                  <a:fillRect l="-843" t="-1105" b="-1381"/>
                </a:stretch>
              </a:blipFill>
            </p:spPr>
            <p:txBody>
              <a:bodyPr/>
              <a:lstStyle/>
              <a:p>
                <a:r>
                  <a:rPr lang="fr-FR">
                    <a:noFill/>
                  </a:rPr>
                  <a:t> </a:t>
                </a:r>
              </a:p>
            </p:txBody>
          </p:sp>
        </mc:Fallback>
      </mc:AlternateContent>
    </p:spTree>
    <p:extLst>
      <p:ext uri="{BB962C8B-B14F-4D97-AF65-F5344CB8AC3E}">
        <p14:creationId xmlns:p14="http://schemas.microsoft.com/office/powerpoint/2010/main" val="134837419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08CBD-5714-C0AE-2E78-9961EBAA7DE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C7B49B2-8AD0-1666-E005-BE8B18D9C2C3}"/>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4AD1BC42-D212-9C66-53D7-BB4CD695BD45}"/>
                  </a:ext>
                </a:extLst>
              </p:cNvPr>
              <p:cNvSpPr txBox="1"/>
              <p:nvPr/>
            </p:nvSpPr>
            <p:spPr>
              <a:xfrm>
                <a:off x="844826" y="1431230"/>
                <a:ext cx="10525539" cy="3354765"/>
              </a:xfrm>
              <a:prstGeom prst="rect">
                <a:avLst/>
              </a:prstGeom>
              <a:noFill/>
            </p:spPr>
            <p:txBody>
              <a:bodyPr wrap="square" rtlCol="0">
                <a:spAutoFit/>
              </a:bodyPr>
              <a:lstStyle/>
              <a:p>
                <a:r>
                  <a:rPr lang="fr-FR" sz="2400" b="1" dirty="0"/>
                  <a:t>MCTS : pseudo-code (suite)</a:t>
                </a:r>
              </a:p>
              <a:p>
                <a:endParaRPr lang="fr-FR" sz="2400" dirty="0"/>
              </a:p>
              <a:p>
                <a:endParaRPr lang="fr-FR" sz="2400" dirty="0"/>
              </a:p>
              <a:p>
                <a:r>
                  <a:rPr lang="fr-FR" sz="2000" dirty="0"/>
                  <a:t>PROCÉDURE </a:t>
                </a:r>
                <a14:m>
                  <m:oMath xmlns:m="http://schemas.openxmlformats.org/officeDocument/2006/math">
                    <m:r>
                      <a:rPr lang="fr-FR" sz="2000" i="1">
                        <a:latin typeface="Cambria Math" panose="02040503050406030204" pitchFamily="18" charset="0"/>
                      </a:rPr>
                      <m:t>𝑟</m:t>
                    </m:r>
                    <m:r>
                      <a:rPr lang="fr-FR" sz="2000" i="1">
                        <a:latin typeface="Cambria Math" panose="02040503050406030204" pitchFamily="18" charset="0"/>
                      </a:rPr>
                      <m:t>é</m:t>
                    </m:r>
                    <m:r>
                      <a:rPr lang="fr-FR" sz="2000" i="1">
                        <a:latin typeface="Cambria Math" panose="02040503050406030204" pitchFamily="18" charset="0"/>
                      </a:rPr>
                      <m:t>𝑡𝑟𝑜𝑝𝑟𝑜𝑝𝑎𝑔𝑎𝑡𝑖𝑜𝑛</m:t>
                    </m:r>
                    <m:r>
                      <a:rPr lang="fr-FR" sz="2000" i="1">
                        <a:latin typeface="Cambria Math" panose="02040503050406030204" pitchFamily="18" charset="0"/>
                      </a:rPr>
                      <m:t>(</m:t>
                    </m:r>
                    <m:r>
                      <a:rPr lang="fr-FR" sz="2000" i="1">
                        <a:latin typeface="Cambria Math" panose="02040503050406030204" pitchFamily="18" charset="0"/>
                      </a:rPr>
                      <m:t>𝑎𝑟𝑏𝑟𝑒</m:t>
                    </m:r>
                    <m:r>
                      <a:rPr lang="fr-FR" sz="2000" i="1">
                        <a:latin typeface="Cambria Math" panose="02040503050406030204" pitchFamily="18" charset="0"/>
                      </a:rPr>
                      <m:t>,</m:t>
                    </m:r>
                    <m:r>
                      <a:rPr lang="fr-FR" sz="2000" i="1">
                        <a:latin typeface="Cambria Math" panose="02040503050406030204" pitchFamily="18" charset="0"/>
                      </a:rPr>
                      <m:t>𝑠𝑜𝑚𝑚𝑒𝑡</m:t>
                    </m:r>
                    <m:r>
                      <a:rPr lang="fr-FR" sz="2000" i="1">
                        <a:latin typeface="Cambria Math" panose="02040503050406030204" pitchFamily="18" charset="0"/>
                      </a:rPr>
                      <m:t>, </m:t>
                    </m:r>
                    <m:r>
                      <a:rPr lang="fr-FR" sz="2000" i="1">
                        <a:latin typeface="Cambria Math" panose="02040503050406030204" pitchFamily="18" charset="0"/>
                      </a:rPr>
                      <m:t>𝑟</m:t>
                    </m:r>
                    <m:r>
                      <a:rPr lang="fr-FR" sz="2000" i="1">
                        <a:latin typeface="Cambria Math" panose="02040503050406030204" pitchFamily="18" charset="0"/>
                      </a:rPr>
                      <m:t>é</m:t>
                    </m:r>
                    <m:r>
                      <a:rPr lang="fr-FR" sz="2000" i="1">
                        <a:latin typeface="Cambria Math" panose="02040503050406030204" pitchFamily="18" charset="0"/>
                      </a:rPr>
                      <m:t>𝑠𝑢𝑙𝑡𝑎𝑡</m:t>
                    </m:r>
                    <m:r>
                      <a:rPr lang="fr-FR" sz="2000" i="1">
                        <a:latin typeface="Cambria Math" panose="02040503050406030204" pitchFamily="18" charset="0"/>
                      </a:rPr>
                      <m:t>)</m:t>
                    </m:r>
                  </m:oMath>
                </a14:m>
                <a:endParaRPr lang="fr-FR" sz="2000" dirty="0"/>
              </a:p>
              <a:p>
                <a:r>
                  <a:rPr lang="fr-FR" sz="2000" dirty="0"/>
                  <a:t>	</a:t>
                </a:r>
                <a14:m>
                  <m:oMath xmlns:m="http://schemas.openxmlformats.org/officeDocument/2006/math">
                    <m:r>
                      <a:rPr lang="fr-FR" sz="2000" b="0" i="1" smtClean="0">
                        <a:latin typeface="Cambria Math" panose="02040503050406030204" pitchFamily="18" charset="0"/>
                      </a:rPr>
                      <m:t>𝑁</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𝑠𝑜𝑚𝑚𝑒𝑡</m:t>
                        </m:r>
                      </m:e>
                    </m:d>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𝑁</m:t>
                    </m:r>
                    <m:d>
                      <m:dPr>
                        <m:ctrlPr>
                          <a:rPr lang="fr-FR" sz="2000" b="0" i="1" smtClean="0">
                            <a:latin typeface="Cambria Math" panose="02040503050406030204" pitchFamily="18" charset="0"/>
                            <a:ea typeface="Cambria Math" panose="02040503050406030204" pitchFamily="18" charset="0"/>
                          </a:rPr>
                        </m:ctrlPr>
                      </m:dPr>
                      <m:e>
                        <m:r>
                          <a:rPr lang="fr-FR" sz="2000" b="0" i="1" smtClean="0">
                            <a:latin typeface="Cambria Math" panose="02040503050406030204" pitchFamily="18" charset="0"/>
                            <a:ea typeface="Cambria Math" panose="02040503050406030204" pitchFamily="18" charset="0"/>
                          </a:rPr>
                          <m:t>𝑠𝑜𝑚𝑚𝑒𝑡</m:t>
                        </m:r>
                      </m:e>
                    </m:d>
                    <m:r>
                      <a:rPr lang="fr-FR" sz="2000" b="0" i="1" smtClean="0">
                        <a:latin typeface="Cambria Math" panose="02040503050406030204" pitchFamily="18" charset="0"/>
                        <a:ea typeface="Cambria Math" panose="02040503050406030204" pitchFamily="18" charset="0"/>
                      </a:rPr>
                      <m:t>+1</m:t>
                    </m:r>
                  </m:oMath>
                </a14:m>
                <a:endParaRPr lang="fr-FR" sz="2000" dirty="0"/>
              </a:p>
              <a:p>
                <a:r>
                  <a:rPr lang="fr-FR" sz="2000" dirty="0"/>
                  <a:t>	SI </a:t>
                </a:r>
                <a14:m>
                  <m:oMath xmlns:m="http://schemas.openxmlformats.org/officeDocument/2006/math">
                    <m:r>
                      <a:rPr lang="fr-FR" sz="2000" b="0" i="1" smtClean="0">
                        <a:latin typeface="Cambria Math" panose="02040503050406030204" pitchFamily="18" charset="0"/>
                      </a:rPr>
                      <m:t>𝑟</m:t>
                    </m:r>
                    <m:r>
                      <a:rPr lang="fr-FR" sz="2000" b="0" i="1" smtClean="0">
                        <a:latin typeface="Cambria Math" panose="02040503050406030204" pitchFamily="18" charset="0"/>
                      </a:rPr>
                      <m:t>é</m:t>
                    </m:r>
                    <m:r>
                      <a:rPr lang="fr-FR" sz="2000" b="0" i="1" smtClean="0">
                        <a:latin typeface="Cambria Math" panose="02040503050406030204" pitchFamily="18" charset="0"/>
                      </a:rPr>
                      <m:t>𝑠𝑢𝑙𝑡𝑎𝑡</m:t>
                    </m:r>
                  </m:oMath>
                </a14:m>
                <a:r>
                  <a:rPr lang="fr-FR" sz="2000" dirty="0"/>
                  <a:t> est une victoire pour le joueur correspondant au </a:t>
                </a:r>
                <a14:m>
                  <m:oMath xmlns:m="http://schemas.openxmlformats.org/officeDocument/2006/math">
                    <m:r>
                      <a:rPr lang="fr-FR" sz="2000" b="0" i="1" smtClean="0">
                        <a:latin typeface="Cambria Math" panose="02040503050406030204" pitchFamily="18" charset="0"/>
                      </a:rPr>
                      <m:t>𝑠𝑜𝑚𝑚𝑒𝑡</m:t>
                    </m:r>
                  </m:oMath>
                </a14:m>
                <a:r>
                  <a:rPr lang="fr-FR" sz="2000" dirty="0"/>
                  <a:t> ALORS</a:t>
                </a:r>
              </a:p>
              <a:p>
                <a:r>
                  <a:rPr lang="fr-FR" sz="2000" dirty="0"/>
                  <a:t>		</a:t>
                </a:r>
                <a14:m>
                  <m:oMath xmlns:m="http://schemas.openxmlformats.org/officeDocument/2006/math">
                    <m:r>
                      <a:rPr lang="fr-FR" sz="2000" b="0" i="1" smtClean="0">
                        <a:latin typeface="Cambria Math" panose="02040503050406030204" pitchFamily="18" charset="0"/>
                      </a:rPr>
                      <m:t>𝑈</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𝑠𝑜𝑚𝑚𝑒𝑡</m:t>
                        </m:r>
                      </m:e>
                    </m:d>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𝑈</m:t>
                    </m:r>
                    <m:d>
                      <m:dPr>
                        <m:ctrlPr>
                          <a:rPr lang="fr-FR" sz="2000" b="0" i="1" smtClean="0">
                            <a:latin typeface="Cambria Math" panose="02040503050406030204" pitchFamily="18" charset="0"/>
                            <a:ea typeface="Cambria Math" panose="02040503050406030204" pitchFamily="18" charset="0"/>
                          </a:rPr>
                        </m:ctrlPr>
                      </m:dPr>
                      <m:e>
                        <m:r>
                          <a:rPr lang="fr-FR" sz="2000" b="0" i="1" smtClean="0">
                            <a:latin typeface="Cambria Math" panose="02040503050406030204" pitchFamily="18" charset="0"/>
                            <a:ea typeface="Cambria Math" panose="02040503050406030204" pitchFamily="18" charset="0"/>
                          </a:rPr>
                          <m:t>𝑠𝑜𝑚𝑚𝑒𝑡</m:t>
                        </m:r>
                      </m:e>
                    </m:d>
                    <m:r>
                      <a:rPr lang="fr-FR" sz="2000" b="0" i="1" smtClean="0">
                        <a:latin typeface="Cambria Math" panose="02040503050406030204" pitchFamily="18" charset="0"/>
                        <a:ea typeface="Cambria Math" panose="02040503050406030204" pitchFamily="18" charset="0"/>
                      </a:rPr>
                      <m:t>+1</m:t>
                    </m:r>
                  </m:oMath>
                </a14:m>
                <a:endParaRPr lang="fr-FR" sz="2000" dirty="0"/>
              </a:p>
              <a:p>
                <a:r>
                  <a:rPr lang="fr-FR" sz="2000" dirty="0"/>
                  <a:t>	SI </a:t>
                </a:r>
                <a14:m>
                  <m:oMath xmlns:m="http://schemas.openxmlformats.org/officeDocument/2006/math">
                    <m:r>
                      <a:rPr lang="fr-FR" sz="2000" b="0" i="1" smtClean="0">
                        <a:latin typeface="Cambria Math" panose="02040503050406030204" pitchFamily="18" charset="0"/>
                      </a:rPr>
                      <m:t>𝑃𝑎𝑟𝑒𝑛𝑡</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𝑠𝑜𝑚𝑚𝑒𝑡</m:t>
                        </m:r>
                      </m:e>
                    </m:d>
                    <m:r>
                      <a:rPr lang="fr-FR" sz="2000" b="0" i="1" smtClean="0">
                        <a:latin typeface="Cambria Math" panose="02040503050406030204" pitchFamily="18" charset="0"/>
                      </a:rPr>
                      <m:t> !=</m:t>
                    </m:r>
                    <m:r>
                      <m:rPr>
                        <m:nor/>
                      </m:rPr>
                      <a:rPr lang="fr-FR" sz="2000" b="0" i="0" smtClean="0">
                        <a:latin typeface="Cambria Math" panose="02040503050406030204" pitchFamily="18" charset="0"/>
                      </a:rPr>
                      <m:t>None</m:t>
                    </m:r>
                  </m:oMath>
                </a14:m>
                <a:r>
                  <a:rPr lang="fr-FR" sz="2000" dirty="0"/>
                  <a:t> ALORS</a:t>
                </a:r>
              </a:p>
              <a:p>
                <a:r>
                  <a:rPr lang="fr-FR" sz="2000" dirty="0"/>
                  <a:t>		</a:t>
                </a:r>
                <a14:m>
                  <m:oMath xmlns:m="http://schemas.openxmlformats.org/officeDocument/2006/math">
                    <m:r>
                      <a:rPr lang="fr-FR" sz="2000" b="0" i="1" smtClean="0">
                        <a:latin typeface="Cambria Math" panose="02040503050406030204" pitchFamily="18" charset="0"/>
                      </a:rPr>
                      <m:t>𝑠𝑜𝑚𝑚𝑒𝑡</m:t>
                    </m:r>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𝑃𝑎𝑟𝑒𝑛𝑡</m:t>
                    </m:r>
                    <m:d>
                      <m:dPr>
                        <m:ctrlPr>
                          <a:rPr lang="fr-FR" sz="2000" b="0" i="1" smtClean="0">
                            <a:latin typeface="Cambria Math" panose="02040503050406030204" pitchFamily="18" charset="0"/>
                            <a:ea typeface="Cambria Math" panose="02040503050406030204" pitchFamily="18" charset="0"/>
                          </a:rPr>
                        </m:ctrlPr>
                      </m:dPr>
                      <m:e>
                        <m:r>
                          <a:rPr lang="fr-FR" sz="2000" b="0" i="1" smtClean="0">
                            <a:latin typeface="Cambria Math" panose="02040503050406030204" pitchFamily="18" charset="0"/>
                            <a:ea typeface="Cambria Math" panose="02040503050406030204" pitchFamily="18" charset="0"/>
                          </a:rPr>
                          <m:t>𝑠𝑜𝑚𝑚𝑒𝑡</m:t>
                        </m:r>
                      </m:e>
                    </m:d>
                  </m:oMath>
                </a14:m>
                <a:endParaRPr lang="fr-FR" sz="2000" dirty="0"/>
              </a:p>
              <a:p>
                <a:r>
                  <a:rPr lang="fr-FR" sz="2000" dirty="0"/>
                  <a:t>		</a:t>
                </a:r>
                <a14:m>
                  <m:oMath xmlns:m="http://schemas.openxmlformats.org/officeDocument/2006/math">
                    <m:r>
                      <a:rPr lang="fr-FR" sz="2000" i="1">
                        <a:latin typeface="Cambria Math" panose="02040503050406030204" pitchFamily="18" charset="0"/>
                      </a:rPr>
                      <m:t>𝑟</m:t>
                    </m:r>
                    <m:r>
                      <a:rPr lang="fr-FR" sz="2000" i="1">
                        <a:latin typeface="Cambria Math" panose="02040503050406030204" pitchFamily="18" charset="0"/>
                      </a:rPr>
                      <m:t>é</m:t>
                    </m:r>
                    <m:r>
                      <a:rPr lang="fr-FR" sz="2000" i="1">
                        <a:latin typeface="Cambria Math" panose="02040503050406030204" pitchFamily="18" charset="0"/>
                      </a:rPr>
                      <m:t>𝑡𝑟𝑜𝑝𝑟𝑜𝑝𝑎𝑔𝑎𝑡𝑖𝑜𝑛</m:t>
                    </m:r>
                    <m:r>
                      <a:rPr lang="fr-FR" sz="2000" i="1">
                        <a:latin typeface="Cambria Math" panose="02040503050406030204" pitchFamily="18" charset="0"/>
                      </a:rPr>
                      <m:t>(</m:t>
                    </m:r>
                    <m:r>
                      <a:rPr lang="fr-FR" sz="2000" i="1">
                        <a:latin typeface="Cambria Math" panose="02040503050406030204" pitchFamily="18" charset="0"/>
                      </a:rPr>
                      <m:t>𝑎𝑟𝑏𝑟𝑒</m:t>
                    </m:r>
                    <m:r>
                      <a:rPr lang="fr-FR" sz="2000" i="1">
                        <a:latin typeface="Cambria Math" panose="02040503050406030204" pitchFamily="18" charset="0"/>
                      </a:rPr>
                      <m:t>,</m:t>
                    </m:r>
                    <m:r>
                      <a:rPr lang="fr-FR" sz="2000" i="1">
                        <a:latin typeface="Cambria Math" panose="02040503050406030204" pitchFamily="18" charset="0"/>
                      </a:rPr>
                      <m:t>𝑠𝑜𝑚𝑚𝑒𝑡</m:t>
                    </m:r>
                    <m:r>
                      <a:rPr lang="fr-FR" sz="2000" i="1">
                        <a:latin typeface="Cambria Math" panose="02040503050406030204" pitchFamily="18" charset="0"/>
                      </a:rPr>
                      <m:t>, </m:t>
                    </m:r>
                    <m:r>
                      <a:rPr lang="fr-FR" sz="2000" i="1">
                        <a:latin typeface="Cambria Math" panose="02040503050406030204" pitchFamily="18" charset="0"/>
                      </a:rPr>
                      <m:t>𝑟</m:t>
                    </m:r>
                    <m:r>
                      <a:rPr lang="fr-FR" sz="2000" i="1">
                        <a:latin typeface="Cambria Math" panose="02040503050406030204" pitchFamily="18" charset="0"/>
                      </a:rPr>
                      <m:t>é</m:t>
                    </m:r>
                    <m:r>
                      <a:rPr lang="fr-FR" sz="2000" i="1">
                        <a:latin typeface="Cambria Math" panose="02040503050406030204" pitchFamily="18" charset="0"/>
                      </a:rPr>
                      <m:t>𝑠𝑢𝑙𝑡𝑎𝑡</m:t>
                    </m:r>
                    <m:r>
                      <a:rPr lang="fr-FR" sz="2000" i="1">
                        <a:latin typeface="Cambria Math" panose="02040503050406030204" pitchFamily="18" charset="0"/>
                      </a:rPr>
                      <m:t>)</m:t>
                    </m:r>
                  </m:oMath>
                </a14:m>
                <a:r>
                  <a:rPr lang="fr-FR" sz="2000" dirty="0"/>
                  <a:t>	</a:t>
                </a:r>
              </a:p>
            </p:txBody>
          </p:sp>
        </mc:Choice>
        <mc:Fallback xmlns="">
          <p:sp>
            <p:nvSpPr>
              <p:cNvPr id="3" name="ZoneTexte 2">
                <a:extLst>
                  <a:ext uri="{FF2B5EF4-FFF2-40B4-BE49-F238E27FC236}">
                    <a16:creationId xmlns:a16="http://schemas.microsoft.com/office/drawing/2014/main" id="{4AD1BC42-D212-9C66-53D7-BB4CD695BD45}"/>
                  </a:ext>
                </a:extLst>
              </p:cNvPr>
              <p:cNvSpPr txBox="1">
                <a:spLocks noRot="1" noChangeAspect="1" noMove="1" noResize="1" noEditPoints="1" noAdjustHandles="1" noChangeArrowheads="1" noChangeShapeType="1" noTextEdit="1"/>
              </p:cNvSpPr>
              <p:nvPr/>
            </p:nvSpPr>
            <p:spPr>
              <a:xfrm>
                <a:off x="844826" y="1431230"/>
                <a:ext cx="10525539" cy="3354765"/>
              </a:xfrm>
              <a:prstGeom prst="rect">
                <a:avLst/>
              </a:prstGeom>
              <a:blipFill>
                <a:blip r:embed="rId3"/>
                <a:stretch>
                  <a:fillRect l="-843" t="-1509" b="-755"/>
                </a:stretch>
              </a:blipFill>
            </p:spPr>
            <p:txBody>
              <a:bodyPr/>
              <a:lstStyle/>
              <a:p>
                <a:r>
                  <a:rPr lang="fr-FR">
                    <a:noFill/>
                  </a:rPr>
                  <a:t> </a:t>
                </a:r>
              </a:p>
            </p:txBody>
          </p:sp>
        </mc:Fallback>
      </mc:AlternateContent>
      <p:pic>
        <p:nvPicPr>
          <p:cNvPr id="5" name="Graphique 4" descr="Poisson avec un remplissage uni">
            <a:extLst>
              <a:ext uri="{FF2B5EF4-FFF2-40B4-BE49-F238E27FC236}">
                <a16:creationId xmlns:a16="http://schemas.microsoft.com/office/drawing/2014/main" id="{DE70B7A9-6D1F-1D6A-7DAB-11709047861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65668053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4EC28-D148-98E4-AC4F-51569D4607C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DEA87CA-E795-9BD2-B917-4B4F5D3312A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26781A7E-5379-A784-1A88-4C4F0A7A4151}"/>
                  </a:ext>
                </a:extLst>
              </p:cNvPr>
              <p:cNvSpPr txBox="1"/>
              <p:nvPr/>
            </p:nvSpPr>
            <p:spPr>
              <a:xfrm>
                <a:off x="844826" y="1431230"/>
                <a:ext cx="10525539" cy="3416320"/>
              </a:xfrm>
              <a:prstGeom prst="rect">
                <a:avLst/>
              </a:prstGeom>
              <a:noFill/>
            </p:spPr>
            <p:txBody>
              <a:bodyPr wrap="square" rtlCol="0">
                <a:spAutoFit/>
              </a:bodyPr>
              <a:lstStyle/>
              <a:p>
                <a:r>
                  <a:rPr lang="fr-FR" sz="2400" b="1" dirty="0"/>
                  <a:t>Considérations de complexité</a:t>
                </a:r>
              </a:p>
              <a:p>
                <a:endParaRPr lang="fr-FR" sz="2400" dirty="0"/>
              </a:p>
              <a:p>
                <a:pPr marL="342900" indent="-342900">
                  <a:buFont typeface="Arial" panose="020B0604020202020204" pitchFamily="34" charset="0"/>
                  <a:buChar char="•"/>
                </a:pPr>
                <a:r>
                  <a:rPr lang="fr-FR" sz="2400" dirty="0"/>
                  <a:t>L’algorithme MinMax a une complexité exponentielle de la forme </a:t>
                </a:r>
                <a14:m>
                  <m:oMath xmlns:m="http://schemas.openxmlformats.org/officeDocument/2006/math">
                    <m:r>
                      <a:rPr lang="fr-FR" sz="2400" b="0" i="1" smtClean="0">
                        <a:latin typeface="Cambria Math" panose="02040503050406030204" pitchFamily="18" charset="0"/>
                      </a:rPr>
                      <m:t>𝑂</m:t>
                    </m:r>
                    <m:d>
                      <m:dPr>
                        <m:ctrlPr>
                          <a:rPr lang="fr-FR" sz="2400" b="0" i="1" smtClean="0">
                            <a:latin typeface="Cambria Math" panose="02040503050406030204" pitchFamily="18" charset="0"/>
                          </a:rPr>
                        </m:ctrlPr>
                      </m:dPr>
                      <m:e>
                        <m:sSup>
                          <m:sSupPr>
                            <m:ctrlPr>
                              <a:rPr lang="fr-FR" sz="2400" b="0" i="1" smtClean="0">
                                <a:latin typeface="Cambria Math" panose="02040503050406030204" pitchFamily="18" charset="0"/>
                              </a:rPr>
                            </m:ctrlPr>
                          </m:sSupPr>
                          <m:e>
                            <m:r>
                              <a:rPr lang="fr-FR" sz="2400" b="0" i="1" smtClean="0">
                                <a:latin typeface="Cambria Math" panose="02040503050406030204" pitchFamily="18" charset="0"/>
                              </a:rPr>
                              <m:t>𝑏</m:t>
                            </m:r>
                          </m:e>
                          <m:sup>
                            <m:r>
                              <a:rPr lang="fr-FR" sz="2400" b="0" i="1" smtClean="0">
                                <a:latin typeface="Cambria Math" panose="02040503050406030204" pitchFamily="18" charset="0"/>
                              </a:rPr>
                              <m:t>𝑝</m:t>
                            </m:r>
                          </m:sup>
                        </m:sSup>
                      </m:e>
                    </m:d>
                  </m:oMath>
                </a14:m>
                <a:r>
                  <a:rPr lang="fr-FR" sz="2400" dirty="0"/>
                  <a:t> où </a:t>
                </a:r>
                <a14:m>
                  <m:oMath xmlns:m="http://schemas.openxmlformats.org/officeDocument/2006/math">
                    <m:r>
                      <a:rPr lang="fr-FR" sz="2400" b="0" i="1" smtClean="0">
                        <a:latin typeface="Cambria Math" panose="02040503050406030204" pitchFamily="18" charset="0"/>
                      </a:rPr>
                      <m:t>𝑏</m:t>
                    </m:r>
                  </m:oMath>
                </a14:m>
                <a:r>
                  <a:rPr lang="fr-FR" sz="2400" dirty="0"/>
                  <a:t> est le facteur de branchement et où </a:t>
                </a:r>
                <a14:m>
                  <m:oMath xmlns:m="http://schemas.openxmlformats.org/officeDocument/2006/math">
                    <m:r>
                      <a:rPr lang="fr-FR" sz="2400" b="0" i="1" smtClean="0">
                        <a:latin typeface="Cambria Math" panose="02040503050406030204" pitchFamily="18" charset="0"/>
                      </a:rPr>
                      <m:t>𝑝</m:t>
                    </m:r>
                  </m:oMath>
                </a14:m>
                <a:r>
                  <a:rPr lang="fr-FR" sz="2400" dirty="0"/>
                  <a:t> est la profondeur maximale jusqu’à laquelle on effectue les recherches.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Une simulation de l’algorithme MCTS a une complexité linéaire de la forme </a:t>
                </a:r>
                <a14:m>
                  <m:oMath xmlns:m="http://schemas.openxmlformats.org/officeDocument/2006/math">
                    <m:r>
                      <a:rPr lang="fr-FR" sz="2400" b="0" i="1" smtClean="0">
                        <a:latin typeface="Cambria Math" panose="02040503050406030204" pitchFamily="18" charset="0"/>
                      </a:rPr>
                      <m:t>𝑂</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𝑑</m:t>
                        </m:r>
                      </m:e>
                    </m:d>
                  </m:oMath>
                </a14:m>
                <a:r>
                  <a:rPr lang="fr-FR" sz="2400" dirty="0"/>
                  <a:t> où la aussi </a:t>
                </a:r>
                <a14:m>
                  <m:oMath xmlns:m="http://schemas.openxmlformats.org/officeDocument/2006/math">
                    <m:r>
                      <a:rPr lang="fr-FR" sz="2400" i="1">
                        <a:latin typeface="Cambria Math" panose="02040503050406030204" pitchFamily="18" charset="0"/>
                      </a:rPr>
                      <m:t>𝑑</m:t>
                    </m:r>
                  </m:oMath>
                </a14:m>
                <a:r>
                  <a:rPr lang="fr-FR" sz="2400" dirty="0"/>
                  <a:t> est la profondeur totale de l’arbre. </a:t>
                </a:r>
              </a:p>
            </p:txBody>
          </p:sp>
        </mc:Choice>
        <mc:Fallback xmlns="">
          <p:sp>
            <p:nvSpPr>
              <p:cNvPr id="3" name="ZoneTexte 2">
                <a:extLst>
                  <a:ext uri="{FF2B5EF4-FFF2-40B4-BE49-F238E27FC236}">
                    <a16:creationId xmlns:a16="http://schemas.microsoft.com/office/drawing/2014/main" id="{26781A7E-5379-A784-1A88-4C4F0A7A4151}"/>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3"/>
                <a:stretch>
                  <a:fillRect l="-843" t="-1481" r="-1084" b="-3333"/>
                </a:stretch>
              </a:blipFill>
            </p:spPr>
            <p:txBody>
              <a:bodyPr/>
              <a:lstStyle/>
              <a:p>
                <a:r>
                  <a:rPr lang="fr-FR">
                    <a:noFill/>
                  </a:rPr>
                  <a:t> </a:t>
                </a:r>
              </a:p>
            </p:txBody>
          </p:sp>
        </mc:Fallback>
      </mc:AlternateContent>
      <p:pic>
        <p:nvPicPr>
          <p:cNvPr id="5" name="Graphique 4" descr="Engrenages avec un remplissage uni">
            <a:extLst>
              <a:ext uri="{FF2B5EF4-FFF2-40B4-BE49-F238E27FC236}">
                <a16:creationId xmlns:a16="http://schemas.microsoft.com/office/drawing/2014/main" id="{14FAA532-BD22-35CD-CA6B-0F4EE83480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68537452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F0253-F29D-8280-7C25-B134A9E5659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E1385B-A9CD-55F3-A7EF-F388EE48C1CC}"/>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p:sp>
        <p:nvSpPr>
          <p:cNvPr id="3" name="ZoneTexte 2">
            <a:extLst>
              <a:ext uri="{FF2B5EF4-FFF2-40B4-BE49-F238E27FC236}">
                <a16:creationId xmlns:a16="http://schemas.microsoft.com/office/drawing/2014/main" id="{1FAEA3F1-CC13-C8BD-4A30-129A08E7B971}"/>
              </a:ext>
            </a:extLst>
          </p:cNvPr>
          <p:cNvSpPr txBox="1"/>
          <p:nvPr/>
        </p:nvSpPr>
        <p:spPr>
          <a:xfrm>
            <a:off x="844826" y="1431230"/>
            <a:ext cx="10525539" cy="3785652"/>
          </a:xfrm>
          <a:prstGeom prst="rect">
            <a:avLst/>
          </a:prstGeom>
          <a:noFill/>
        </p:spPr>
        <p:txBody>
          <a:bodyPr wrap="square" rtlCol="0">
            <a:spAutoFit/>
          </a:bodyPr>
          <a:lstStyle/>
          <a:p>
            <a:r>
              <a:rPr lang="fr-FR" sz="2400" b="1" dirty="0"/>
              <a:t>Considérations de complexité (suite)</a:t>
            </a:r>
          </a:p>
          <a:p>
            <a:endParaRPr lang="fr-FR" sz="2400" dirty="0"/>
          </a:p>
          <a:p>
            <a:pPr marL="342900" indent="-342900">
              <a:buFont typeface="Arial" panose="020B0604020202020204" pitchFamily="34" charset="0"/>
              <a:buChar char="•"/>
            </a:pPr>
            <a:r>
              <a:rPr lang="fr-FR" sz="2400" dirty="0"/>
              <a:t>Cette différence provient du fait que lors d’une simulation de MCTS un seul coup est choisi à chaque position alors qu’avec MinMax ce sont tous les coups qui sont envisagés.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Il s’agit donc de l’exploration d’une branche versus celle de toutes les branches.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 gain de temps considérable permet à MCTS d’effectuer un grand nombre de simulations à chaque recherche d’un coup optimal.</a:t>
            </a:r>
          </a:p>
        </p:txBody>
      </p:sp>
      <p:pic>
        <p:nvPicPr>
          <p:cNvPr id="5" name="Graphique 4" descr="Gant de boxe avec un remplissage uni">
            <a:extLst>
              <a:ext uri="{FF2B5EF4-FFF2-40B4-BE49-F238E27FC236}">
                <a16:creationId xmlns:a16="http://schemas.microsoft.com/office/drawing/2014/main" id="{F6557B6E-0F64-FF9A-F1E4-7E7D6CB088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52296757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51935-37F4-0EBD-B3F7-6AF0EBB6268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0708666-CC39-2BF9-85E6-C40D78C82245}"/>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Monte Carlo Tree Search.</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F47C1D53-473C-5FBA-E76D-06BD5C00465F}"/>
                  </a:ext>
                </a:extLst>
              </p:cNvPr>
              <p:cNvSpPr txBox="1"/>
              <p:nvPr/>
            </p:nvSpPr>
            <p:spPr>
              <a:xfrm>
                <a:off x="844826" y="1431230"/>
                <a:ext cx="10525539" cy="3046988"/>
              </a:xfrm>
              <a:prstGeom prst="rect">
                <a:avLst/>
              </a:prstGeom>
              <a:noFill/>
            </p:spPr>
            <p:txBody>
              <a:bodyPr wrap="square" rtlCol="0">
                <a:spAutoFit/>
              </a:bodyPr>
              <a:lstStyle/>
              <a:p>
                <a:r>
                  <a:rPr lang="fr-FR" sz="2400" b="1" dirty="0"/>
                  <a:t>Considérations de complexité (suite)</a:t>
                </a:r>
              </a:p>
              <a:p>
                <a:endParaRPr lang="fr-FR" sz="2400" dirty="0"/>
              </a:p>
              <a:p>
                <a:pPr marL="342900" indent="-342900">
                  <a:buFont typeface="Arial" panose="020B0604020202020204" pitchFamily="34" charset="0"/>
                  <a:buChar char="•"/>
                </a:pPr>
                <a:r>
                  <a:rPr lang="fr-FR" sz="2400" dirty="0"/>
                  <a:t>Si par exemple </a:t>
                </a:r>
                <a14:m>
                  <m:oMath xmlns:m="http://schemas.openxmlformats.org/officeDocument/2006/math">
                    <m:r>
                      <a:rPr lang="fr-FR" sz="2400" b="0" i="1" smtClean="0">
                        <a:latin typeface="Cambria Math" panose="02040503050406030204" pitchFamily="18" charset="0"/>
                      </a:rPr>
                      <m:t>𝑏</m:t>
                    </m:r>
                    <m:r>
                      <a:rPr lang="fr-FR" sz="2400" b="0" i="1" smtClean="0">
                        <a:latin typeface="Cambria Math" panose="02040503050406030204" pitchFamily="18" charset="0"/>
                      </a:rPr>
                      <m:t>=32</m:t>
                    </m:r>
                  </m:oMath>
                </a14:m>
                <a:r>
                  <a:rPr lang="fr-FR" sz="2400" dirty="0"/>
                  <a:t>, une profondeur maximale </a:t>
                </a:r>
                <a14:m>
                  <m:oMath xmlns:m="http://schemas.openxmlformats.org/officeDocument/2006/math">
                    <m:r>
                      <a:rPr lang="fr-FR" sz="2400" b="0" i="1" smtClean="0">
                        <a:latin typeface="Cambria Math" panose="02040503050406030204" pitchFamily="18" charset="0"/>
                      </a:rPr>
                      <m:t>𝑝</m:t>
                    </m:r>
                    <m:r>
                      <a:rPr lang="fr-FR" sz="2400" b="0" i="1" smtClean="0">
                        <a:latin typeface="Cambria Math" panose="02040503050406030204" pitchFamily="18" charset="0"/>
                      </a:rPr>
                      <m:t>=6</m:t>
                    </m:r>
                  </m:oMath>
                </a14:m>
                <a:r>
                  <a:rPr lang="fr-FR" sz="2400" dirty="0"/>
                  <a:t> pour l’algorithme MinMax conduira à l’examen de </a:t>
                </a:r>
                <a14:m>
                  <m:oMath xmlns:m="http://schemas.openxmlformats.org/officeDocument/2006/math">
                    <m:sSup>
                      <m:sSupPr>
                        <m:ctrlPr>
                          <a:rPr lang="fr-FR" sz="2400" b="0" i="1" smtClean="0">
                            <a:latin typeface="Cambria Math" panose="02040503050406030204" pitchFamily="18" charset="0"/>
                          </a:rPr>
                        </m:ctrlPr>
                      </m:sSupPr>
                      <m:e>
                        <m:r>
                          <a:rPr lang="fr-FR" sz="2400" b="0" i="1" smtClean="0">
                            <a:latin typeface="Cambria Math" panose="02040503050406030204" pitchFamily="18" charset="0"/>
                          </a:rPr>
                          <m:t>32</m:t>
                        </m:r>
                      </m:e>
                      <m:sup>
                        <m:r>
                          <a:rPr lang="fr-FR" sz="2400" b="0" i="1" smtClean="0">
                            <a:latin typeface="Cambria Math" panose="02040503050406030204" pitchFamily="18" charset="0"/>
                          </a:rPr>
                          <m:t>6</m:t>
                        </m:r>
                      </m:sup>
                    </m:sSup>
                  </m:oMath>
                </a14:m>
                <a:r>
                  <a:rPr lang="fr-FR" sz="2400" dirty="0"/>
                  <a:t> positions, </a:t>
                </a:r>
                <a:r>
                  <a:rPr lang="fr-FR" sz="2400" i="1" dirty="0"/>
                  <a:t>i.e.</a:t>
                </a:r>
                <a:r>
                  <a:rPr lang="fr-FR" sz="2400" dirty="0"/>
                  <a:t> plus de </a:t>
                </a:r>
                <a14:m>
                  <m:oMath xmlns:m="http://schemas.openxmlformats.org/officeDocument/2006/math">
                    <m:sSup>
                      <m:sSupPr>
                        <m:ctrlPr>
                          <a:rPr lang="fr-FR" sz="2400" b="0" i="1" smtClean="0">
                            <a:latin typeface="Cambria Math" panose="02040503050406030204" pitchFamily="18" charset="0"/>
                          </a:rPr>
                        </m:ctrlPr>
                      </m:sSupPr>
                      <m:e>
                        <m:r>
                          <a:rPr lang="fr-FR" sz="2400" b="0" i="1" smtClean="0">
                            <a:latin typeface="Cambria Math" panose="02040503050406030204" pitchFamily="18" charset="0"/>
                          </a:rPr>
                          <m:t>10</m:t>
                        </m:r>
                      </m:e>
                      <m:sup>
                        <m:r>
                          <a:rPr lang="fr-FR" sz="2400" b="0" i="1" smtClean="0">
                            <a:latin typeface="Cambria Math" panose="02040503050406030204" pitchFamily="18" charset="0"/>
                          </a:rPr>
                          <m:t>9</m:t>
                        </m:r>
                      </m:sup>
                    </m:sSup>
                  </m:oMath>
                </a14:m>
                <a:r>
                  <a:rPr lang="fr-FR" sz="2400" dirty="0"/>
                  <a: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Si pour ce même jeu une partie comporte en moyenne </a:t>
                </a:r>
                <a14:m>
                  <m:oMath xmlns:m="http://schemas.openxmlformats.org/officeDocument/2006/math">
                    <m:r>
                      <a:rPr lang="fr-FR" sz="2400" b="0" i="1" smtClean="0">
                        <a:latin typeface="Cambria Math" panose="02040503050406030204" pitchFamily="18" charset="0"/>
                      </a:rPr>
                      <m:t>100</m:t>
                    </m:r>
                  </m:oMath>
                </a14:m>
                <a:r>
                  <a:rPr lang="fr-FR" sz="2400" dirty="0"/>
                  <a:t> coups, on pourra pour le même temps de calcul exécuter environ </a:t>
                </a:r>
                <a14:m>
                  <m:oMath xmlns:m="http://schemas.openxmlformats.org/officeDocument/2006/math">
                    <m:sSup>
                      <m:sSupPr>
                        <m:ctrlPr>
                          <a:rPr lang="fr-FR" sz="2400" b="0" i="1" smtClean="0">
                            <a:latin typeface="Cambria Math" panose="02040503050406030204" pitchFamily="18" charset="0"/>
                          </a:rPr>
                        </m:ctrlPr>
                      </m:sSupPr>
                      <m:e>
                        <m:r>
                          <a:rPr lang="fr-FR" sz="2400" b="0" i="1" smtClean="0">
                            <a:latin typeface="Cambria Math" panose="02040503050406030204" pitchFamily="18" charset="0"/>
                          </a:rPr>
                          <m:t>10</m:t>
                        </m:r>
                      </m:e>
                      <m:sup>
                        <m:r>
                          <a:rPr lang="fr-FR" sz="2400" b="0" i="1" smtClean="0">
                            <a:latin typeface="Cambria Math" panose="02040503050406030204" pitchFamily="18" charset="0"/>
                          </a:rPr>
                          <m:t>7</m:t>
                        </m:r>
                      </m:sup>
                    </m:sSup>
                  </m:oMath>
                </a14:m>
                <a:r>
                  <a:rPr lang="fr-FR" sz="2400" dirty="0"/>
                  <a:t> simulations.</a:t>
                </a:r>
              </a:p>
            </p:txBody>
          </p:sp>
        </mc:Choice>
        <mc:Fallback xmlns="">
          <p:sp>
            <p:nvSpPr>
              <p:cNvPr id="3" name="ZoneTexte 2">
                <a:extLst>
                  <a:ext uri="{FF2B5EF4-FFF2-40B4-BE49-F238E27FC236}">
                    <a16:creationId xmlns:a16="http://schemas.microsoft.com/office/drawing/2014/main" id="{F47C1D53-473C-5FBA-E76D-06BD5C00465F}"/>
                  </a:ext>
                </a:extLst>
              </p:cNvPr>
              <p:cNvSpPr txBox="1">
                <a:spLocks noRot="1" noChangeAspect="1" noMove="1" noResize="1" noEditPoints="1" noAdjustHandles="1" noChangeArrowheads="1" noChangeShapeType="1" noTextEdit="1"/>
              </p:cNvSpPr>
              <p:nvPr/>
            </p:nvSpPr>
            <p:spPr>
              <a:xfrm>
                <a:off x="844826" y="1431230"/>
                <a:ext cx="10525539" cy="3046988"/>
              </a:xfrm>
              <a:prstGeom prst="rect">
                <a:avLst/>
              </a:prstGeom>
              <a:blipFill>
                <a:blip r:embed="rId3"/>
                <a:stretch>
                  <a:fillRect l="-843" t="-1660" b="-3320"/>
                </a:stretch>
              </a:blipFill>
            </p:spPr>
            <p:txBody>
              <a:bodyPr/>
              <a:lstStyle/>
              <a:p>
                <a:r>
                  <a:rPr lang="fr-FR">
                    <a:noFill/>
                  </a:rPr>
                  <a:t> </a:t>
                </a:r>
              </a:p>
            </p:txBody>
          </p:sp>
        </mc:Fallback>
      </mc:AlternateContent>
      <p:pic>
        <p:nvPicPr>
          <p:cNvPr id="5" name="Graphique 4" descr="Guide opérationnel avec un remplissage uni">
            <a:extLst>
              <a:ext uri="{FF2B5EF4-FFF2-40B4-BE49-F238E27FC236}">
                <a16:creationId xmlns:a16="http://schemas.microsoft.com/office/drawing/2014/main" id="{52348F39-2CF7-5404-D1F2-88BE808050C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04022592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117F3F9E-E45E-9844-8215-AA148A5923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56000" y="1989000"/>
            <a:ext cx="2880000" cy="2880000"/>
          </a:xfrm>
          <a:prstGeom prst="rect">
            <a:avLst/>
          </a:prstGeom>
        </p:spPr>
      </p:pic>
      <p:sp>
        <p:nvSpPr>
          <p:cNvPr id="6" name="Titre 1">
            <a:extLst>
              <a:ext uri="{FF2B5EF4-FFF2-40B4-BE49-F238E27FC236}">
                <a16:creationId xmlns:a16="http://schemas.microsoft.com/office/drawing/2014/main" id="{6784514D-DFE8-6540-A8D9-ED1329C44D3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olidFill>
                  <a:schemeClr val="bg1"/>
                </a:solidFill>
              </a:rPr>
              <a:t>3. Monte Carlo Tree Search.</a:t>
            </a:r>
          </a:p>
        </p:txBody>
      </p:sp>
    </p:spTree>
    <p:extLst>
      <p:ext uri="{BB962C8B-B14F-4D97-AF65-F5344CB8AC3E}">
        <p14:creationId xmlns:p14="http://schemas.microsoft.com/office/powerpoint/2010/main" val="269283917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Drapeau de course avec un remplissage uni">
            <a:extLst>
              <a:ext uri="{FF2B5EF4-FFF2-40B4-BE49-F238E27FC236}">
                <a16:creationId xmlns:a16="http://schemas.microsoft.com/office/drawing/2014/main" id="{31EA9D4C-4724-F749-BAC8-105B32CB08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Tree>
    <p:extLst>
      <p:ext uri="{BB962C8B-B14F-4D97-AF65-F5344CB8AC3E}">
        <p14:creationId xmlns:p14="http://schemas.microsoft.com/office/powerpoint/2010/main" val="88072733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8832</TotalTime>
  <Words>9292</Words>
  <Application>Microsoft Macintosh PowerPoint</Application>
  <PresentationFormat>Grand écran</PresentationFormat>
  <Paragraphs>1160</Paragraphs>
  <Slides>140</Slides>
  <Notes>75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140</vt:i4>
      </vt:variant>
    </vt:vector>
  </HeadingPairs>
  <TitlesOfParts>
    <vt:vector size="145" baseType="lpstr">
      <vt:lpstr>Arial</vt:lpstr>
      <vt:lpstr>Calibri</vt:lpstr>
      <vt:lpstr>Calibri Light</vt:lpstr>
      <vt:lpstr>Cambria Math</vt:lpstr>
      <vt:lpstr>Thème Office</vt:lpstr>
      <vt:lpstr>Algorithmes MinMax et MCTS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dc:title>
  <dc:creator>Laurent Godefroy</dc:creator>
  <cp:lastModifiedBy>Laurent Godefroy</cp:lastModifiedBy>
  <cp:revision>119</cp:revision>
  <dcterms:created xsi:type="dcterms:W3CDTF">2021-02-04T09:09:06Z</dcterms:created>
  <dcterms:modified xsi:type="dcterms:W3CDTF">2026-02-26T14:33:24Z</dcterms:modified>
</cp:coreProperties>
</file>